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ink/ink1.xml" ContentType="application/inkml+xml"/>
  <Override PartName="/ppt/ink/ink2.xml" ContentType="application/inkml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8"/>
  </p:notesMasterIdLst>
  <p:sldIdLst>
    <p:sldId id="256" r:id="rId5"/>
    <p:sldId id="261" r:id="rId6"/>
    <p:sldId id="262" r:id="rId7"/>
    <p:sldId id="311" r:id="rId8"/>
    <p:sldId id="284" r:id="rId9"/>
    <p:sldId id="280" r:id="rId10"/>
    <p:sldId id="283" r:id="rId11"/>
    <p:sldId id="282" r:id="rId12"/>
    <p:sldId id="286" r:id="rId13"/>
    <p:sldId id="287" r:id="rId14"/>
    <p:sldId id="285" r:id="rId15"/>
    <p:sldId id="288" r:id="rId16"/>
    <p:sldId id="291" r:id="rId17"/>
    <p:sldId id="270" r:id="rId18"/>
    <p:sldId id="324" r:id="rId19"/>
    <p:sldId id="296" r:id="rId20"/>
    <p:sldId id="301" r:id="rId21"/>
    <p:sldId id="303" r:id="rId22"/>
    <p:sldId id="302" r:id="rId23"/>
    <p:sldId id="298" r:id="rId24"/>
    <p:sldId id="322" r:id="rId25"/>
    <p:sldId id="310" r:id="rId26"/>
    <p:sldId id="326" r:id="rId27"/>
    <p:sldId id="265" r:id="rId28"/>
    <p:sldId id="267" r:id="rId29"/>
    <p:sldId id="293" r:id="rId30"/>
    <p:sldId id="292" r:id="rId31"/>
    <p:sldId id="263" r:id="rId32"/>
    <p:sldId id="259" r:id="rId33"/>
    <p:sldId id="294" r:id="rId34"/>
    <p:sldId id="257" r:id="rId35"/>
    <p:sldId id="295" r:id="rId36"/>
    <p:sldId id="266" r:id="rId37"/>
    <p:sldId id="268" r:id="rId38"/>
    <p:sldId id="258" r:id="rId39"/>
    <p:sldId id="269" r:id="rId40"/>
    <p:sldId id="342" r:id="rId41"/>
    <p:sldId id="343" r:id="rId42"/>
    <p:sldId id="345" r:id="rId43"/>
    <p:sldId id="346" r:id="rId44"/>
    <p:sldId id="348" r:id="rId45"/>
    <p:sldId id="349" r:id="rId46"/>
    <p:sldId id="351" r:id="rId47"/>
    <p:sldId id="304" r:id="rId48"/>
    <p:sldId id="305" r:id="rId49"/>
    <p:sldId id="306" r:id="rId50"/>
    <p:sldId id="309" r:id="rId51"/>
    <p:sldId id="307" r:id="rId52"/>
    <p:sldId id="273" r:id="rId53"/>
    <p:sldId id="333" r:id="rId54"/>
    <p:sldId id="327" r:id="rId55"/>
    <p:sldId id="330" r:id="rId56"/>
    <p:sldId id="329" r:id="rId57"/>
    <p:sldId id="276" r:id="rId58"/>
    <p:sldId id="312" r:id="rId59"/>
    <p:sldId id="313" r:id="rId60"/>
    <p:sldId id="338" r:id="rId61"/>
    <p:sldId id="277" r:id="rId62"/>
    <p:sldId id="350" r:id="rId63"/>
    <p:sldId id="347" r:id="rId64"/>
    <p:sldId id="314" r:id="rId65"/>
    <p:sldId id="352" r:id="rId66"/>
    <p:sldId id="353" r:id="rId6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20404EC-436E-711F-7974-F672AC0C28BA}" name="Edward Lee" initials="EL" userId="S::junsyounged.lee@mail.utoronto.ca::16208613-523b-40b5-954e-19192f8954d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slide" Target="slides/slide62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.png"/><Relationship Id="rId7" Type="http://schemas.openxmlformats.org/officeDocument/2006/relationships/image" Target="../media/image39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3" Type="http://schemas.openxmlformats.org/officeDocument/2006/relationships/image" Target="../media/image3.png"/><Relationship Id="rId7" Type="http://schemas.openxmlformats.org/officeDocument/2006/relationships/image" Target="../media/image39.png"/><Relationship Id="rId2" Type="http://schemas.openxmlformats.org/officeDocument/2006/relationships/image" Target="../media/image36.svg"/><Relationship Id="rId1" Type="http://schemas.openxmlformats.org/officeDocument/2006/relationships/image" Target="../media/image35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51A2576-FF67-4B2E-894D-CDB44474969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8D70575-31FC-49AC-9953-16445ED4F8E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/>
            <a:t>Edward </a:t>
          </a:r>
          <a:r>
            <a:rPr lang="en-US" sz="1600" b="1" dirty="0" err="1"/>
            <a:t>Junsyoung</a:t>
          </a:r>
          <a:r>
            <a:rPr lang="en-US" sz="1600" b="1" dirty="0"/>
            <a:t> Lee</a:t>
          </a:r>
        </a:p>
        <a:p>
          <a:pPr>
            <a:lnSpc>
              <a:spcPct val="100000"/>
            </a:lnSpc>
          </a:pPr>
          <a:r>
            <a:rPr lang="en-US" sz="1400" dirty="0"/>
            <a:t>Statistics (Maj), Psychology (Maj)</a:t>
          </a:r>
        </a:p>
        <a:p>
          <a:pPr>
            <a:lnSpc>
              <a:spcPct val="100000"/>
            </a:lnSpc>
          </a:pPr>
          <a:r>
            <a:rPr lang="en-US" sz="1400" dirty="0"/>
            <a:t>Key Interests: Data Analysis Techniques, Machine Learning Research</a:t>
          </a:r>
        </a:p>
      </dgm:t>
    </dgm:pt>
    <dgm:pt modelId="{8CDB8D8C-6A7A-4183-AFF2-FC14F3EF075F}" type="parTrans" cxnId="{644630DE-FF3B-42E6-91F8-E98FF03CB43C}">
      <dgm:prSet/>
      <dgm:spPr/>
      <dgm:t>
        <a:bodyPr/>
        <a:lstStyle/>
        <a:p>
          <a:endParaRPr lang="en-US"/>
        </a:p>
      </dgm:t>
    </dgm:pt>
    <dgm:pt modelId="{85666166-34BC-4C36-BA1E-34ABCEC9DCE0}" type="sibTrans" cxnId="{644630DE-FF3B-42E6-91F8-E98FF03CB43C}">
      <dgm:prSet/>
      <dgm:spPr/>
      <dgm:t>
        <a:bodyPr/>
        <a:lstStyle/>
        <a:p>
          <a:endParaRPr lang="en-US"/>
        </a:p>
      </dgm:t>
    </dgm:pt>
    <dgm:pt modelId="{DC289AAF-4396-4FC2-BC01-590D795F40A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/>
            <a:t>Junyi (Harvey) Hou</a:t>
          </a:r>
        </a:p>
        <a:p>
          <a:pPr>
            <a:lnSpc>
              <a:spcPct val="100000"/>
            </a:lnSpc>
          </a:pPr>
          <a:r>
            <a:rPr lang="en-US" sz="1400" dirty="0"/>
            <a:t>Statistics (Maj), Technology, Coding &amp; Society (Maj)</a:t>
          </a:r>
        </a:p>
        <a:p>
          <a:pPr>
            <a:lnSpc>
              <a:spcPct val="100000"/>
            </a:lnSpc>
          </a:pPr>
          <a:r>
            <a:rPr lang="en-US" sz="1400" dirty="0"/>
            <a:t>Key interests: Data Analysis, Data Science, Data Engineering, AI Development</a:t>
          </a:r>
        </a:p>
      </dgm:t>
    </dgm:pt>
    <dgm:pt modelId="{14BF47EE-DA41-4457-811D-86FECA146619}" type="parTrans" cxnId="{BA515301-34B7-4D9D-8B22-1A7EEC1D72A1}">
      <dgm:prSet/>
      <dgm:spPr/>
      <dgm:t>
        <a:bodyPr/>
        <a:lstStyle/>
        <a:p>
          <a:endParaRPr lang="en-US"/>
        </a:p>
      </dgm:t>
    </dgm:pt>
    <dgm:pt modelId="{1B4B823F-7B1D-47F7-8390-C1F8AEC8682F}" type="sibTrans" cxnId="{BA515301-34B7-4D9D-8B22-1A7EEC1D72A1}">
      <dgm:prSet/>
      <dgm:spPr/>
      <dgm:t>
        <a:bodyPr/>
        <a:lstStyle/>
        <a:p>
          <a:endParaRPr lang="en-US"/>
        </a:p>
      </dgm:t>
    </dgm:pt>
    <dgm:pt modelId="{0C1FA5C9-B4DE-4D89-8EBA-22F7D228933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 dirty="0"/>
            <a:t>Danny Han</a:t>
          </a:r>
        </a:p>
        <a:p>
          <a:pPr>
            <a:lnSpc>
              <a:spcPct val="100000"/>
            </a:lnSpc>
          </a:pPr>
          <a:r>
            <a:rPr lang="en-US" sz="1400" dirty="0"/>
            <a:t>Statistics (Maj), Computer Science (Min), Math (Min)</a:t>
          </a:r>
        </a:p>
        <a:p>
          <a:pPr>
            <a:lnSpc>
              <a:spcPct val="100000"/>
            </a:lnSpc>
          </a:pPr>
          <a:r>
            <a:rPr lang="en-US" sz="1400" dirty="0"/>
            <a:t>Key Interests: Software Development, Data Analysis, Machine Learning</a:t>
          </a:r>
        </a:p>
      </dgm:t>
    </dgm:pt>
    <dgm:pt modelId="{467F58B2-82FA-4D04-A9B5-F95A52F0A67A}" type="parTrans" cxnId="{A9E9F935-07AC-4203-B222-B349F13D5084}">
      <dgm:prSet/>
      <dgm:spPr/>
      <dgm:t>
        <a:bodyPr/>
        <a:lstStyle/>
        <a:p>
          <a:endParaRPr lang="en-US"/>
        </a:p>
      </dgm:t>
    </dgm:pt>
    <dgm:pt modelId="{F742B05B-7784-4D53-99F0-CE949C0CE808}" type="sibTrans" cxnId="{A9E9F935-07AC-4203-B222-B349F13D5084}">
      <dgm:prSet/>
      <dgm:spPr/>
      <dgm:t>
        <a:bodyPr/>
        <a:lstStyle/>
        <a:p>
          <a:endParaRPr lang="en-US"/>
        </a:p>
      </dgm:t>
    </dgm:pt>
    <dgm:pt modelId="{6F4D95C0-4785-4EBE-B673-31A4986BAC00}" type="pres">
      <dgm:prSet presAssocID="{351A2576-FF67-4B2E-894D-CDB444749692}" presName="root" presStyleCnt="0">
        <dgm:presLayoutVars>
          <dgm:dir/>
          <dgm:resizeHandles val="exact"/>
        </dgm:presLayoutVars>
      </dgm:prSet>
      <dgm:spPr/>
    </dgm:pt>
    <dgm:pt modelId="{F672ED93-567A-479C-83A8-DA7788A76E36}" type="pres">
      <dgm:prSet presAssocID="{88D70575-31FC-49AC-9953-16445ED4F8EB}" presName="compNode" presStyleCnt="0"/>
      <dgm:spPr/>
    </dgm:pt>
    <dgm:pt modelId="{BF9F117D-DC41-4E41-9E2D-2D6784D3BEE9}" type="pres">
      <dgm:prSet presAssocID="{88D70575-31FC-49AC-9953-16445ED4F8EB}" presName="bgRect" presStyleLbl="bgShp" presStyleIdx="0" presStyleCnt="3"/>
      <dgm:spPr/>
    </dgm:pt>
    <dgm:pt modelId="{B2C2D7C8-667F-4E7C-BDAC-FF621FF1D556}" type="pres">
      <dgm:prSet presAssocID="{88D70575-31FC-49AC-9953-16445ED4F8EB}" presName="iconRect" presStyleLbl="node1" presStyleIdx="0" presStyleCnt="3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roup of People"/>
        </a:ext>
      </dgm:extLst>
    </dgm:pt>
    <dgm:pt modelId="{977EB641-AE0F-48E4-AE9A-3D0900BD27BC}" type="pres">
      <dgm:prSet presAssocID="{88D70575-31FC-49AC-9953-16445ED4F8EB}" presName="spaceRect" presStyleCnt="0"/>
      <dgm:spPr/>
    </dgm:pt>
    <dgm:pt modelId="{22D79BE3-6476-4584-9D53-17FFA08DDF2C}" type="pres">
      <dgm:prSet presAssocID="{88D70575-31FC-49AC-9953-16445ED4F8EB}" presName="parTx" presStyleLbl="revTx" presStyleIdx="0" presStyleCnt="3">
        <dgm:presLayoutVars>
          <dgm:chMax val="0"/>
          <dgm:chPref val="0"/>
        </dgm:presLayoutVars>
      </dgm:prSet>
      <dgm:spPr/>
    </dgm:pt>
    <dgm:pt modelId="{900FCCD5-796A-45F9-810C-CCAA77DC57F6}" type="pres">
      <dgm:prSet presAssocID="{85666166-34BC-4C36-BA1E-34ABCEC9DCE0}" presName="sibTrans" presStyleCnt="0"/>
      <dgm:spPr/>
    </dgm:pt>
    <dgm:pt modelId="{DC64CC8D-FCA5-48EF-A830-CE490A7B497D}" type="pres">
      <dgm:prSet presAssocID="{DC289AAF-4396-4FC2-BC01-590D795F40A1}" presName="compNode" presStyleCnt="0"/>
      <dgm:spPr/>
    </dgm:pt>
    <dgm:pt modelId="{C3826975-97B1-4BD2-B9C2-2C56CBB7335E}" type="pres">
      <dgm:prSet presAssocID="{DC289AAF-4396-4FC2-BC01-590D795F40A1}" presName="bgRect" presStyleLbl="bgShp" presStyleIdx="1" presStyleCnt="3"/>
      <dgm:spPr/>
    </dgm:pt>
    <dgm:pt modelId="{D99E21F5-3F59-4ACE-B768-24B5AC6257FF}" type="pres">
      <dgm:prSet presAssocID="{DC289AAF-4396-4FC2-BC01-590D795F40A1}" presName="iconRect" presStyleLbl="node1" presStyleIdx="1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4C74FD85-F2E0-46FA-9F2A-25278141CED4}" type="pres">
      <dgm:prSet presAssocID="{DC289AAF-4396-4FC2-BC01-590D795F40A1}" presName="spaceRect" presStyleCnt="0"/>
      <dgm:spPr/>
    </dgm:pt>
    <dgm:pt modelId="{2F36E9BB-A792-4AFF-9ACC-BF254D649A9C}" type="pres">
      <dgm:prSet presAssocID="{DC289AAF-4396-4FC2-BC01-590D795F40A1}" presName="parTx" presStyleLbl="revTx" presStyleIdx="1" presStyleCnt="3">
        <dgm:presLayoutVars>
          <dgm:chMax val="0"/>
          <dgm:chPref val="0"/>
        </dgm:presLayoutVars>
      </dgm:prSet>
      <dgm:spPr/>
    </dgm:pt>
    <dgm:pt modelId="{858EA782-ED6D-4C2F-A65E-F5F8FC1C1A16}" type="pres">
      <dgm:prSet presAssocID="{1B4B823F-7B1D-47F7-8390-C1F8AEC8682F}" presName="sibTrans" presStyleCnt="0"/>
      <dgm:spPr/>
    </dgm:pt>
    <dgm:pt modelId="{99CF0000-9A1B-451B-871C-1B196EC207AD}" type="pres">
      <dgm:prSet presAssocID="{0C1FA5C9-B4DE-4D89-8EBA-22F7D228933A}" presName="compNode" presStyleCnt="0"/>
      <dgm:spPr/>
    </dgm:pt>
    <dgm:pt modelId="{22F65DB1-64A7-4B02-A5EE-4AE8DD714B76}" type="pres">
      <dgm:prSet presAssocID="{0C1FA5C9-B4DE-4D89-8EBA-22F7D228933A}" presName="bgRect" presStyleLbl="bgShp" presStyleIdx="2" presStyleCnt="3"/>
      <dgm:spPr/>
    </dgm:pt>
    <dgm:pt modelId="{A2EEF0C1-972A-47C8-8181-F6DA1AC20309}" type="pres">
      <dgm:prSet presAssocID="{0C1FA5C9-B4DE-4D89-8EBA-22F7D228933A}" presName="iconRect" presStyleLbl="node1" presStyleIdx="2" presStyleCnt="3"/>
      <dgm:spPr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eprechaun Hat"/>
        </a:ext>
      </dgm:extLst>
    </dgm:pt>
    <dgm:pt modelId="{3A3C8891-1AA4-4288-96AA-06A7B955EC58}" type="pres">
      <dgm:prSet presAssocID="{0C1FA5C9-B4DE-4D89-8EBA-22F7D228933A}" presName="spaceRect" presStyleCnt="0"/>
      <dgm:spPr/>
    </dgm:pt>
    <dgm:pt modelId="{D230A86C-F6B4-461F-A451-15A3B8169A12}" type="pres">
      <dgm:prSet presAssocID="{0C1FA5C9-B4DE-4D89-8EBA-22F7D228933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A515301-34B7-4D9D-8B22-1A7EEC1D72A1}" srcId="{351A2576-FF67-4B2E-894D-CDB444749692}" destId="{DC289AAF-4396-4FC2-BC01-590D795F40A1}" srcOrd="1" destOrd="0" parTransId="{14BF47EE-DA41-4457-811D-86FECA146619}" sibTransId="{1B4B823F-7B1D-47F7-8390-C1F8AEC8682F}"/>
    <dgm:cxn modelId="{B3E9FC03-256C-44CA-B74B-98582C8BA196}" type="presOf" srcId="{88D70575-31FC-49AC-9953-16445ED4F8EB}" destId="{22D79BE3-6476-4584-9D53-17FFA08DDF2C}" srcOrd="0" destOrd="0" presId="urn:microsoft.com/office/officeart/2018/2/layout/IconVerticalSolidList"/>
    <dgm:cxn modelId="{A9E9F935-07AC-4203-B222-B349F13D5084}" srcId="{351A2576-FF67-4B2E-894D-CDB444749692}" destId="{0C1FA5C9-B4DE-4D89-8EBA-22F7D228933A}" srcOrd="2" destOrd="0" parTransId="{467F58B2-82FA-4D04-A9B5-F95A52F0A67A}" sibTransId="{F742B05B-7784-4D53-99F0-CE949C0CE808}"/>
    <dgm:cxn modelId="{C34F689A-12A8-477E-A032-2EB274D75B88}" type="presOf" srcId="{351A2576-FF67-4B2E-894D-CDB444749692}" destId="{6F4D95C0-4785-4EBE-B673-31A4986BAC00}" srcOrd="0" destOrd="0" presId="urn:microsoft.com/office/officeart/2018/2/layout/IconVerticalSolidList"/>
    <dgm:cxn modelId="{7269A1B4-B5C6-4953-9686-AFEED769BF82}" type="presOf" srcId="{DC289AAF-4396-4FC2-BC01-590D795F40A1}" destId="{2F36E9BB-A792-4AFF-9ACC-BF254D649A9C}" srcOrd="0" destOrd="0" presId="urn:microsoft.com/office/officeart/2018/2/layout/IconVerticalSolidList"/>
    <dgm:cxn modelId="{5C2A97BE-C84D-4CFB-A7D1-B7E7046B3964}" type="presOf" srcId="{0C1FA5C9-B4DE-4D89-8EBA-22F7D228933A}" destId="{D230A86C-F6B4-461F-A451-15A3B8169A12}" srcOrd="0" destOrd="0" presId="urn:microsoft.com/office/officeart/2018/2/layout/IconVerticalSolidList"/>
    <dgm:cxn modelId="{644630DE-FF3B-42E6-91F8-E98FF03CB43C}" srcId="{351A2576-FF67-4B2E-894D-CDB444749692}" destId="{88D70575-31FC-49AC-9953-16445ED4F8EB}" srcOrd="0" destOrd="0" parTransId="{8CDB8D8C-6A7A-4183-AFF2-FC14F3EF075F}" sibTransId="{85666166-34BC-4C36-BA1E-34ABCEC9DCE0}"/>
    <dgm:cxn modelId="{F1DB1B45-A638-4267-BE7D-DDDDCF39DB50}" type="presParOf" srcId="{6F4D95C0-4785-4EBE-B673-31A4986BAC00}" destId="{F672ED93-567A-479C-83A8-DA7788A76E36}" srcOrd="0" destOrd="0" presId="urn:microsoft.com/office/officeart/2018/2/layout/IconVerticalSolidList"/>
    <dgm:cxn modelId="{9E091B43-B59E-426D-AD03-294D68079D9A}" type="presParOf" srcId="{F672ED93-567A-479C-83A8-DA7788A76E36}" destId="{BF9F117D-DC41-4E41-9E2D-2D6784D3BEE9}" srcOrd="0" destOrd="0" presId="urn:microsoft.com/office/officeart/2018/2/layout/IconVerticalSolidList"/>
    <dgm:cxn modelId="{0FD4853E-C585-4F51-83FB-C070C037CC62}" type="presParOf" srcId="{F672ED93-567A-479C-83A8-DA7788A76E36}" destId="{B2C2D7C8-667F-4E7C-BDAC-FF621FF1D556}" srcOrd="1" destOrd="0" presId="urn:microsoft.com/office/officeart/2018/2/layout/IconVerticalSolidList"/>
    <dgm:cxn modelId="{91672583-8949-4F3B-A1C3-B5BEE0F8E044}" type="presParOf" srcId="{F672ED93-567A-479C-83A8-DA7788A76E36}" destId="{977EB641-AE0F-48E4-AE9A-3D0900BD27BC}" srcOrd="2" destOrd="0" presId="urn:microsoft.com/office/officeart/2018/2/layout/IconVerticalSolidList"/>
    <dgm:cxn modelId="{DB865AEB-5982-4929-9D74-F90B3F37FA94}" type="presParOf" srcId="{F672ED93-567A-479C-83A8-DA7788A76E36}" destId="{22D79BE3-6476-4584-9D53-17FFA08DDF2C}" srcOrd="3" destOrd="0" presId="urn:microsoft.com/office/officeart/2018/2/layout/IconVerticalSolidList"/>
    <dgm:cxn modelId="{DB2B3169-F3B5-4220-B968-367180E58814}" type="presParOf" srcId="{6F4D95C0-4785-4EBE-B673-31A4986BAC00}" destId="{900FCCD5-796A-45F9-810C-CCAA77DC57F6}" srcOrd="1" destOrd="0" presId="urn:microsoft.com/office/officeart/2018/2/layout/IconVerticalSolidList"/>
    <dgm:cxn modelId="{821C09F6-EFA6-42B3-98D2-0C38245D7630}" type="presParOf" srcId="{6F4D95C0-4785-4EBE-B673-31A4986BAC00}" destId="{DC64CC8D-FCA5-48EF-A830-CE490A7B497D}" srcOrd="2" destOrd="0" presId="urn:microsoft.com/office/officeart/2018/2/layout/IconVerticalSolidList"/>
    <dgm:cxn modelId="{D073E0DD-3AA7-4100-A998-A56A7FA9BC9D}" type="presParOf" srcId="{DC64CC8D-FCA5-48EF-A830-CE490A7B497D}" destId="{C3826975-97B1-4BD2-B9C2-2C56CBB7335E}" srcOrd="0" destOrd="0" presId="urn:microsoft.com/office/officeart/2018/2/layout/IconVerticalSolidList"/>
    <dgm:cxn modelId="{79492390-C379-464C-BEA8-7F2D2E36579A}" type="presParOf" srcId="{DC64CC8D-FCA5-48EF-A830-CE490A7B497D}" destId="{D99E21F5-3F59-4ACE-B768-24B5AC6257FF}" srcOrd="1" destOrd="0" presId="urn:microsoft.com/office/officeart/2018/2/layout/IconVerticalSolidList"/>
    <dgm:cxn modelId="{643813E3-EB6D-4864-998E-00C6CFFA58A0}" type="presParOf" srcId="{DC64CC8D-FCA5-48EF-A830-CE490A7B497D}" destId="{4C74FD85-F2E0-46FA-9F2A-25278141CED4}" srcOrd="2" destOrd="0" presId="urn:microsoft.com/office/officeart/2018/2/layout/IconVerticalSolidList"/>
    <dgm:cxn modelId="{FF47332B-E83C-464F-AD04-2EAB0EC4634A}" type="presParOf" srcId="{DC64CC8D-FCA5-48EF-A830-CE490A7B497D}" destId="{2F36E9BB-A792-4AFF-9ACC-BF254D649A9C}" srcOrd="3" destOrd="0" presId="urn:microsoft.com/office/officeart/2018/2/layout/IconVerticalSolidList"/>
    <dgm:cxn modelId="{CAD7040E-3C47-4301-95BD-D0C2B975C800}" type="presParOf" srcId="{6F4D95C0-4785-4EBE-B673-31A4986BAC00}" destId="{858EA782-ED6D-4C2F-A65E-F5F8FC1C1A16}" srcOrd="3" destOrd="0" presId="urn:microsoft.com/office/officeart/2018/2/layout/IconVerticalSolidList"/>
    <dgm:cxn modelId="{9491D41D-E902-40B0-B5E8-65CDF0B151A9}" type="presParOf" srcId="{6F4D95C0-4785-4EBE-B673-31A4986BAC00}" destId="{99CF0000-9A1B-451B-871C-1B196EC207AD}" srcOrd="4" destOrd="0" presId="urn:microsoft.com/office/officeart/2018/2/layout/IconVerticalSolidList"/>
    <dgm:cxn modelId="{33ECF816-D239-4D8C-93AE-7D19CF5CADB9}" type="presParOf" srcId="{99CF0000-9A1B-451B-871C-1B196EC207AD}" destId="{22F65DB1-64A7-4B02-A5EE-4AE8DD714B76}" srcOrd="0" destOrd="0" presId="urn:microsoft.com/office/officeart/2018/2/layout/IconVerticalSolidList"/>
    <dgm:cxn modelId="{D8EDB8AA-7C88-477A-8B18-91ECA5137C17}" type="presParOf" srcId="{99CF0000-9A1B-451B-871C-1B196EC207AD}" destId="{A2EEF0C1-972A-47C8-8181-F6DA1AC20309}" srcOrd="1" destOrd="0" presId="urn:microsoft.com/office/officeart/2018/2/layout/IconVerticalSolidList"/>
    <dgm:cxn modelId="{2BF5EE22-CEB5-4300-B2F6-23DCBA0E184C}" type="presParOf" srcId="{99CF0000-9A1B-451B-871C-1B196EC207AD}" destId="{3A3C8891-1AA4-4288-96AA-06A7B955EC58}" srcOrd="2" destOrd="0" presId="urn:microsoft.com/office/officeart/2018/2/layout/IconVerticalSolidList"/>
    <dgm:cxn modelId="{7148776D-719F-4352-B2FE-EB9833ADD6F8}" type="presParOf" srcId="{99CF0000-9A1B-451B-871C-1B196EC207AD}" destId="{D230A86C-F6B4-461F-A451-15A3B8169A1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1AE5016-2CB3-4C1E-BB6E-B1768DCCDE7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693F0CD-ADC6-42E5-9EF5-39419063564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/>
            <a:t>[Task 1] AML Knowledge Library:</a:t>
          </a:r>
          <a:r>
            <a:rPr lang="en-US" sz="2000"/>
            <a:t> (Website + Documentation) Over 147 red flags and typologies, focused on organized crime, with full source traceability and a document that maps red flags to data signals and features we use later.</a:t>
          </a:r>
        </a:p>
      </dgm:t>
    </dgm:pt>
    <dgm:pt modelId="{7230518E-86DD-4B58-871A-035429FFBF59}" type="parTrans" cxnId="{36668760-3FE8-4124-8823-46F4F0751542}">
      <dgm:prSet/>
      <dgm:spPr/>
      <dgm:t>
        <a:bodyPr/>
        <a:lstStyle/>
        <a:p>
          <a:endParaRPr lang="en-US"/>
        </a:p>
      </dgm:t>
    </dgm:pt>
    <dgm:pt modelId="{9814611A-74D3-42CE-AFB7-743796F65908}" type="sibTrans" cxnId="{36668760-3FE8-4124-8823-46F4F0751542}">
      <dgm:prSet/>
      <dgm:spPr/>
      <dgm:t>
        <a:bodyPr/>
        <a:lstStyle/>
        <a:p>
          <a:endParaRPr lang="en-US"/>
        </a:p>
      </dgm:t>
    </dgm:pt>
    <dgm:pt modelId="{E856662F-8B4E-4C53-B30C-7C5E13D0EF8A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/>
            <a:t>[Task 2] Bad-Actor Detection Pipeline:</a:t>
          </a:r>
          <a:r>
            <a:rPr lang="en-US" sz="2000"/>
            <a:t> We clean and engineer features from the original data, run a rule-based scorer and several unsupervised ML models, fuse rule-based and ML scores, and output risk scores and flagged customers. You get both a single submission pair of CSVs and per-model outputs.</a:t>
          </a:r>
        </a:p>
      </dgm:t>
    </dgm:pt>
    <dgm:pt modelId="{B57BC212-87A9-4FD7-AF79-BE9321EF04F8}" type="parTrans" cxnId="{648C4472-C85C-4C2B-BA9A-9D0F1E62DCD9}">
      <dgm:prSet/>
      <dgm:spPr/>
      <dgm:t>
        <a:bodyPr/>
        <a:lstStyle/>
        <a:p>
          <a:endParaRPr lang="en-US"/>
        </a:p>
      </dgm:t>
    </dgm:pt>
    <dgm:pt modelId="{16F6D47D-1595-44D4-9D0E-78C53A027715}" type="sibTrans" cxnId="{648C4472-C85C-4C2B-BA9A-9D0F1E62DCD9}">
      <dgm:prSet/>
      <dgm:spPr/>
      <dgm:t>
        <a:bodyPr/>
        <a:lstStyle/>
        <a:p>
          <a:endParaRPr lang="en-US"/>
        </a:p>
      </dgm:t>
    </dgm:pt>
    <dgm:pt modelId="{1B9A49D2-3967-468A-89D0-97BB76F810F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/>
            <a:t>[Task 3] Explanation For All Customers: </a:t>
          </a:r>
          <a:r>
            <a:rPr lang="en-US" sz="2000"/>
            <a:t>Short, non-technical text that says why someone was flagged or not, using the same risk categories as the library, plus an optional GUI to browse and search those explanations.</a:t>
          </a:r>
        </a:p>
      </dgm:t>
    </dgm:pt>
    <dgm:pt modelId="{5C5AFCA0-E78A-4C24-B3B2-713143C867CD}" type="parTrans" cxnId="{6C7EDAC3-3ACB-49A8-BD13-9C43014E78DB}">
      <dgm:prSet/>
      <dgm:spPr/>
      <dgm:t>
        <a:bodyPr/>
        <a:lstStyle/>
        <a:p>
          <a:endParaRPr lang="en-US"/>
        </a:p>
      </dgm:t>
    </dgm:pt>
    <dgm:pt modelId="{A1EA5B6C-EC81-45BE-AEF9-6ED7C3AA4B2B}" type="sibTrans" cxnId="{6C7EDAC3-3ACB-49A8-BD13-9C43014E78DB}">
      <dgm:prSet/>
      <dgm:spPr/>
      <dgm:t>
        <a:bodyPr/>
        <a:lstStyle/>
        <a:p>
          <a:endParaRPr lang="en-US"/>
        </a:p>
      </dgm:t>
    </dgm:pt>
    <dgm:pt modelId="{831C8329-4AD9-4A48-AB4A-F42F069202BF}" type="pres">
      <dgm:prSet presAssocID="{D1AE5016-2CB3-4C1E-BB6E-B1768DCCDE74}" presName="root" presStyleCnt="0">
        <dgm:presLayoutVars>
          <dgm:dir/>
          <dgm:resizeHandles val="exact"/>
        </dgm:presLayoutVars>
      </dgm:prSet>
      <dgm:spPr/>
    </dgm:pt>
    <dgm:pt modelId="{4C83B39E-6582-4544-87C0-8A471BA46E6A}" type="pres">
      <dgm:prSet presAssocID="{5693F0CD-ADC6-42E5-9EF5-394190635643}" presName="compNode" presStyleCnt="0"/>
      <dgm:spPr/>
    </dgm:pt>
    <dgm:pt modelId="{EB11CB87-56B0-47E7-9905-19F69AEA3D65}" type="pres">
      <dgm:prSet presAssocID="{5693F0CD-ADC6-42E5-9EF5-394190635643}" presName="bgRect" presStyleLbl="bgShp" presStyleIdx="0" presStyleCnt="3"/>
      <dgm:spPr/>
    </dgm:pt>
    <dgm:pt modelId="{39819636-5D5C-4C7D-8454-E90F96C0A5B7}" type="pres">
      <dgm:prSet presAssocID="{5693F0CD-ADC6-42E5-9EF5-39419063564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EC8D0239-3183-464C-A197-F2AABF21A73E}" type="pres">
      <dgm:prSet presAssocID="{5693F0CD-ADC6-42E5-9EF5-394190635643}" presName="spaceRect" presStyleCnt="0"/>
      <dgm:spPr/>
    </dgm:pt>
    <dgm:pt modelId="{DA6BA0DC-1DAD-465E-8007-522530F7D56D}" type="pres">
      <dgm:prSet presAssocID="{5693F0CD-ADC6-42E5-9EF5-394190635643}" presName="parTx" presStyleLbl="revTx" presStyleIdx="0" presStyleCnt="3">
        <dgm:presLayoutVars>
          <dgm:chMax val="0"/>
          <dgm:chPref val="0"/>
        </dgm:presLayoutVars>
      </dgm:prSet>
      <dgm:spPr/>
    </dgm:pt>
    <dgm:pt modelId="{BD5EF765-3702-44C3-83CB-E57175A5B727}" type="pres">
      <dgm:prSet presAssocID="{9814611A-74D3-42CE-AFB7-743796F65908}" presName="sibTrans" presStyleCnt="0"/>
      <dgm:spPr/>
    </dgm:pt>
    <dgm:pt modelId="{9F257B47-1012-46FC-A97E-E496A64E0A78}" type="pres">
      <dgm:prSet presAssocID="{E856662F-8B4E-4C53-B30C-7C5E13D0EF8A}" presName="compNode" presStyleCnt="0"/>
      <dgm:spPr/>
    </dgm:pt>
    <dgm:pt modelId="{51C32981-F8FC-4A47-A197-B37A2AE0BD5F}" type="pres">
      <dgm:prSet presAssocID="{E856662F-8B4E-4C53-B30C-7C5E13D0EF8A}" presName="bgRect" presStyleLbl="bgShp" presStyleIdx="1" presStyleCnt="3"/>
      <dgm:spPr/>
    </dgm:pt>
    <dgm:pt modelId="{DB80BD36-B147-445A-932F-913C9C33F47B}" type="pres">
      <dgm:prSet presAssocID="{E856662F-8B4E-4C53-B30C-7C5E13D0EF8A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8F259883-DDFB-4B18-877D-5E3010D55CF7}" type="pres">
      <dgm:prSet presAssocID="{E856662F-8B4E-4C53-B30C-7C5E13D0EF8A}" presName="spaceRect" presStyleCnt="0"/>
      <dgm:spPr/>
    </dgm:pt>
    <dgm:pt modelId="{605AAE81-E2C3-4BEC-A321-46B0DBA6C6AB}" type="pres">
      <dgm:prSet presAssocID="{E856662F-8B4E-4C53-B30C-7C5E13D0EF8A}" presName="parTx" presStyleLbl="revTx" presStyleIdx="1" presStyleCnt="3">
        <dgm:presLayoutVars>
          <dgm:chMax val="0"/>
          <dgm:chPref val="0"/>
        </dgm:presLayoutVars>
      </dgm:prSet>
      <dgm:spPr/>
    </dgm:pt>
    <dgm:pt modelId="{22180E45-2915-4285-9E5A-BBC9A191953B}" type="pres">
      <dgm:prSet presAssocID="{16F6D47D-1595-44D4-9D0E-78C53A027715}" presName="sibTrans" presStyleCnt="0"/>
      <dgm:spPr/>
    </dgm:pt>
    <dgm:pt modelId="{115E7205-506B-4E1C-87F4-93607474D8F4}" type="pres">
      <dgm:prSet presAssocID="{1B9A49D2-3967-468A-89D0-97BB76F810FB}" presName="compNode" presStyleCnt="0"/>
      <dgm:spPr/>
    </dgm:pt>
    <dgm:pt modelId="{0D870CAA-E490-4A75-B850-201F944D15B2}" type="pres">
      <dgm:prSet presAssocID="{1B9A49D2-3967-468A-89D0-97BB76F810FB}" presName="bgRect" presStyleLbl="bgShp" presStyleIdx="2" presStyleCnt="3"/>
      <dgm:spPr/>
    </dgm:pt>
    <dgm:pt modelId="{865EA25F-E868-4E4D-98B4-4F6A9700DB03}" type="pres">
      <dgm:prSet presAssocID="{1B9A49D2-3967-468A-89D0-97BB76F810FB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aper"/>
        </a:ext>
      </dgm:extLst>
    </dgm:pt>
    <dgm:pt modelId="{0E5A36BF-EBBF-413D-834A-B264646A9515}" type="pres">
      <dgm:prSet presAssocID="{1B9A49D2-3967-468A-89D0-97BB76F810FB}" presName="spaceRect" presStyleCnt="0"/>
      <dgm:spPr/>
    </dgm:pt>
    <dgm:pt modelId="{B0B9F553-25E3-4DAA-AA3B-F8E9283BB7B8}" type="pres">
      <dgm:prSet presAssocID="{1B9A49D2-3967-468A-89D0-97BB76F810FB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1B7DB404-3FBF-4C80-A163-7EA017A39778}" type="presOf" srcId="{E856662F-8B4E-4C53-B30C-7C5E13D0EF8A}" destId="{605AAE81-E2C3-4BEC-A321-46B0DBA6C6AB}" srcOrd="0" destOrd="0" presId="urn:microsoft.com/office/officeart/2018/2/layout/IconVerticalSolidList"/>
    <dgm:cxn modelId="{6B96305E-A9E4-45FD-8339-EF691965A392}" type="presOf" srcId="{1B9A49D2-3967-468A-89D0-97BB76F810FB}" destId="{B0B9F553-25E3-4DAA-AA3B-F8E9283BB7B8}" srcOrd="0" destOrd="0" presId="urn:microsoft.com/office/officeart/2018/2/layout/IconVerticalSolidList"/>
    <dgm:cxn modelId="{36668760-3FE8-4124-8823-46F4F0751542}" srcId="{D1AE5016-2CB3-4C1E-BB6E-B1768DCCDE74}" destId="{5693F0CD-ADC6-42E5-9EF5-394190635643}" srcOrd="0" destOrd="0" parTransId="{7230518E-86DD-4B58-871A-035429FFBF59}" sibTransId="{9814611A-74D3-42CE-AFB7-743796F65908}"/>
    <dgm:cxn modelId="{1A93454B-460C-4931-A186-8AC5539D829A}" type="presOf" srcId="{D1AE5016-2CB3-4C1E-BB6E-B1768DCCDE74}" destId="{831C8329-4AD9-4A48-AB4A-F42F069202BF}" srcOrd="0" destOrd="0" presId="urn:microsoft.com/office/officeart/2018/2/layout/IconVerticalSolidList"/>
    <dgm:cxn modelId="{648C4472-C85C-4C2B-BA9A-9D0F1E62DCD9}" srcId="{D1AE5016-2CB3-4C1E-BB6E-B1768DCCDE74}" destId="{E856662F-8B4E-4C53-B30C-7C5E13D0EF8A}" srcOrd="1" destOrd="0" parTransId="{B57BC212-87A9-4FD7-AF79-BE9321EF04F8}" sibTransId="{16F6D47D-1595-44D4-9D0E-78C53A027715}"/>
    <dgm:cxn modelId="{0DA0E058-24DE-44DB-B9EC-50FB3007CE07}" type="presOf" srcId="{5693F0CD-ADC6-42E5-9EF5-394190635643}" destId="{DA6BA0DC-1DAD-465E-8007-522530F7D56D}" srcOrd="0" destOrd="0" presId="urn:microsoft.com/office/officeart/2018/2/layout/IconVerticalSolidList"/>
    <dgm:cxn modelId="{6C7EDAC3-3ACB-49A8-BD13-9C43014E78DB}" srcId="{D1AE5016-2CB3-4C1E-BB6E-B1768DCCDE74}" destId="{1B9A49D2-3967-468A-89D0-97BB76F810FB}" srcOrd="2" destOrd="0" parTransId="{5C5AFCA0-E78A-4C24-B3B2-713143C867CD}" sibTransId="{A1EA5B6C-EC81-45BE-AEF9-6ED7C3AA4B2B}"/>
    <dgm:cxn modelId="{CED7CC01-A36D-4A54-8988-17F71DB246BF}" type="presParOf" srcId="{831C8329-4AD9-4A48-AB4A-F42F069202BF}" destId="{4C83B39E-6582-4544-87C0-8A471BA46E6A}" srcOrd="0" destOrd="0" presId="urn:microsoft.com/office/officeart/2018/2/layout/IconVerticalSolidList"/>
    <dgm:cxn modelId="{9BF98C1B-3C82-4662-BFD9-B6CF0E9F34EE}" type="presParOf" srcId="{4C83B39E-6582-4544-87C0-8A471BA46E6A}" destId="{EB11CB87-56B0-47E7-9905-19F69AEA3D65}" srcOrd="0" destOrd="0" presId="urn:microsoft.com/office/officeart/2018/2/layout/IconVerticalSolidList"/>
    <dgm:cxn modelId="{646428D5-7AD7-4EDE-88F2-07E4BBE52234}" type="presParOf" srcId="{4C83B39E-6582-4544-87C0-8A471BA46E6A}" destId="{39819636-5D5C-4C7D-8454-E90F96C0A5B7}" srcOrd="1" destOrd="0" presId="urn:microsoft.com/office/officeart/2018/2/layout/IconVerticalSolidList"/>
    <dgm:cxn modelId="{613460CA-1A23-4A23-B44B-D82B205A46F4}" type="presParOf" srcId="{4C83B39E-6582-4544-87C0-8A471BA46E6A}" destId="{EC8D0239-3183-464C-A197-F2AABF21A73E}" srcOrd="2" destOrd="0" presId="urn:microsoft.com/office/officeart/2018/2/layout/IconVerticalSolidList"/>
    <dgm:cxn modelId="{3008EAA0-F711-4F2C-886D-54B41A281902}" type="presParOf" srcId="{4C83B39E-6582-4544-87C0-8A471BA46E6A}" destId="{DA6BA0DC-1DAD-465E-8007-522530F7D56D}" srcOrd="3" destOrd="0" presId="urn:microsoft.com/office/officeart/2018/2/layout/IconVerticalSolidList"/>
    <dgm:cxn modelId="{24FA2AFC-27EB-4182-94AA-2EF9016A33AD}" type="presParOf" srcId="{831C8329-4AD9-4A48-AB4A-F42F069202BF}" destId="{BD5EF765-3702-44C3-83CB-E57175A5B727}" srcOrd="1" destOrd="0" presId="urn:microsoft.com/office/officeart/2018/2/layout/IconVerticalSolidList"/>
    <dgm:cxn modelId="{E1F0D89A-45E7-4477-9E8E-594254DD0846}" type="presParOf" srcId="{831C8329-4AD9-4A48-AB4A-F42F069202BF}" destId="{9F257B47-1012-46FC-A97E-E496A64E0A78}" srcOrd="2" destOrd="0" presId="urn:microsoft.com/office/officeart/2018/2/layout/IconVerticalSolidList"/>
    <dgm:cxn modelId="{D5829F13-48CD-438B-9EA4-B61EAB7B6718}" type="presParOf" srcId="{9F257B47-1012-46FC-A97E-E496A64E0A78}" destId="{51C32981-F8FC-4A47-A197-B37A2AE0BD5F}" srcOrd="0" destOrd="0" presId="urn:microsoft.com/office/officeart/2018/2/layout/IconVerticalSolidList"/>
    <dgm:cxn modelId="{DF7B7485-FBEC-40EE-A958-9B258E39EF3E}" type="presParOf" srcId="{9F257B47-1012-46FC-A97E-E496A64E0A78}" destId="{DB80BD36-B147-445A-932F-913C9C33F47B}" srcOrd="1" destOrd="0" presId="urn:microsoft.com/office/officeart/2018/2/layout/IconVerticalSolidList"/>
    <dgm:cxn modelId="{8B6B8751-2CD6-424C-A9CF-E93580F1A25A}" type="presParOf" srcId="{9F257B47-1012-46FC-A97E-E496A64E0A78}" destId="{8F259883-DDFB-4B18-877D-5E3010D55CF7}" srcOrd="2" destOrd="0" presId="urn:microsoft.com/office/officeart/2018/2/layout/IconVerticalSolidList"/>
    <dgm:cxn modelId="{B4D66031-8BCA-46E4-92BF-2D001D5E4584}" type="presParOf" srcId="{9F257B47-1012-46FC-A97E-E496A64E0A78}" destId="{605AAE81-E2C3-4BEC-A321-46B0DBA6C6AB}" srcOrd="3" destOrd="0" presId="urn:microsoft.com/office/officeart/2018/2/layout/IconVerticalSolidList"/>
    <dgm:cxn modelId="{C672096D-8E54-4AEC-BA11-1F563AC13FFA}" type="presParOf" srcId="{831C8329-4AD9-4A48-AB4A-F42F069202BF}" destId="{22180E45-2915-4285-9E5A-BBC9A191953B}" srcOrd="3" destOrd="0" presId="urn:microsoft.com/office/officeart/2018/2/layout/IconVerticalSolidList"/>
    <dgm:cxn modelId="{E772C0FF-2F9C-4D19-92B8-1F98D2CF9739}" type="presParOf" srcId="{831C8329-4AD9-4A48-AB4A-F42F069202BF}" destId="{115E7205-506B-4E1C-87F4-93607474D8F4}" srcOrd="4" destOrd="0" presId="urn:microsoft.com/office/officeart/2018/2/layout/IconVerticalSolidList"/>
    <dgm:cxn modelId="{225D0FDC-7DE0-43D8-93FE-70EF3F4FE252}" type="presParOf" srcId="{115E7205-506B-4E1C-87F4-93607474D8F4}" destId="{0D870CAA-E490-4A75-B850-201F944D15B2}" srcOrd="0" destOrd="0" presId="urn:microsoft.com/office/officeart/2018/2/layout/IconVerticalSolidList"/>
    <dgm:cxn modelId="{A55B104A-93D1-4240-948A-C97E49972788}" type="presParOf" srcId="{115E7205-506B-4E1C-87F4-93607474D8F4}" destId="{865EA25F-E868-4E4D-98B4-4F6A9700DB03}" srcOrd="1" destOrd="0" presId="urn:microsoft.com/office/officeart/2018/2/layout/IconVerticalSolidList"/>
    <dgm:cxn modelId="{0F4AE155-EC15-4F41-8441-69BFB436C81A}" type="presParOf" srcId="{115E7205-506B-4E1C-87F4-93607474D8F4}" destId="{0E5A36BF-EBBF-413D-834A-B264646A9515}" srcOrd="2" destOrd="0" presId="urn:microsoft.com/office/officeart/2018/2/layout/IconVerticalSolidList"/>
    <dgm:cxn modelId="{6533464D-0D3C-484E-B84A-CEBFE6E6A352}" type="presParOf" srcId="{115E7205-506B-4E1C-87F4-93607474D8F4}" destId="{B0B9F553-25E3-4DAA-AA3B-F8E9283BB7B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609FF31-FFBB-4C47-A508-7F751B220CE9}" type="doc">
      <dgm:prSet loTypeId="urn:microsoft.com/office/officeart/2008/layout/LinedList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2173871-8EB7-4B12-BFB0-7406C728F207}">
      <dgm:prSet custT="1"/>
      <dgm:spPr/>
      <dgm:t>
        <a:bodyPr/>
        <a:lstStyle/>
        <a:p>
          <a:r>
            <a:rPr lang="en-US" sz="1600" b="1"/>
            <a:t>Content:</a:t>
          </a:r>
          <a:r>
            <a:rPr lang="en-US" sz="1600"/>
            <a:t> 147+ red flags and indicators from </a:t>
          </a:r>
          <a:r>
            <a:rPr lang="en-US" sz="1600" b="1"/>
            <a:t>8 typology documents</a:t>
          </a:r>
          <a:r>
            <a:rPr lang="en-US" sz="1600"/>
            <a:t> (trade-based ML, bulk cash, oil smuggling, Chinese ML networks, synthetic opioids, underground banking, human trafficking, general ML/TF), with a focus on </a:t>
          </a:r>
          <a:r>
            <a:rPr lang="en-US" sz="1600" b="1"/>
            <a:t>organized crime</a:t>
          </a:r>
          <a:r>
            <a:rPr lang="en-US" sz="1600"/>
            <a:t>.</a:t>
          </a:r>
        </a:p>
      </dgm:t>
    </dgm:pt>
    <dgm:pt modelId="{EAF451ED-C2F0-4B60-B68F-87E708052A02}" type="parTrans" cxnId="{ABCD78E9-1212-4A97-B020-6858E4870C33}">
      <dgm:prSet/>
      <dgm:spPr/>
      <dgm:t>
        <a:bodyPr/>
        <a:lstStyle/>
        <a:p>
          <a:endParaRPr lang="en-US" sz="1800"/>
        </a:p>
      </dgm:t>
    </dgm:pt>
    <dgm:pt modelId="{49DFAC6E-6D29-4121-8279-43A2A36AD8E0}" type="sibTrans" cxnId="{ABCD78E9-1212-4A97-B020-6858E4870C33}">
      <dgm:prSet/>
      <dgm:spPr/>
      <dgm:t>
        <a:bodyPr/>
        <a:lstStyle/>
        <a:p>
          <a:endParaRPr lang="en-US" sz="1800"/>
        </a:p>
      </dgm:t>
    </dgm:pt>
    <dgm:pt modelId="{9525402D-C354-4F08-AF6B-E6F26C2E39B7}">
      <dgm:prSet custT="1"/>
      <dgm:spPr/>
      <dgm:t>
        <a:bodyPr/>
        <a:lstStyle/>
        <a:p>
          <a:r>
            <a:rPr lang="en-US" sz="1600" b="1"/>
            <a:t>Single reference:</a:t>
          </a:r>
          <a:r>
            <a:rPr lang="en-US" sz="1600"/>
            <a:t> 00_COMPREHENSIVE_RED_FLAGS_MASTER.md — all red flags in one place with quick navigation.</a:t>
          </a:r>
        </a:p>
      </dgm:t>
    </dgm:pt>
    <dgm:pt modelId="{B14ACF70-FA4D-400C-9D00-22F093AD085E}" type="parTrans" cxnId="{7934905C-3743-404E-8B60-946CAAD7A404}">
      <dgm:prSet/>
      <dgm:spPr/>
      <dgm:t>
        <a:bodyPr/>
        <a:lstStyle/>
        <a:p>
          <a:endParaRPr lang="en-US" sz="1800"/>
        </a:p>
      </dgm:t>
    </dgm:pt>
    <dgm:pt modelId="{022CC615-706A-42CD-90DC-4B1EDC2E41B5}" type="sibTrans" cxnId="{7934905C-3743-404E-8B60-946CAAD7A404}">
      <dgm:prSet/>
      <dgm:spPr/>
      <dgm:t>
        <a:bodyPr/>
        <a:lstStyle/>
        <a:p>
          <a:endParaRPr lang="en-US" sz="1800"/>
        </a:p>
      </dgm:t>
    </dgm:pt>
    <dgm:pt modelId="{149CE215-7A67-4322-95A9-8FD06D77F88C}">
      <dgm:prSet custT="1"/>
      <dgm:spPr/>
      <dgm:t>
        <a:bodyPr/>
        <a:lstStyle/>
        <a:p>
          <a:r>
            <a:rPr lang="en-US" sz="1600" b="1"/>
            <a:t>Deep dives:</a:t>
          </a:r>
          <a:r>
            <a:rPr lang="en-US" sz="1600"/>
            <a:t> Documents 01–08 give context, risk guidance, and high-risk combinations per typology.</a:t>
          </a:r>
        </a:p>
      </dgm:t>
    </dgm:pt>
    <dgm:pt modelId="{28002DC4-615E-4279-8A95-E13D6458B2AE}" type="parTrans" cxnId="{692D2356-6FA1-4E02-A422-46F0082AD026}">
      <dgm:prSet/>
      <dgm:spPr/>
      <dgm:t>
        <a:bodyPr/>
        <a:lstStyle/>
        <a:p>
          <a:endParaRPr lang="en-US" sz="1800"/>
        </a:p>
      </dgm:t>
    </dgm:pt>
    <dgm:pt modelId="{ADEAE0A0-6E71-43EC-821C-18C5C31CE20F}" type="sibTrans" cxnId="{692D2356-6FA1-4E02-A422-46F0082AD026}">
      <dgm:prSet/>
      <dgm:spPr/>
      <dgm:t>
        <a:bodyPr/>
        <a:lstStyle/>
        <a:p>
          <a:endParaRPr lang="en-US" sz="1800"/>
        </a:p>
      </dgm:t>
    </dgm:pt>
    <dgm:pt modelId="{D3CA90D9-F7D4-4018-BB1A-E85E89201EE1}">
      <dgm:prSet custT="1"/>
      <dgm:spPr/>
      <dgm:t>
        <a:bodyPr/>
        <a:lstStyle/>
        <a:p>
          <a:r>
            <a:rPr lang="en-US" sz="1600" b="1"/>
            <a:t>Traceability:</a:t>
          </a:r>
          <a:r>
            <a:rPr lang="en-US" sz="1600"/>
            <a:t> Every red flag is tied to a </a:t>
          </a:r>
          <a:r>
            <a:rPr lang="en-US" sz="1600" b="1"/>
            <a:t>source</a:t>
          </a:r>
          <a:r>
            <a:rPr lang="en-US" sz="1600"/>
            <a:t> — FINTRAC/FinCEN alerts and advisories — with URLs and references in </a:t>
          </a:r>
          <a:r>
            <a:rPr lang="en-US" sz="1600" b="1"/>
            <a:t>SOURCES.md</a:t>
          </a:r>
          <a:r>
            <a:rPr lang="en-US" sz="1600"/>
            <a:t> and inline citations.</a:t>
          </a:r>
        </a:p>
      </dgm:t>
    </dgm:pt>
    <dgm:pt modelId="{4EDF47D6-35E1-4072-A76B-40CB3FD3CE62}" type="parTrans" cxnId="{42673728-3DF6-428C-BD4C-45D84D552C64}">
      <dgm:prSet/>
      <dgm:spPr/>
      <dgm:t>
        <a:bodyPr/>
        <a:lstStyle/>
        <a:p>
          <a:endParaRPr lang="en-US" sz="1800"/>
        </a:p>
      </dgm:t>
    </dgm:pt>
    <dgm:pt modelId="{50ABA662-CD3C-49D6-90A6-23D4D1AEABBE}" type="sibTrans" cxnId="{42673728-3DF6-428C-BD4C-45D84D552C64}">
      <dgm:prSet/>
      <dgm:spPr/>
      <dgm:t>
        <a:bodyPr/>
        <a:lstStyle/>
        <a:p>
          <a:endParaRPr lang="en-US" sz="1800"/>
        </a:p>
      </dgm:t>
    </dgm:pt>
    <dgm:pt modelId="{66064EBF-519B-4B53-896F-AED8D91442B5}">
      <dgm:prSet custT="1"/>
      <dgm:spPr/>
      <dgm:t>
        <a:bodyPr/>
        <a:lstStyle/>
        <a:p>
          <a:r>
            <a:rPr lang="en-US" sz="1600" b="1"/>
            <a:t>Linking to data:</a:t>
          </a:r>
          <a:r>
            <a:rPr lang="en-US" sz="1600"/>
            <a:t> </a:t>
          </a:r>
          <a:r>
            <a:rPr lang="en-US" sz="1600" b="1"/>
            <a:t>Red_Flag_to_Feature_Mapping.md</a:t>
          </a:r>
          <a:r>
            <a:rPr lang="en-US" sz="1600"/>
            <a:t> maps each red flag to </a:t>
          </a:r>
          <a:r>
            <a:rPr lang="en-US" sz="1600" b="1"/>
            <a:t>data signals</a:t>
          </a:r>
          <a:r>
            <a:rPr lang="en-US" sz="1600"/>
            <a:t> and </a:t>
          </a:r>
          <a:r>
            <a:rPr lang="en-US" sz="1600" b="1"/>
            <a:t>engineered features</a:t>
          </a:r>
          <a:r>
            <a:rPr lang="en-US" sz="1600"/>
            <a:t> used in detection (feeds Task 2 &amp; 3).</a:t>
          </a:r>
        </a:p>
      </dgm:t>
    </dgm:pt>
    <dgm:pt modelId="{D697B091-48A0-4604-BD7B-340889A441E9}" type="parTrans" cxnId="{DA2AE736-FAAD-43B5-BEF0-3532A03AE56F}">
      <dgm:prSet/>
      <dgm:spPr/>
      <dgm:t>
        <a:bodyPr/>
        <a:lstStyle/>
        <a:p>
          <a:endParaRPr lang="en-US" sz="1800"/>
        </a:p>
      </dgm:t>
    </dgm:pt>
    <dgm:pt modelId="{BF08CE3B-CC8D-4AF7-8A06-783B433D5677}" type="sibTrans" cxnId="{DA2AE736-FAAD-43B5-BEF0-3532A03AE56F}">
      <dgm:prSet/>
      <dgm:spPr/>
      <dgm:t>
        <a:bodyPr/>
        <a:lstStyle/>
        <a:p>
          <a:endParaRPr lang="en-US" sz="1800"/>
        </a:p>
      </dgm:t>
    </dgm:pt>
    <dgm:pt modelId="{F9B75C92-90CE-4AB7-A5B5-4BAABCBECDDC}">
      <dgm:prSet custT="1"/>
      <dgm:spPr/>
      <dgm:t>
        <a:bodyPr/>
        <a:lstStyle/>
        <a:p>
          <a:r>
            <a:rPr lang="en-US" sz="1600" b="1"/>
            <a:t>Format:</a:t>
          </a:r>
          <a:r>
            <a:rPr lang="en-US" sz="1600"/>
            <a:t> Markdown, organized and easy to use for both modelling and investigation (organized, accessible, and fully traceable via source information).</a:t>
          </a:r>
        </a:p>
      </dgm:t>
    </dgm:pt>
    <dgm:pt modelId="{002E90EB-A7A8-4EC6-AD72-91501B0D9369}" type="parTrans" cxnId="{AF03C9CF-83F5-48B2-8782-81F3EA8C2A36}">
      <dgm:prSet/>
      <dgm:spPr/>
      <dgm:t>
        <a:bodyPr/>
        <a:lstStyle/>
        <a:p>
          <a:endParaRPr lang="en-US" sz="1800"/>
        </a:p>
      </dgm:t>
    </dgm:pt>
    <dgm:pt modelId="{8562174D-2B29-4DAC-9EA7-39294A6C61DA}" type="sibTrans" cxnId="{AF03C9CF-83F5-48B2-8782-81F3EA8C2A36}">
      <dgm:prSet/>
      <dgm:spPr/>
      <dgm:t>
        <a:bodyPr/>
        <a:lstStyle/>
        <a:p>
          <a:endParaRPr lang="en-US" sz="1800"/>
        </a:p>
      </dgm:t>
    </dgm:pt>
    <dgm:pt modelId="{72698F0B-948E-4104-94EE-107804192FB0}" type="pres">
      <dgm:prSet presAssocID="{6609FF31-FFBB-4C47-A508-7F751B220CE9}" presName="vert0" presStyleCnt="0">
        <dgm:presLayoutVars>
          <dgm:dir/>
          <dgm:animOne val="branch"/>
          <dgm:animLvl val="lvl"/>
        </dgm:presLayoutVars>
      </dgm:prSet>
      <dgm:spPr/>
    </dgm:pt>
    <dgm:pt modelId="{5A5DA7E5-03CB-4900-828C-8DFF77D6B9A1}" type="pres">
      <dgm:prSet presAssocID="{D2173871-8EB7-4B12-BFB0-7406C728F207}" presName="thickLine" presStyleLbl="alignNode1" presStyleIdx="0" presStyleCnt="6"/>
      <dgm:spPr/>
    </dgm:pt>
    <dgm:pt modelId="{06983957-3D12-43A8-8D3C-EAC5C526A21D}" type="pres">
      <dgm:prSet presAssocID="{D2173871-8EB7-4B12-BFB0-7406C728F207}" presName="horz1" presStyleCnt="0"/>
      <dgm:spPr/>
    </dgm:pt>
    <dgm:pt modelId="{D4D84F0D-B07C-4D98-911A-F298DE559E8A}" type="pres">
      <dgm:prSet presAssocID="{D2173871-8EB7-4B12-BFB0-7406C728F207}" presName="tx1" presStyleLbl="revTx" presStyleIdx="0" presStyleCnt="6"/>
      <dgm:spPr/>
    </dgm:pt>
    <dgm:pt modelId="{70D080E7-BEA5-4130-A728-B07DA9A93C1E}" type="pres">
      <dgm:prSet presAssocID="{D2173871-8EB7-4B12-BFB0-7406C728F207}" presName="vert1" presStyleCnt="0"/>
      <dgm:spPr/>
    </dgm:pt>
    <dgm:pt modelId="{B2B145CA-2967-40B2-AAD3-20C389E12E53}" type="pres">
      <dgm:prSet presAssocID="{9525402D-C354-4F08-AF6B-E6F26C2E39B7}" presName="thickLine" presStyleLbl="alignNode1" presStyleIdx="1" presStyleCnt="6"/>
      <dgm:spPr/>
    </dgm:pt>
    <dgm:pt modelId="{7EDB2A78-114A-4F1A-93B3-066EA4B41AE3}" type="pres">
      <dgm:prSet presAssocID="{9525402D-C354-4F08-AF6B-E6F26C2E39B7}" presName="horz1" presStyleCnt="0"/>
      <dgm:spPr/>
    </dgm:pt>
    <dgm:pt modelId="{0C803D2A-B0FD-4EEF-8F9D-AFD60EAE597D}" type="pres">
      <dgm:prSet presAssocID="{9525402D-C354-4F08-AF6B-E6F26C2E39B7}" presName="tx1" presStyleLbl="revTx" presStyleIdx="1" presStyleCnt="6"/>
      <dgm:spPr/>
    </dgm:pt>
    <dgm:pt modelId="{2CD48B97-6A32-4388-BDDB-B8231381C40A}" type="pres">
      <dgm:prSet presAssocID="{9525402D-C354-4F08-AF6B-E6F26C2E39B7}" presName="vert1" presStyleCnt="0"/>
      <dgm:spPr/>
    </dgm:pt>
    <dgm:pt modelId="{0CC24733-ABED-4ED9-961F-BC44318E993B}" type="pres">
      <dgm:prSet presAssocID="{149CE215-7A67-4322-95A9-8FD06D77F88C}" presName="thickLine" presStyleLbl="alignNode1" presStyleIdx="2" presStyleCnt="6"/>
      <dgm:spPr/>
    </dgm:pt>
    <dgm:pt modelId="{94A2615F-76F1-445C-AB91-D8B8368C3340}" type="pres">
      <dgm:prSet presAssocID="{149CE215-7A67-4322-95A9-8FD06D77F88C}" presName="horz1" presStyleCnt="0"/>
      <dgm:spPr/>
    </dgm:pt>
    <dgm:pt modelId="{31B092D1-6DFA-413C-8D9B-141BEC0D0F43}" type="pres">
      <dgm:prSet presAssocID="{149CE215-7A67-4322-95A9-8FD06D77F88C}" presName="tx1" presStyleLbl="revTx" presStyleIdx="2" presStyleCnt="6"/>
      <dgm:spPr/>
    </dgm:pt>
    <dgm:pt modelId="{820C8F18-D2D4-431D-BE82-E53F1C66013B}" type="pres">
      <dgm:prSet presAssocID="{149CE215-7A67-4322-95A9-8FD06D77F88C}" presName="vert1" presStyleCnt="0"/>
      <dgm:spPr/>
    </dgm:pt>
    <dgm:pt modelId="{611452FA-69F3-4AC3-8685-6C747C5C56AF}" type="pres">
      <dgm:prSet presAssocID="{D3CA90D9-F7D4-4018-BB1A-E85E89201EE1}" presName="thickLine" presStyleLbl="alignNode1" presStyleIdx="3" presStyleCnt="6"/>
      <dgm:spPr/>
    </dgm:pt>
    <dgm:pt modelId="{D228A55B-C8C1-474A-8CC2-F448B8D6B197}" type="pres">
      <dgm:prSet presAssocID="{D3CA90D9-F7D4-4018-BB1A-E85E89201EE1}" presName="horz1" presStyleCnt="0"/>
      <dgm:spPr/>
    </dgm:pt>
    <dgm:pt modelId="{67CBCCF4-6918-4901-84CF-A075D0ACBF2D}" type="pres">
      <dgm:prSet presAssocID="{D3CA90D9-F7D4-4018-BB1A-E85E89201EE1}" presName="tx1" presStyleLbl="revTx" presStyleIdx="3" presStyleCnt="6"/>
      <dgm:spPr/>
    </dgm:pt>
    <dgm:pt modelId="{20882FAA-EBE3-40D5-81B3-4CD2D0E60969}" type="pres">
      <dgm:prSet presAssocID="{D3CA90D9-F7D4-4018-BB1A-E85E89201EE1}" presName="vert1" presStyleCnt="0"/>
      <dgm:spPr/>
    </dgm:pt>
    <dgm:pt modelId="{436B9DD1-5BFB-4DEC-A99E-6F4C59C95B72}" type="pres">
      <dgm:prSet presAssocID="{66064EBF-519B-4B53-896F-AED8D91442B5}" presName="thickLine" presStyleLbl="alignNode1" presStyleIdx="4" presStyleCnt="6"/>
      <dgm:spPr/>
    </dgm:pt>
    <dgm:pt modelId="{6973CB8F-0274-46AD-B9B3-F125ACF70625}" type="pres">
      <dgm:prSet presAssocID="{66064EBF-519B-4B53-896F-AED8D91442B5}" presName="horz1" presStyleCnt="0"/>
      <dgm:spPr/>
    </dgm:pt>
    <dgm:pt modelId="{BFF87F37-B30C-4883-8B5E-95320B2726C7}" type="pres">
      <dgm:prSet presAssocID="{66064EBF-519B-4B53-896F-AED8D91442B5}" presName="tx1" presStyleLbl="revTx" presStyleIdx="4" presStyleCnt="6"/>
      <dgm:spPr/>
    </dgm:pt>
    <dgm:pt modelId="{12415E79-BE2F-417E-8B79-44368097C242}" type="pres">
      <dgm:prSet presAssocID="{66064EBF-519B-4B53-896F-AED8D91442B5}" presName="vert1" presStyleCnt="0"/>
      <dgm:spPr/>
    </dgm:pt>
    <dgm:pt modelId="{AC1E363D-339C-4AEF-AFE0-CC74256E55FA}" type="pres">
      <dgm:prSet presAssocID="{F9B75C92-90CE-4AB7-A5B5-4BAABCBECDDC}" presName="thickLine" presStyleLbl="alignNode1" presStyleIdx="5" presStyleCnt="6"/>
      <dgm:spPr/>
    </dgm:pt>
    <dgm:pt modelId="{6509F4D1-BD21-4996-972F-FF5F5062B152}" type="pres">
      <dgm:prSet presAssocID="{F9B75C92-90CE-4AB7-A5B5-4BAABCBECDDC}" presName="horz1" presStyleCnt="0"/>
      <dgm:spPr/>
    </dgm:pt>
    <dgm:pt modelId="{7CF7B7E5-3C6C-49F8-8262-DDE6F7213806}" type="pres">
      <dgm:prSet presAssocID="{F9B75C92-90CE-4AB7-A5B5-4BAABCBECDDC}" presName="tx1" presStyleLbl="revTx" presStyleIdx="5" presStyleCnt="6"/>
      <dgm:spPr/>
    </dgm:pt>
    <dgm:pt modelId="{4828CF80-C01E-4AC3-AFDA-A2CF0C8F6906}" type="pres">
      <dgm:prSet presAssocID="{F9B75C92-90CE-4AB7-A5B5-4BAABCBECDDC}" presName="vert1" presStyleCnt="0"/>
      <dgm:spPr/>
    </dgm:pt>
  </dgm:ptLst>
  <dgm:cxnLst>
    <dgm:cxn modelId="{96961505-D3C0-46A2-BA3B-B1A8CD4B691B}" type="presOf" srcId="{9525402D-C354-4F08-AF6B-E6F26C2E39B7}" destId="{0C803D2A-B0FD-4EEF-8F9D-AFD60EAE597D}" srcOrd="0" destOrd="0" presId="urn:microsoft.com/office/officeart/2008/layout/LinedList"/>
    <dgm:cxn modelId="{7C0B6D0F-283B-4907-BB6A-D32379905E07}" type="presOf" srcId="{6609FF31-FFBB-4C47-A508-7F751B220CE9}" destId="{72698F0B-948E-4104-94EE-107804192FB0}" srcOrd="0" destOrd="0" presId="urn:microsoft.com/office/officeart/2008/layout/LinedList"/>
    <dgm:cxn modelId="{56AE3E22-1D55-46F7-A2BA-34E1B6BA0D8A}" type="presOf" srcId="{66064EBF-519B-4B53-896F-AED8D91442B5}" destId="{BFF87F37-B30C-4883-8B5E-95320B2726C7}" srcOrd="0" destOrd="0" presId="urn:microsoft.com/office/officeart/2008/layout/LinedList"/>
    <dgm:cxn modelId="{42673728-3DF6-428C-BD4C-45D84D552C64}" srcId="{6609FF31-FFBB-4C47-A508-7F751B220CE9}" destId="{D3CA90D9-F7D4-4018-BB1A-E85E89201EE1}" srcOrd="3" destOrd="0" parTransId="{4EDF47D6-35E1-4072-A76B-40CB3FD3CE62}" sibTransId="{50ABA662-CD3C-49D6-90A6-23D4D1AEABBE}"/>
    <dgm:cxn modelId="{DA2AE736-FAAD-43B5-BEF0-3532A03AE56F}" srcId="{6609FF31-FFBB-4C47-A508-7F751B220CE9}" destId="{66064EBF-519B-4B53-896F-AED8D91442B5}" srcOrd="4" destOrd="0" parTransId="{D697B091-48A0-4604-BD7B-340889A441E9}" sibTransId="{BF08CE3B-CC8D-4AF7-8A06-783B433D5677}"/>
    <dgm:cxn modelId="{7934905C-3743-404E-8B60-946CAAD7A404}" srcId="{6609FF31-FFBB-4C47-A508-7F751B220CE9}" destId="{9525402D-C354-4F08-AF6B-E6F26C2E39B7}" srcOrd="1" destOrd="0" parTransId="{B14ACF70-FA4D-400C-9D00-22F093AD085E}" sibTransId="{022CC615-706A-42CD-90DC-4B1EDC2E41B5}"/>
    <dgm:cxn modelId="{1245915D-55A0-46C5-8A49-B06EE80AD82E}" type="presOf" srcId="{D3CA90D9-F7D4-4018-BB1A-E85E89201EE1}" destId="{67CBCCF4-6918-4901-84CF-A075D0ACBF2D}" srcOrd="0" destOrd="0" presId="urn:microsoft.com/office/officeart/2008/layout/LinedList"/>
    <dgm:cxn modelId="{DA125272-1D22-45EF-A6C6-510EFD96D432}" type="presOf" srcId="{149CE215-7A67-4322-95A9-8FD06D77F88C}" destId="{31B092D1-6DFA-413C-8D9B-141BEC0D0F43}" srcOrd="0" destOrd="0" presId="urn:microsoft.com/office/officeart/2008/layout/LinedList"/>
    <dgm:cxn modelId="{692D2356-6FA1-4E02-A422-46F0082AD026}" srcId="{6609FF31-FFBB-4C47-A508-7F751B220CE9}" destId="{149CE215-7A67-4322-95A9-8FD06D77F88C}" srcOrd="2" destOrd="0" parTransId="{28002DC4-615E-4279-8A95-E13D6458B2AE}" sibTransId="{ADEAE0A0-6E71-43EC-821C-18C5C31CE20F}"/>
    <dgm:cxn modelId="{9E269EB3-CCAD-40ED-8185-A098595459C8}" type="presOf" srcId="{F9B75C92-90CE-4AB7-A5B5-4BAABCBECDDC}" destId="{7CF7B7E5-3C6C-49F8-8262-DDE6F7213806}" srcOrd="0" destOrd="0" presId="urn:microsoft.com/office/officeart/2008/layout/LinedList"/>
    <dgm:cxn modelId="{09E2C7C0-CCAD-41B6-8F2B-BA65BACA84A5}" type="presOf" srcId="{D2173871-8EB7-4B12-BFB0-7406C728F207}" destId="{D4D84F0D-B07C-4D98-911A-F298DE559E8A}" srcOrd="0" destOrd="0" presId="urn:microsoft.com/office/officeart/2008/layout/LinedList"/>
    <dgm:cxn modelId="{AF03C9CF-83F5-48B2-8782-81F3EA8C2A36}" srcId="{6609FF31-FFBB-4C47-A508-7F751B220CE9}" destId="{F9B75C92-90CE-4AB7-A5B5-4BAABCBECDDC}" srcOrd="5" destOrd="0" parTransId="{002E90EB-A7A8-4EC6-AD72-91501B0D9369}" sibTransId="{8562174D-2B29-4DAC-9EA7-39294A6C61DA}"/>
    <dgm:cxn modelId="{ABCD78E9-1212-4A97-B020-6858E4870C33}" srcId="{6609FF31-FFBB-4C47-A508-7F751B220CE9}" destId="{D2173871-8EB7-4B12-BFB0-7406C728F207}" srcOrd="0" destOrd="0" parTransId="{EAF451ED-C2F0-4B60-B68F-87E708052A02}" sibTransId="{49DFAC6E-6D29-4121-8279-43A2A36AD8E0}"/>
    <dgm:cxn modelId="{41215B17-C456-4EE6-B9ED-0FD9FA2D1CE7}" type="presParOf" srcId="{72698F0B-948E-4104-94EE-107804192FB0}" destId="{5A5DA7E5-03CB-4900-828C-8DFF77D6B9A1}" srcOrd="0" destOrd="0" presId="urn:microsoft.com/office/officeart/2008/layout/LinedList"/>
    <dgm:cxn modelId="{37E14F96-3DE2-4D0C-956B-F58408C562DC}" type="presParOf" srcId="{72698F0B-948E-4104-94EE-107804192FB0}" destId="{06983957-3D12-43A8-8D3C-EAC5C526A21D}" srcOrd="1" destOrd="0" presId="urn:microsoft.com/office/officeart/2008/layout/LinedList"/>
    <dgm:cxn modelId="{3AAEB76D-A7FB-4A63-A8B9-040165F01FAF}" type="presParOf" srcId="{06983957-3D12-43A8-8D3C-EAC5C526A21D}" destId="{D4D84F0D-B07C-4D98-911A-F298DE559E8A}" srcOrd="0" destOrd="0" presId="urn:microsoft.com/office/officeart/2008/layout/LinedList"/>
    <dgm:cxn modelId="{1D0CD301-DBAD-444D-B2F2-5BC49CF944A8}" type="presParOf" srcId="{06983957-3D12-43A8-8D3C-EAC5C526A21D}" destId="{70D080E7-BEA5-4130-A728-B07DA9A93C1E}" srcOrd="1" destOrd="0" presId="urn:microsoft.com/office/officeart/2008/layout/LinedList"/>
    <dgm:cxn modelId="{5A321FE9-1F5B-482A-B471-81B0CF654CD4}" type="presParOf" srcId="{72698F0B-948E-4104-94EE-107804192FB0}" destId="{B2B145CA-2967-40B2-AAD3-20C389E12E53}" srcOrd="2" destOrd="0" presId="urn:microsoft.com/office/officeart/2008/layout/LinedList"/>
    <dgm:cxn modelId="{E8AC9DE0-87C9-4222-9961-E4F94387E394}" type="presParOf" srcId="{72698F0B-948E-4104-94EE-107804192FB0}" destId="{7EDB2A78-114A-4F1A-93B3-066EA4B41AE3}" srcOrd="3" destOrd="0" presId="urn:microsoft.com/office/officeart/2008/layout/LinedList"/>
    <dgm:cxn modelId="{1D6FCCE8-33DF-4BF3-BB84-899A45796C54}" type="presParOf" srcId="{7EDB2A78-114A-4F1A-93B3-066EA4B41AE3}" destId="{0C803D2A-B0FD-4EEF-8F9D-AFD60EAE597D}" srcOrd="0" destOrd="0" presId="urn:microsoft.com/office/officeart/2008/layout/LinedList"/>
    <dgm:cxn modelId="{2760FA1E-ECCD-475D-8A87-0C1738CB8AA3}" type="presParOf" srcId="{7EDB2A78-114A-4F1A-93B3-066EA4B41AE3}" destId="{2CD48B97-6A32-4388-BDDB-B8231381C40A}" srcOrd="1" destOrd="0" presId="urn:microsoft.com/office/officeart/2008/layout/LinedList"/>
    <dgm:cxn modelId="{8150A5B2-1A41-4BAA-8477-495CB3491FA7}" type="presParOf" srcId="{72698F0B-948E-4104-94EE-107804192FB0}" destId="{0CC24733-ABED-4ED9-961F-BC44318E993B}" srcOrd="4" destOrd="0" presId="urn:microsoft.com/office/officeart/2008/layout/LinedList"/>
    <dgm:cxn modelId="{2474E82A-5DBB-4EA7-A508-0BBFFEED0A69}" type="presParOf" srcId="{72698F0B-948E-4104-94EE-107804192FB0}" destId="{94A2615F-76F1-445C-AB91-D8B8368C3340}" srcOrd="5" destOrd="0" presId="urn:microsoft.com/office/officeart/2008/layout/LinedList"/>
    <dgm:cxn modelId="{9C1E0647-88A8-416D-AAA2-FE8A4FB272BF}" type="presParOf" srcId="{94A2615F-76F1-445C-AB91-D8B8368C3340}" destId="{31B092D1-6DFA-413C-8D9B-141BEC0D0F43}" srcOrd="0" destOrd="0" presId="urn:microsoft.com/office/officeart/2008/layout/LinedList"/>
    <dgm:cxn modelId="{6259E54F-3755-475D-88B8-6DAD7CF5EFD1}" type="presParOf" srcId="{94A2615F-76F1-445C-AB91-D8B8368C3340}" destId="{820C8F18-D2D4-431D-BE82-E53F1C66013B}" srcOrd="1" destOrd="0" presId="urn:microsoft.com/office/officeart/2008/layout/LinedList"/>
    <dgm:cxn modelId="{043BE9B5-612A-4344-A9BC-A2425704C2CD}" type="presParOf" srcId="{72698F0B-948E-4104-94EE-107804192FB0}" destId="{611452FA-69F3-4AC3-8685-6C747C5C56AF}" srcOrd="6" destOrd="0" presId="urn:microsoft.com/office/officeart/2008/layout/LinedList"/>
    <dgm:cxn modelId="{D1988EE8-BF1F-4931-A431-733D0009D5D7}" type="presParOf" srcId="{72698F0B-948E-4104-94EE-107804192FB0}" destId="{D228A55B-C8C1-474A-8CC2-F448B8D6B197}" srcOrd="7" destOrd="0" presId="urn:microsoft.com/office/officeart/2008/layout/LinedList"/>
    <dgm:cxn modelId="{5EC4B8F6-4876-4A9A-BC2B-663E77564EE8}" type="presParOf" srcId="{D228A55B-C8C1-474A-8CC2-F448B8D6B197}" destId="{67CBCCF4-6918-4901-84CF-A075D0ACBF2D}" srcOrd="0" destOrd="0" presId="urn:microsoft.com/office/officeart/2008/layout/LinedList"/>
    <dgm:cxn modelId="{D7735BC3-B773-425E-BE45-74043AED630C}" type="presParOf" srcId="{D228A55B-C8C1-474A-8CC2-F448B8D6B197}" destId="{20882FAA-EBE3-40D5-81B3-4CD2D0E60969}" srcOrd="1" destOrd="0" presId="urn:microsoft.com/office/officeart/2008/layout/LinedList"/>
    <dgm:cxn modelId="{AFABBD7E-EFA3-4AB1-AEA3-5A82053FF291}" type="presParOf" srcId="{72698F0B-948E-4104-94EE-107804192FB0}" destId="{436B9DD1-5BFB-4DEC-A99E-6F4C59C95B72}" srcOrd="8" destOrd="0" presId="urn:microsoft.com/office/officeart/2008/layout/LinedList"/>
    <dgm:cxn modelId="{98B0406D-132F-4642-BCD3-98E89785DC48}" type="presParOf" srcId="{72698F0B-948E-4104-94EE-107804192FB0}" destId="{6973CB8F-0274-46AD-B9B3-F125ACF70625}" srcOrd="9" destOrd="0" presId="urn:microsoft.com/office/officeart/2008/layout/LinedList"/>
    <dgm:cxn modelId="{8AC8C819-FE17-4EAD-850B-FE996AD1B32B}" type="presParOf" srcId="{6973CB8F-0274-46AD-B9B3-F125ACF70625}" destId="{BFF87F37-B30C-4883-8B5E-95320B2726C7}" srcOrd="0" destOrd="0" presId="urn:microsoft.com/office/officeart/2008/layout/LinedList"/>
    <dgm:cxn modelId="{DED0018A-C148-4479-9ED3-B53B68586A10}" type="presParOf" srcId="{6973CB8F-0274-46AD-B9B3-F125ACF70625}" destId="{12415E79-BE2F-417E-8B79-44368097C242}" srcOrd="1" destOrd="0" presId="urn:microsoft.com/office/officeart/2008/layout/LinedList"/>
    <dgm:cxn modelId="{8955F838-4D09-4BCB-BC94-6E99E0A8FD75}" type="presParOf" srcId="{72698F0B-948E-4104-94EE-107804192FB0}" destId="{AC1E363D-339C-4AEF-AFE0-CC74256E55FA}" srcOrd="10" destOrd="0" presId="urn:microsoft.com/office/officeart/2008/layout/LinedList"/>
    <dgm:cxn modelId="{5D966F67-3BA5-4F69-A555-94A6E79201D1}" type="presParOf" srcId="{72698F0B-948E-4104-94EE-107804192FB0}" destId="{6509F4D1-BD21-4996-972F-FF5F5062B152}" srcOrd="11" destOrd="0" presId="urn:microsoft.com/office/officeart/2008/layout/LinedList"/>
    <dgm:cxn modelId="{C714B6CB-9197-49D3-8340-E09336B83EFA}" type="presParOf" srcId="{6509F4D1-BD21-4996-972F-FF5F5062B152}" destId="{7CF7B7E5-3C6C-49F8-8262-DDE6F7213806}" srcOrd="0" destOrd="0" presId="urn:microsoft.com/office/officeart/2008/layout/LinedList"/>
    <dgm:cxn modelId="{9C1421CE-9893-4C36-95AA-43A18E934640}" type="presParOf" srcId="{6509F4D1-BD21-4996-972F-FF5F5062B152}" destId="{4828CF80-C01E-4AC3-AFDA-A2CF0C8F690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AB2485F-298E-482E-817A-8314573E38C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  <dgm:t>
        <a:bodyPr/>
        <a:lstStyle/>
        <a:p>
          <a:endParaRPr lang="en-US"/>
        </a:p>
      </dgm:t>
    </dgm:pt>
    <dgm:pt modelId="{52BCF366-E060-4115-B197-F90B477CFEC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/>
            <a:t>Primary Users:</a:t>
          </a:r>
        </a:p>
        <a:p>
          <a:pPr>
            <a:lnSpc>
              <a:spcPct val="100000"/>
            </a:lnSpc>
          </a:pPr>
          <a:r>
            <a:rPr lang="en-US" sz="1600" b="1"/>
            <a:t> Modelling experts</a:t>
          </a:r>
          <a:endParaRPr lang="en-US" sz="1600"/>
        </a:p>
      </dgm:t>
    </dgm:pt>
    <dgm:pt modelId="{EFFC036D-DCC4-4ED8-8EBA-19989F7D7615}" type="parTrans" cxnId="{88977973-8E50-42FB-AB64-ACBC82BEC85A}">
      <dgm:prSet/>
      <dgm:spPr/>
      <dgm:t>
        <a:bodyPr/>
        <a:lstStyle/>
        <a:p>
          <a:endParaRPr lang="en-US" sz="4000"/>
        </a:p>
      </dgm:t>
    </dgm:pt>
    <dgm:pt modelId="{115AE2CB-0DF9-4DDE-B198-58928E2804C8}" type="sibTrans" cxnId="{88977973-8E50-42FB-AB64-ACBC82BEC85A}">
      <dgm:prSet/>
      <dgm:spPr/>
      <dgm:t>
        <a:bodyPr/>
        <a:lstStyle/>
        <a:p>
          <a:endParaRPr lang="en-US" sz="2800"/>
        </a:p>
      </dgm:t>
    </dgm:pt>
    <dgm:pt modelId="{BD29AA01-0328-402B-8B12-18C376ED354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/>
            <a:t>Use Case:</a:t>
          </a:r>
        </a:p>
        <a:p>
          <a:pPr>
            <a:lnSpc>
              <a:spcPct val="100000"/>
            </a:lnSpc>
          </a:pPr>
          <a:r>
            <a:rPr lang="en-US" sz="1600"/>
            <a:t>Link AML library content to data signals and features, using the suggested red flags as a guideline.</a:t>
          </a:r>
        </a:p>
      </dgm:t>
    </dgm:pt>
    <dgm:pt modelId="{9C9831AC-B95D-4C36-9066-E5498627E387}" type="parTrans" cxnId="{174ECE29-DC21-4A8E-B799-B44F79378C56}">
      <dgm:prSet/>
      <dgm:spPr/>
      <dgm:t>
        <a:bodyPr/>
        <a:lstStyle/>
        <a:p>
          <a:endParaRPr lang="en-US" sz="4000"/>
        </a:p>
      </dgm:t>
    </dgm:pt>
    <dgm:pt modelId="{3EB885F5-165F-48D1-940D-50B03B52B2DB}" type="sibTrans" cxnId="{174ECE29-DC21-4A8E-B799-B44F79378C56}">
      <dgm:prSet/>
      <dgm:spPr/>
      <dgm:t>
        <a:bodyPr/>
        <a:lstStyle/>
        <a:p>
          <a:endParaRPr lang="en-US" sz="2800"/>
        </a:p>
      </dgm:t>
    </dgm:pt>
    <dgm:pt modelId="{35203E42-F04F-4D2F-BC36-88038A4A94A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/>
            <a:t>Use Case:</a:t>
          </a:r>
        </a:p>
        <a:p>
          <a:pPr>
            <a:lnSpc>
              <a:spcPct val="100000"/>
            </a:lnSpc>
          </a:pPr>
          <a:r>
            <a:rPr lang="en-US" sz="1400"/>
            <a:t>Understand</a:t>
          </a:r>
          <a:r>
            <a:rPr lang="en-US" sz="1600"/>
            <a:t> risk patterns and design </a:t>
          </a:r>
          <a:r>
            <a:rPr lang="en-US" sz="1600" b="1"/>
            <a:t>interpretable detection models.</a:t>
          </a:r>
          <a:endParaRPr lang="en-US" sz="1600"/>
        </a:p>
      </dgm:t>
    </dgm:pt>
    <dgm:pt modelId="{D99EBA0E-03D2-4447-9348-1C5FCDF6FBC0}" type="parTrans" cxnId="{8EE04B77-184B-4C21-9750-0C62BC8DDCAC}">
      <dgm:prSet/>
      <dgm:spPr/>
      <dgm:t>
        <a:bodyPr/>
        <a:lstStyle/>
        <a:p>
          <a:endParaRPr lang="en-US" sz="4000"/>
        </a:p>
      </dgm:t>
    </dgm:pt>
    <dgm:pt modelId="{20F85DBA-865B-445C-8526-17443F76E8A1}" type="sibTrans" cxnId="{8EE04B77-184B-4C21-9750-0C62BC8DDCAC}">
      <dgm:prSet/>
      <dgm:spPr/>
      <dgm:t>
        <a:bodyPr/>
        <a:lstStyle/>
        <a:p>
          <a:endParaRPr lang="en-US" sz="2800"/>
        </a:p>
      </dgm:t>
    </dgm:pt>
    <dgm:pt modelId="{73E944F3-6522-4E67-988F-050FBE9BCB3B}" type="pres">
      <dgm:prSet presAssocID="{7AB2485F-298E-482E-817A-8314573E38C8}" presName="root" presStyleCnt="0">
        <dgm:presLayoutVars>
          <dgm:dir/>
          <dgm:resizeHandles val="exact"/>
        </dgm:presLayoutVars>
      </dgm:prSet>
      <dgm:spPr/>
    </dgm:pt>
    <dgm:pt modelId="{753DCE95-BA46-4FA1-9052-7C584AFA51D1}" type="pres">
      <dgm:prSet presAssocID="{52BCF366-E060-4115-B197-F90B477CFEC0}" presName="compNode" presStyleCnt="0"/>
      <dgm:spPr/>
    </dgm:pt>
    <dgm:pt modelId="{5DDF306F-F69D-4E07-B46A-34C7DFF841EC}" type="pres">
      <dgm:prSet presAssocID="{52BCF366-E060-4115-B197-F90B477CFEC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DA6D971-5A60-48D5-B269-ED6F861E6B7B}" type="pres">
      <dgm:prSet presAssocID="{52BCF366-E060-4115-B197-F90B477CFEC0}" presName="spaceRect" presStyleCnt="0"/>
      <dgm:spPr/>
    </dgm:pt>
    <dgm:pt modelId="{784C35B1-1C18-45E7-8BC3-B080586A759C}" type="pres">
      <dgm:prSet presAssocID="{52BCF366-E060-4115-B197-F90B477CFEC0}" presName="textRect" presStyleLbl="revTx" presStyleIdx="0" presStyleCnt="3">
        <dgm:presLayoutVars>
          <dgm:chMax val="1"/>
          <dgm:chPref val="1"/>
        </dgm:presLayoutVars>
      </dgm:prSet>
      <dgm:spPr/>
    </dgm:pt>
    <dgm:pt modelId="{D852447D-A5BB-4E59-AF32-1E34B601CE8E}" type="pres">
      <dgm:prSet presAssocID="{115AE2CB-0DF9-4DDE-B198-58928E2804C8}" presName="sibTrans" presStyleCnt="0"/>
      <dgm:spPr/>
    </dgm:pt>
    <dgm:pt modelId="{2E495BA6-8B4C-4E9D-981E-5F6D911DBD90}" type="pres">
      <dgm:prSet presAssocID="{BD29AA01-0328-402B-8B12-18C376ED3549}" presName="compNode" presStyleCnt="0"/>
      <dgm:spPr/>
    </dgm:pt>
    <dgm:pt modelId="{891AFC9E-94BD-4758-BAA9-71AE35B91457}" type="pres">
      <dgm:prSet presAssocID="{BD29AA01-0328-402B-8B12-18C376ED354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322BA3B2-23C1-4508-8F91-2AD2A6A4643D}" type="pres">
      <dgm:prSet presAssocID="{BD29AA01-0328-402B-8B12-18C376ED3549}" presName="spaceRect" presStyleCnt="0"/>
      <dgm:spPr/>
    </dgm:pt>
    <dgm:pt modelId="{C7B5F2B4-E58E-436A-B400-9EAB95CDED7F}" type="pres">
      <dgm:prSet presAssocID="{BD29AA01-0328-402B-8B12-18C376ED3549}" presName="textRect" presStyleLbl="revTx" presStyleIdx="1" presStyleCnt="3">
        <dgm:presLayoutVars>
          <dgm:chMax val="1"/>
          <dgm:chPref val="1"/>
        </dgm:presLayoutVars>
      </dgm:prSet>
      <dgm:spPr/>
    </dgm:pt>
    <dgm:pt modelId="{AC622280-7320-47BD-ABD0-2E1428BC5F9B}" type="pres">
      <dgm:prSet presAssocID="{3EB885F5-165F-48D1-940D-50B03B52B2DB}" presName="sibTrans" presStyleCnt="0"/>
      <dgm:spPr/>
    </dgm:pt>
    <dgm:pt modelId="{AB985BE6-E2F7-4427-BDC0-900156A91546}" type="pres">
      <dgm:prSet presAssocID="{35203E42-F04F-4D2F-BC36-88038A4A94A8}" presName="compNode" presStyleCnt="0"/>
      <dgm:spPr/>
    </dgm:pt>
    <dgm:pt modelId="{6ACD38B3-5191-463F-95EF-EFFFA1B383E6}" type="pres">
      <dgm:prSet presAssocID="{35203E42-F04F-4D2F-BC36-88038A4A94A8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F7144E00-0CD0-4E17-B001-86565B967978}" type="pres">
      <dgm:prSet presAssocID="{35203E42-F04F-4D2F-BC36-88038A4A94A8}" presName="spaceRect" presStyleCnt="0"/>
      <dgm:spPr/>
    </dgm:pt>
    <dgm:pt modelId="{E0DB2EDA-D8BE-40FE-B245-87B6E70D3D75}" type="pres">
      <dgm:prSet presAssocID="{35203E42-F04F-4D2F-BC36-88038A4A94A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74ECE29-DC21-4A8E-B799-B44F79378C56}" srcId="{7AB2485F-298E-482E-817A-8314573E38C8}" destId="{BD29AA01-0328-402B-8B12-18C376ED3549}" srcOrd="1" destOrd="0" parTransId="{9C9831AC-B95D-4C36-9066-E5498627E387}" sibTransId="{3EB885F5-165F-48D1-940D-50B03B52B2DB}"/>
    <dgm:cxn modelId="{90E5F667-F372-4129-B032-648763CA846D}" type="presOf" srcId="{BD29AA01-0328-402B-8B12-18C376ED3549}" destId="{C7B5F2B4-E58E-436A-B400-9EAB95CDED7F}" srcOrd="0" destOrd="0" presId="urn:microsoft.com/office/officeart/2018/2/layout/IconLabelList"/>
    <dgm:cxn modelId="{88977973-8E50-42FB-AB64-ACBC82BEC85A}" srcId="{7AB2485F-298E-482E-817A-8314573E38C8}" destId="{52BCF366-E060-4115-B197-F90B477CFEC0}" srcOrd="0" destOrd="0" parTransId="{EFFC036D-DCC4-4ED8-8EBA-19989F7D7615}" sibTransId="{115AE2CB-0DF9-4DDE-B198-58928E2804C8}"/>
    <dgm:cxn modelId="{8EE04B77-184B-4C21-9750-0C62BC8DDCAC}" srcId="{7AB2485F-298E-482E-817A-8314573E38C8}" destId="{35203E42-F04F-4D2F-BC36-88038A4A94A8}" srcOrd="2" destOrd="0" parTransId="{D99EBA0E-03D2-4447-9348-1C5FCDF6FBC0}" sibTransId="{20F85DBA-865B-445C-8526-17443F76E8A1}"/>
    <dgm:cxn modelId="{3C67E39D-6167-4D68-8B4C-5954FD758193}" type="presOf" srcId="{52BCF366-E060-4115-B197-F90B477CFEC0}" destId="{784C35B1-1C18-45E7-8BC3-B080586A759C}" srcOrd="0" destOrd="0" presId="urn:microsoft.com/office/officeart/2018/2/layout/IconLabelList"/>
    <dgm:cxn modelId="{4A98DFD8-9A0A-4476-90CE-3E9AD73552B4}" type="presOf" srcId="{7AB2485F-298E-482E-817A-8314573E38C8}" destId="{73E944F3-6522-4E67-988F-050FBE9BCB3B}" srcOrd="0" destOrd="0" presId="urn:microsoft.com/office/officeart/2018/2/layout/IconLabelList"/>
    <dgm:cxn modelId="{2AFA2CFC-5B4F-45ED-9F43-3C6E7AD4FE26}" type="presOf" srcId="{35203E42-F04F-4D2F-BC36-88038A4A94A8}" destId="{E0DB2EDA-D8BE-40FE-B245-87B6E70D3D75}" srcOrd="0" destOrd="0" presId="urn:microsoft.com/office/officeart/2018/2/layout/IconLabelList"/>
    <dgm:cxn modelId="{BBCEC469-3851-4571-85F0-12D502E1C681}" type="presParOf" srcId="{73E944F3-6522-4E67-988F-050FBE9BCB3B}" destId="{753DCE95-BA46-4FA1-9052-7C584AFA51D1}" srcOrd="0" destOrd="0" presId="urn:microsoft.com/office/officeart/2018/2/layout/IconLabelList"/>
    <dgm:cxn modelId="{EFFFFB3E-5E87-458B-BB6A-640594A8DE55}" type="presParOf" srcId="{753DCE95-BA46-4FA1-9052-7C584AFA51D1}" destId="{5DDF306F-F69D-4E07-B46A-34C7DFF841EC}" srcOrd="0" destOrd="0" presId="urn:microsoft.com/office/officeart/2018/2/layout/IconLabelList"/>
    <dgm:cxn modelId="{EA7D62A4-B725-4F85-AAF0-316F9F0D0520}" type="presParOf" srcId="{753DCE95-BA46-4FA1-9052-7C584AFA51D1}" destId="{CDA6D971-5A60-48D5-B269-ED6F861E6B7B}" srcOrd="1" destOrd="0" presId="urn:microsoft.com/office/officeart/2018/2/layout/IconLabelList"/>
    <dgm:cxn modelId="{3DCAC072-0F48-4378-A61E-E2241C9DB7F8}" type="presParOf" srcId="{753DCE95-BA46-4FA1-9052-7C584AFA51D1}" destId="{784C35B1-1C18-45E7-8BC3-B080586A759C}" srcOrd="2" destOrd="0" presId="urn:microsoft.com/office/officeart/2018/2/layout/IconLabelList"/>
    <dgm:cxn modelId="{80E3A04B-387B-4BE3-BEE2-2DA79CBBD84C}" type="presParOf" srcId="{73E944F3-6522-4E67-988F-050FBE9BCB3B}" destId="{D852447D-A5BB-4E59-AF32-1E34B601CE8E}" srcOrd="1" destOrd="0" presId="urn:microsoft.com/office/officeart/2018/2/layout/IconLabelList"/>
    <dgm:cxn modelId="{4B00DC0C-8BD0-482F-A2DE-A02B70B92F93}" type="presParOf" srcId="{73E944F3-6522-4E67-988F-050FBE9BCB3B}" destId="{2E495BA6-8B4C-4E9D-981E-5F6D911DBD90}" srcOrd="2" destOrd="0" presId="urn:microsoft.com/office/officeart/2018/2/layout/IconLabelList"/>
    <dgm:cxn modelId="{C2FCE205-751F-48D9-B773-81E48548F131}" type="presParOf" srcId="{2E495BA6-8B4C-4E9D-981E-5F6D911DBD90}" destId="{891AFC9E-94BD-4758-BAA9-71AE35B91457}" srcOrd="0" destOrd="0" presId="urn:microsoft.com/office/officeart/2018/2/layout/IconLabelList"/>
    <dgm:cxn modelId="{2C02CB3A-ABA5-4EF9-930D-145EC733A1C6}" type="presParOf" srcId="{2E495BA6-8B4C-4E9D-981E-5F6D911DBD90}" destId="{322BA3B2-23C1-4508-8F91-2AD2A6A4643D}" srcOrd="1" destOrd="0" presId="urn:microsoft.com/office/officeart/2018/2/layout/IconLabelList"/>
    <dgm:cxn modelId="{CB15C40C-C3E4-499D-8B75-6CBCE007D27C}" type="presParOf" srcId="{2E495BA6-8B4C-4E9D-981E-5F6D911DBD90}" destId="{C7B5F2B4-E58E-436A-B400-9EAB95CDED7F}" srcOrd="2" destOrd="0" presId="urn:microsoft.com/office/officeart/2018/2/layout/IconLabelList"/>
    <dgm:cxn modelId="{F7ECB8C5-D648-4650-A9B2-9A101A9A038C}" type="presParOf" srcId="{73E944F3-6522-4E67-988F-050FBE9BCB3B}" destId="{AC622280-7320-47BD-ABD0-2E1428BC5F9B}" srcOrd="3" destOrd="0" presId="urn:microsoft.com/office/officeart/2018/2/layout/IconLabelList"/>
    <dgm:cxn modelId="{CE477196-51A7-42E2-AB8C-01B85BC44322}" type="presParOf" srcId="{73E944F3-6522-4E67-988F-050FBE9BCB3B}" destId="{AB985BE6-E2F7-4427-BDC0-900156A91546}" srcOrd="4" destOrd="0" presId="urn:microsoft.com/office/officeart/2018/2/layout/IconLabelList"/>
    <dgm:cxn modelId="{7823B405-732D-4559-9B02-1759E8DDF0C6}" type="presParOf" srcId="{AB985BE6-E2F7-4427-BDC0-900156A91546}" destId="{6ACD38B3-5191-463F-95EF-EFFFA1B383E6}" srcOrd="0" destOrd="0" presId="urn:microsoft.com/office/officeart/2018/2/layout/IconLabelList"/>
    <dgm:cxn modelId="{78D8F24D-4B08-45B0-9CA7-7A301931EE2B}" type="presParOf" srcId="{AB985BE6-E2F7-4427-BDC0-900156A91546}" destId="{F7144E00-0CD0-4E17-B001-86565B967978}" srcOrd="1" destOrd="0" presId="urn:microsoft.com/office/officeart/2018/2/layout/IconLabelList"/>
    <dgm:cxn modelId="{6383B310-C77B-495A-A25F-9D2296C0F72E}" type="presParOf" srcId="{AB985BE6-E2F7-4427-BDC0-900156A91546}" destId="{E0DB2EDA-D8BE-40FE-B245-87B6E70D3D7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AB2485F-298E-482E-817A-8314573E38C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14DA9623-DBB1-452A-95A1-79504CA7A85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/>
            <a:t>Secondary Users:</a:t>
          </a:r>
        </a:p>
        <a:p>
          <a:pPr>
            <a:lnSpc>
              <a:spcPct val="100000"/>
            </a:lnSpc>
          </a:pPr>
          <a:r>
            <a:rPr lang="en-US" sz="1600" b="1"/>
            <a:t> AML investigators and professionals</a:t>
          </a:r>
          <a:endParaRPr lang="en-US" sz="1600"/>
        </a:p>
      </dgm:t>
    </dgm:pt>
    <dgm:pt modelId="{DE2758E2-E9DF-43E9-9049-D68BFB01354F}" type="parTrans" cxnId="{D1E8B5C7-5884-40D1-9B1F-8F24BDC30345}">
      <dgm:prSet/>
      <dgm:spPr/>
      <dgm:t>
        <a:bodyPr/>
        <a:lstStyle/>
        <a:p>
          <a:endParaRPr lang="en-US" sz="4000"/>
        </a:p>
      </dgm:t>
    </dgm:pt>
    <dgm:pt modelId="{15289692-5829-4A25-9B00-5DEBDB1E6F98}" type="sibTrans" cxnId="{D1E8B5C7-5884-40D1-9B1F-8F24BDC30345}">
      <dgm:prSet/>
      <dgm:spPr/>
      <dgm:t>
        <a:bodyPr/>
        <a:lstStyle/>
        <a:p>
          <a:endParaRPr lang="en-US" sz="2800"/>
        </a:p>
      </dgm:t>
    </dgm:pt>
    <dgm:pt modelId="{E2B8035A-98FD-4067-A201-399E754BC09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/>
            <a:t>Use Case: </a:t>
          </a:r>
        </a:p>
        <a:p>
          <a:pPr>
            <a:lnSpc>
              <a:spcPct val="100000"/>
            </a:lnSpc>
          </a:pPr>
          <a:r>
            <a:rPr lang="en-US" sz="1600" b="1"/>
            <a:t>Reference</a:t>
          </a:r>
          <a:r>
            <a:rPr lang="en-US" sz="1600"/>
            <a:t> during investigations and due diligence.</a:t>
          </a:r>
        </a:p>
      </dgm:t>
    </dgm:pt>
    <dgm:pt modelId="{1CC0FF54-8664-409A-8AE4-FEB52468D2A1}" type="parTrans" cxnId="{0CD426EC-CAD6-4A98-9DD7-F4FC05A928C6}">
      <dgm:prSet/>
      <dgm:spPr/>
      <dgm:t>
        <a:bodyPr/>
        <a:lstStyle/>
        <a:p>
          <a:endParaRPr lang="en-US" sz="4000"/>
        </a:p>
      </dgm:t>
    </dgm:pt>
    <dgm:pt modelId="{3BD0AB19-E355-41E2-9600-95DF16ED1327}" type="sibTrans" cxnId="{0CD426EC-CAD6-4A98-9DD7-F4FC05A928C6}">
      <dgm:prSet/>
      <dgm:spPr/>
      <dgm:t>
        <a:bodyPr/>
        <a:lstStyle/>
        <a:p>
          <a:endParaRPr lang="en-US" sz="2800"/>
        </a:p>
      </dgm:t>
    </dgm:pt>
    <dgm:pt modelId="{F005A7D0-0969-4111-A3F8-8DDA2F0A235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b="1"/>
            <a:t>Use Case:</a:t>
          </a:r>
          <a:r>
            <a:rPr lang="en-US" sz="1600"/>
            <a:t> </a:t>
          </a:r>
        </a:p>
        <a:p>
          <a:pPr>
            <a:lnSpc>
              <a:spcPct val="100000"/>
            </a:lnSpc>
          </a:pPr>
          <a:r>
            <a:rPr lang="en-US" sz="1600"/>
            <a:t>Spot suspicious patterns and justify decisions with </a:t>
          </a:r>
          <a:r>
            <a:rPr lang="en-US" sz="1600" b="1"/>
            <a:t>source-backed</a:t>
          </a:r>
          <a:r>
            <a:rPr lang="en-US" sz="1600"/>
            <a:t> indicators.</a:t>
          </a:r>
        </a:p>
      </dgm:t>
    </dgm:pt>
    <dgm:pt modelId="{146F8E14-5F45-4165-AD42-E4634DC7EB7D}" type="parTrans" cxnId="{A3BE4375-89D5-431B-845A-4E952EF8B3FE}">
      <dgm:prSet/>
      <dgm:spPr/>
      <dgm:t>
        <a:bodyPr/>
        <a:lstStyle/>
        <a:p>
          <a:endParaRPr lang="en-US" sz="4000"/>
        </a:p>
      </dgm:t>
    </dgm:pt>
    <dgm:pt modelId="{EC487748-1E59-4A9B-A986-CF385493A8C2}" type="sibTrans" cxnId="{A3BE4375-89D5-431B-845A-4E952EF8B3FE}">
      <dgm:prSet/>
      <dgm:spPr/>
      <dgm:t>
        <a:bodyPr/>
        <a:lstStyle/>
        <a:p>
          <a:endParaRPr lang="en-US" sz="2800"/>
        </a:p>
      </dgm:t>
    </dgm:pt>
    <dgm:pt modelId="{73E944F3-6522-4E67-988F-050FBE9BCB3B}" type="pres">
      <dgm:prSet presAssocID="{7AB2485F-298E-482E-817A-8314573E38C8}" presName="root" presStyleCnt="0">
        <dgm:presLayoutVars>
          <dgm:dir/>
          <dgm:resizeHandles val="exact"/>
        </dgm:presLayoutVars>
      </dgm:prSet>
      <dgm:spPr/>
    </dgm:pt>
    <dgm:pt modelId="{F70EEB94-4C4F-4CAC-ADE4-445D339AD829}" type="pres">
      <dgm:prSet presAssocID="{14DA9623-DBB1-452A-95A1-79504CA7A85F}" presName="compNode" presStyleCnt="0"/>
      <dgm:spPr/>
    </dgm:pt>
    <dgm:pt modelId="{7C04805F-8CFD-4E0B-B06D-74E9F669C442}" type="pres">
      <dgm:prSet presAssocID="{14DA9623-DBB1-452A-95A1-79504CA7A85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7469782A-45B7-4569-807C-5DEFC4FDEF29}" type="pres">
      <dgm:prSet presAssocID="{14DA9623-DBB1-452A-95A1-79504CA7A85F}" presName="spaceRect" presStyleCnt="0"/>
      <dgm:spPr/>
    </dgm:pt>
    <dgm:pt modelId="{9962D4E2-85F4-4113-A110-AACE9C58FC8E}" type="pres">
      <dgm:prSet presAssocID="{14DA9623-DBB1-452A-95A1-79504CA7A85F}" presName="textRect" presStyleLbl="revTx" presStyleIdx="0" presStyleCnt="3">
        <dgm:presLayoutVars>
          <dgm:chMax val="1"/>
          <dgm:chPref val="1"/>
        </dgm:presLayoutVars>
      </dgm:prSet>
      <dgm:spPr/>
    </dgm:pt>
    <dgm:pt modelId="{C7BCB8D3-D1AB-44D5-804E-16FAB32C5EF4}" type="pres">
      <dgm:prSet presAssocID="{15289692-5829-4A25-9B00-5DEBDB1E6F98}" presName="sibTrans" presStyleCnt="0"/>
      <dgm:spPr/>
    </dgm:pt>
    <dgm:pt modelId="{3A389220-39AC-488F-B7A5-247F5139C33D}" type="pres">
      <dgm:prSet presAssocID="{E2B8035A-98FD-4067-A201-399E754BC09D}" presName="compNode" presStyleCnt="0"/>
      <dgm:spPr/>
    </dgm:pt>
    <dgm:pt modelId="{5F45EA87-1FF6-4526-89B9-DFCEF0EAB727}" type="pres">
      <dgm:prSet presAssocID="{E2B8035A-98FD-4067-A201-399E754BC09D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vel"/>
        </a:ext>
      </dgm:extLst>
    </dgm:pt>
    <dgm:pt modelId="{66C48BF7-2AC7-481B-998C-ED2FA54C937E}" type="pres">
      <dgm:prSet presAssocID="{E2B8035A-98FD-4067-A201-399E754BC09D}" presName="spaceRect" presStyleCnt="0"/>
      <dgm:spPr/>
    </dgm:pt>
    <dgm:pt modelId="{C0C6BA93-5CCE-4F66-BD66-149CFDA32C14}" type="pres">
      <dgm:prSet presAssocID="{E2B8035A-98FD-4067-A201-399E754BC09D}" presName="textRect" presStyleLbl="revTx" presStyleIdx="1" presStyleCnt="3">
        <dgm:presLayoutVars>
          <dgm:chMax val="1"/>
          <dgm:chPref val="1"/>
        </dgm:presLayoutVars>
      </dgm:prSet>
      <dgm:spPr/>
    </dgm:pt>
    <dgm:pt modelId="{95EF1481-74F2-43F5-8B34-C61C808AD856}" type="pres">
      <dgm:prSet presAssocID="{3BD0AB19-E355-41E2-9600-95DF16ED1327}" presName="sibTrans" presStyleCnt="0"/>
      <dgm:spPr/>
    </dgm:pt>
    <dgm:pt modelId="{40454BBF-9E00-4438-80CF-14897474A160}" type="pres">
      <dgm:prSet presAssocID="{F005A7D0-0969-4111-A3F8-8DDA2F0A235D}" presName="compNode" presStyleCnt="0"/>
      <dgm:spPr/>
    </dgm:pt>
    <dgm:pt modelId="{080C9B31-42BA-406C-9B41-71AEFA3BC350}" type="pres">
      <dgm:prSet presAssocID="{F005A7D0-0969-4111-A3F8-8DDA2F0A235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rson with Idea"/>
        </a:ext>
      </dgm:extLst>
    </dgm:pt>
    <dgm:pt modelId="{9D6CC9CA-C71B-416F-B306-6323CBA3B5E2}" type="pres">
      <dgm:prSet presAssocID="{F005A7D0-0969-4111-A3F8-8DDA2F0A235D}" presName="spaceRect" presStyleCnt="0"/>
      <dgm:spPr/>
    </dgm:pt>
    <dgm:pt modelId="{8BC0E88F-8E04-4DB6-9B39-A77B6D4C8FD7}" type="pres">
      <dgm:prSet presAssocID="{F005A7D0-0969-4111-A3F8-8DDA2F0A235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DE93548-713B-4070-86A3-B8F7F9DEAE42}" type="presOf" srcId="{14DA9623-DBB1-452A-95A1-79504CA7A85F}" destId="{9962D4E2-85F4-4113-A110-AACE9C58FC8E}" srcOrd="0" destOrd="0" presId="urn:microsoft.com/office/officeart/2018/2/layout/IconLabelList"/>
    <dgm:cxn modelId="{A3BE4375-89D5-431B-845A-4E952EF8B3FE}" srcId="{7AB2485F-298E-482E-817A-8314573E38C8}" destId="{F005A7D0-0969-4111-A3F8-8DDA2F0A235D}" srcOrd="2" destOrd="0" parTransId="{146F8E14-5F45-4165-AD42-E4634DC7EB7D}" sibTransId="{EC487748-1E59-4A9B-A986-CF385493A8C2}"/>
    <dgm:cxn modelId="{2B1A6794-B3D2-4655-96DF-7D3F03050222}" type="presOf" srcId="{F005A7D0-0969-4111-A3F8-8DDA2F0A235D}" destId="{8BC0E88F-8E04-4DB6-9B39-A77B6D4C8FD7}" srcOrd="0" destOrd="0" presId="urn:microsoft.com/office/officeart/2018/2/layout/IconLabelList"/>
    <dgm:cxn modelId="{D1E8B5C7-5884-40D1-9B1F-8F24BDC30345}" srcId="{7AB2485F-298E-482E-817A-8314573E38C8}" destId="{14DA9623-DBB1-452A-95A1-79504CA7A85F}" srcOrd="0" destOrd="0" parTransId="{DE2758E2-E9DF-43E9-9049-D68BFB01354F}" sibTransId="{15289692-5829-4A25-9B00-5DEBDB1E6F98}"/>
    <dgm:cxn modelId="{4A98DFD8-9A0A-4476-90CE-3E9AD73552B4}" type="presOf" srcId="{7AB2485F-298E-482E-817A-8314573E38C8}" destId="{73E944F3-6522-4E67-988F-050FBE9BCB3B}" srcOrd="0" destOrd="0" presId="urn:microsoft.com/office/officeart/2018/2/layout/IconLabelList"/>
    <dgm:cxn modelId="{9F68D1DF-95B1-4C75-AB73-08F404A77363}" type="presOf" srcId="{E2B8035A-98FD-4067-A201-399E754BC09D}" destId="{C0C6BA93-5CCE-4F66-BD66-149CFDA32C14}" srcOrd="0" destOrd="0" presId="urn:microsoft.com/office/officeart/2018/2/layout/IconLabelList"/>
    <dgm:cxn modelId="{0CD426EC-CAD6-4A98-9DD7-F4FC05A928C6}" srcId="{7AB2485F-298E-482E-817A-8314573E38C8}" destId="{E2B8035A-98FD-4067-A201-399E754BC09D}" srcOrd="1" destOrd="0" parTransId="{1CC0FF54-8664-409A-8AE4-FEB52468D2A1}" sibTransId="{3BD0AB19-E355-41E2-9600-95DF16ED1327}"/>
    <dgm:cxn modelId="{50F6AC16-F017-4071-9DB7-50230DFDA2F4}" type="presParOf" srcId="{73E944F3-6522-4E67-988F-050FBE9BCB3B}" destId="{F70EEB94-4C4F-4CAC-ADE4-445D339AD829}" srcOrd="0" destOrd="0" presId="urn:microsoft.com/office/officeart/2018/2/layout/IconLabelList"/>
    <dgm:cxn modelId="{3AB2E155-BA52-43D0-A9D1-95A710E6E7B6}" type="presParOf" srcId="{F70EEB94-4C4F-4CAC-ADE4-445D339AD829}" destId="{7C04805F-8CFD-4E0B-B06D-74E9F669C442}" srcOrd="0" destOrd="0" presId="urn:microsoft.com/office/officeart/2018/2/layout/IconLabelList"/>
    <dgm:cxn modelId="{A2B7DB12-694C-4316-8ACE-6AA281D0E460}" type="presParOf" srcId="{F70EEB94-4C4F-4CAC-ADE4-445D339AD829}" destId="{7469782A-45B7-4569-807C-5DEFC4FDEF29}" srcOrd="1" destOrd="0" presId="urn:microsoft.com/office/officeart/2018/2/layout/IconLabelList"/>
    <dgm:cxn modelId="{905C7F23-5D4C-4840-918B-5CB2845D7AB3}" type="presParOf" srcId="{F70EEB94-4C4F-4CAC-ADE4-445D339AD829}" destId="{9962D4E2-85F4-4113-A110-AACE9C58FC8E}" srcOrd="2" destOrd="0" presId="urn:microsoft.com/office/officeart/2018/2/layout/IconLabelList"/>
    <dgm:cxn modelId="{A80E8E51-3BD9-47D8-A15B-90C375AA2814}" type="presParOf" srcId="{73E944F3-6522-4E67-988F-050FBE9BCB3B}" destId="{C7BCB8D3-D1AB-44D5-804E-16FAB32C5EF4}" srcOrd="1" destOrd="0" presId="urn:microsoft.com/office/officeart/2018/2/layout/IconLabelList"/>
    <dgm:cxn modelId="{1D8013E2-E735-428C-8DA6-9C4AAC3DE2A5}" type="presParOf" srcId="{73E944F3-6522-4E67-988F-050FBE9BCB3B}" destId="{3A389220-39AC-488F-B7A5-247F5139C33D}" srcOrd="2" destOrd="0" presId="urn:microsoft.com/office/officeart/2018/2/layout/IconLabelList"/>
    <dgm:cxn modelId="{7847070B-CAD0-45DC-BC7D-C08E7EA139E9}" type="presParOf" srcId="{3A389220-39AC-488F-B7A5-247F5139C33D}" destId="{5F45EA87-1FF6-4526-89B9-DFCEF0EAB727}" srcOrd="0" destOrd="0" presId="urn:microsoft.com/office/officeart/2018/2/layout/IconLabelList"/>
    <dgm:cxn modelId="{B6529DD0-8BE1-46C4-90AF-0980BE8B45F3}" type="presParOf" srcId="{3A389220-39AC-488F-B7A5-247F5139C33D}" destId="{66C48BF7-2AC7-481B-998C-ED2FA54C937E}" srcOrd="1" destOrd="0" presId="urn:microsoft.com/office/officeart/2018/2/layout/IconLabelList"/>
    <dgm:cxn modelId="{3494D9D3-0048-473F-9BC3-17D95A31D610}" type="presParOf" srcId="{3A389220-39AC-488F-B7A5-247F5139C33D}" destId="{C0C6BA93-5CCE-4F66-BD66-149CFDA32C14}" srcOrd="2" destOrd="0" presId="urn:microsoft.com/office/officeart/2018/2/layout/IconLabelList"/>
    <dgm:cxn modelId="{888836C4-71B5-4A84-BBE2-1050F65C007C}" type="presParOf" srcId="{73E944F3-6522-4E67-988F-050FBE9BCB3B}" destId="{95EF1481-74F2-43F5-8B34-C61C808AD856}" srcOrd="3" destOrd="0" presId="urn:microsoft.com/office/officeart/2018/2/layout/IconLabelList"/>
    <dgm:cxn modelId="{767DCAAA-2743-4563-A752-0197F7CC71B6}" type="presParOf" srcId="{73E944F3-6522-4E67-988F-050FBE9BCB3B}" destId="{40454BBF-9E00-4438-80CF-14897474A160}" srcOrd="4" destOrd="0" presId="urn:microsoft.com/office/officeart/2018/2/layout/IconLabelList"/>
    <dgm:cxn modelId="{85CF73C6-9358-4CE5-BB70-FD5BE6A4624A}" type="presParOf" srcId="{40454BBF-9E00-4438-80CF-14897474A160}" destId="{080C9B31-42BA-406C-9B41-71AEFA3BC350}" srcOrd="0" destOrd="0" presId="urn:microsoft.com/office/officeart/2018/2/layout/IconLabelList"/>
    <dgm:cxn modelId="{D5BF63A7-06C5-433E-99DB-6510039E38A3}" type="presParOf" srcId="{40454BBF-9E00-4438-80CF-14897474A160}" destId="{9D6CC9CA-C71B-416F-B306-6323CBA3B5E2}" srcOrd="1" destOrd="0" presId="urn:microsoft.com/office/officeart/2018/2/layout/IconLabelList"/>
    <dgm:cxn modelId="{658F4BD2-8C79-4586-B80D-C86038F73B24}" type="presParOf" srcId="{40454BBF-9E00-4438-80CF-14897474A160}" destId="{8BC0E88F-8E04-4DB6-9B39-A77B6D4C8FD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CCB589F-B93F-41BD-A4A1-EA7394F18C23}" type="doc">
      <dgm:prSet loTypeId="urn:microsoft.com/office/officeart/2005/8/layout/vProcess5" loCatId="process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AF4D16A-19AB-41EF-852C-9CAD4CC1B211}">
      <dgm:prSet/>
      <dgm:spPr/>
      <dgm:t>
        <a:bodyPr/>
        <a:lstStyle/>
        <a:p>
          <a:r>
            <a:rPr lang="en-US"/>
            <a:t>Used the </a:t>
          </a:r>
          <a:r>
            <a:rPr lang="en-US" b="1"/>
            <a:t>mapping document</a:t>
          </a:r>
          <a:r>
            <a:rPr lang="en-US"/>
            <a:t> to decide which </a:t>
          </a:r>
          <a:r>
            <a:rPr lang="en-US" b="1"/>
            <a:t>signals and features</a:t>
          </a:r>
          <a:r>
            <a:rPr lang="en-US"/>
            <a:t> to build from KYC and transaction data (e.g. structuring, channel, geographic, behavioral, profile).</a:t>
          </a:r>
        </a:p>
      </dgm:t>
    </dgm:pt>
    <dgm:pt modelId="{AF881E39-72EC-4EB7-9E34-20EDCB10A706}" type="parTrans" cxnId="{E0FE9F59-0B5E-4D75-B063-9538018CDCB9}">
      <dgm:prSet/>
      <dgm:spPr/>
      <dgm:t>
        <a:bodyPr/>
        <a:lstStyle/>
        <a:p>
          <a:endParaRPr lang="en-US"/>
        </a:p>
      </dgm:t>
    </dgm:pt>
    <dgm:pt modelId="{545236E7-9742-4A2A-ADEF-4FF83B271BBA}" type="sibTrans" cxnId="{E0FE9F59-0B5E-4D75-B063-9538018CDCB9}">
      <dgm:prSet/>
      <dgm:spPr/>
      <dgm:t>
        <a:bodyPr/>
        <a:lstStyle/>
        <a:p>
          <a:endParaRPr lang="en-US"/>
        </a:p>
      </dgm:t>
    </dgm:pt>
    <dgm:pt modelId="{C2296322-F278-46FC-85B6-12BC5A66399C}">
      <dgm:prSet/>
      <dgm:spPr/>
      <dgm:t>
        <a:bodyPr/>
        <a:lstStyle/>
        <a:p>
          <a:r>
            <a:rPr lang="en-US"/>
            <a:t>Aligned </a:t>
          </a:r>
          <a:r>
            <a:rPr lang="en-US" b="1"/>
            <a:t>feature categories</a:t>
          </a:r>
          <a:r>
            <a:rPr lang="en-US"/>
            <a:t> in the pipeline (rule-based scorer and explanations) with </a:t>
          </a:r>
          <a:r>
            <a:rPr lang="en-US" b="1"/>
            <a:t>library typologies and red-flag categories</a:t>
          </a:r>
          <a:r>
            <a:rPr lang="en-US"/>
            <a:t> so detection and explanations stay consistent with Task 1.</a:t>
          </a:r>
        </a:p>
      </dgm:t>
    </dgm:pt>
    <dgm:pt modelId="{3CBFE985-496B-4086-9A86-F3D6FAA5B84F}" type="parTrans" cxnId="{295189A2-F9B7-4998-A3FC-D3FAE15D7887}">
      <dgm:prSet/>
      <dgm:spPr/>
      <dgm:t>
        <a:bodyPr/>
        <a:lstStyle/>
        <a:p>
          <a:endParaRPr lang="en-US"/>
        </a:p>
      </dgm:t>
    </dgm:pt>
    <dgm:pt modelId="{11018739-6602-4BC9-A9B9-3E5E3DE6566B}" type="sibTrans" cxnId="{295189A2-F9B7-4998-A3FC-D3FAE15D7887}">
      <dgm:prSet/>
      <dgm:spPr/>
      <dgm:t>
        <a:bodyPr/>
        <a:lstStyle/>
        <a:p>
          <a:endParaRPr lang="en-US"/>
        </a:p>
      </dgm:t>
    </dgm:pt>
    <dgm:pt modelId="{BCF390AA-6393-47B0-B35A-F0999279B96D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1" i="0"/>
            <a:t>Metadata</a:t>
          </a:r>
          <a:r>
            <a:rPr lang="en-US" b="0" i="0"/>
            <a:t> ties each feature to a </a:t>
          </a:r>
          <a:r>
            <a:rPr lang="en-US" b="1" i="0"/>
            <a:t>typology doc</a:t>
          </a:r>
          <a:r>
            <a:rPr lang="en-US" b="0" i="0"/>
            <a:t> for traceability; </a:t>
          </a:r>
          <a:r>
            <a:rPr lang="en-US" b="1" i="0"/>
            <a:t>rule thresholds</a:t>
          </a:r>
          <a:r>
            <a:rPr lang="en-US" b="0" i="0"/>
            <a:t> were chosen to reflect those risk patterns (e.g. round amounts, wire volume, flow-through).</a:t>
          </a:r>
          <a:endParaRPr lang="en-US"/>
        </a:p>
      </dgm:t>
    </dgm:pt>
    <dgm:pt modelId="{AE2BCDEF-E07A-4D6F-8ABB-F5A7A2355D66}" type="parTrans" cxnId="{44450C92-A553-484C-B947-920F0A9A18D0}">
      <dgm:prSet/>
      <dgm:spPr/>
      <dgm:t>
        <a:bodyPr/>
        <a:lstStyle/>
        <a:p>
          <a:endParaRPr lang="en-US"/>
        </a:p>
      </dgm:t>
    </dgm:pt>
    <dgm:pt modelId="{CF875E71-73C0-4D59-A0FA-EE1D23F73311}" type="sibTrans" cxnId="{44450C92-A553-484C-B947-920F0A9A18D0}">
      <dgm:prSet/>
      <dgm:spPr/>
      <dgm:t>
        <a:bodyPr/>
        <a:lstStyle/>
        <a:p>
          <a:endParaRPr lang="en-US"/>
        </a:p>
      </dgm:t>
    </dgm:pt>
    <dgm:pt modelId="{4CE0FCCC-1E0D-4381-A8FB-AF05604420B5}" type="pres">
      <dgm:prSet presAssocID="{CCCB589F-B93F-41BD-A4A1-EA7394F18C23}" presName="outerComposite" presStyleCnt="0">
        <dgm:presLayoutVars>
          <dgm:chMax val="5"/>
          <dgm:dir/>
          <dgm:resizeHandles val="exact"/>
        </dgm:presLayoutVars>
      </dgm:prSet>
      <dgm:spPr/>
    </dgm:pt>
    <dgm:pt modelId="{A9B2AD45-CDB4-4FB8-B566-A54CB87E48E0}" type="pres">
      <dgm:prSet presAssocID="{CCCB589F-B93F-41BD-A4A1-EA7394F18C23}" presName="dummyMaxCanvas" presStyleCnt="0">
        <dgm:presLayoutVars/>
      </dgm:prSet>
      <dgm:spPr/>
    </dgm:pt>
    <dgm:pt modelId="{114BA0B4-7AAC-41A9-B469-D6801460EEFE}" type="pres">
      <dgm:prSet presAssocID="{CCCB589F-B93F-41BD-A4A1-EA7394F18C23}" presName="ThreeNodes_1" presStyleLbl="node1" presStyleIdx="0" presStyleCnt="3">
        <dgm:presLayoutVars>
          <dgm:bulletEnabled val="1"/>
        </dgm:presLayoutVars>
      </dgm:prSet>
      <dgm:spPr/>
    </dgm:pt>
    <dgm:pt modelId="{A9A17099-769A-4004-AE6C-DDC0B703EAF5}" type="pres">
      <dgm:prSet presAssocID="{CCCB589F-B93F-41BD-A4A1-EA7394F18C23}" presName="ThreeNodes_2" presStyleLbl="node1" presStyleIdx="1" presStyleCnt="3">
        <dgm:presLayoutVars>
          <dgm:bulletEnabled val="1"/>
        </dgm:presLayoutVars>
      </dgm:prSet>
      <dgm:spPr/>
    </dgm:pt>
    <dgm:pt modelId="{74F3EBA5-3F1F-479F-8D81-390153EFC300}" type="pres">
      <dgm:prSet presAssocID="{CCCB589F-B93F-41BD-A4A1-EA7394F18C23}" presName="ThreeNodes_3" presStyleLbl="node1" presStyleIdx="2" presStyleCnt="3">
        <dgm:presLayoutVars>
          <dgm:bulletEnabled val="1"/>
        </dgm:presLayoutVars>
      </dgm:prSet>
      <dgm:spPr/>
    </dgm:pt>
    <dgm:pt modelId="{42D9B544-91F6-4CD6-B148-D77E373CE485}" type="pres">
      <dgm:prSet presAssocID="{CCCB589F-B93F-41BD-A4A1-EA7394F18C23}" presName="ThreeConn_1-2" presStyleLbl="fgAccFollowNode1" presStyleIdx="0" presStyleCnt="2">
        <dgm:presLayoutVars>
          <dgm:bulletEnabled val="1"/>
        </dgm:presLayoutVars>
      </dgm:prSet>
      <dgm:spPr/>
    </dgm:pt>
    <dgm:pt modelId="{C78DEF5B-54C8-480A-B2E9-2C9999D634E6}" type="pres">
      <dgm:prSet presAssocID="{CCCB589F-B93F-41BD-A4A1-EA7394F18C23}" presName="ThreeConn_2-3" presStyleLbl="fgAccFollowNode1" presStyleIdx="1" presStyleCnt="2">
        <dgm:presLayoutVars>
          <dgm:bulletEnabled val="1"/>
        </dgm:presLayoutVars>
      </dgm:prSet>
      <dgm:spPr/>
    </dgm:pt>
    <dgm:pt modelId="{F0429035-E80C-4CB3-A1AA-9B3036B1AF67}" type="pres">
      <dgm:prSet presAssocID="{CCCB589F-B93F-41BD-A4A1-EA7394F18C23}" presName="ThreeNodes_1_text" presStyleLbl="node1" presStyleIdx="2" presStyleCnt="3">
        <dgm:presLayoutVars>
          <dgm:bulletEnabled val="1"/>
        </dgm:presLayoutVars>
      </dgm:prSet>
      <dgm:spPr/>
    </dgm:pt>
    <dgm:pt modelId="{0B636167-54C9-4180-9673-234331C9883E}" type="pres">
      <dgm:prSet presAssocID="{CCCB589F-B93F-41BD-A4A1-EA7394F18C23}" presName="ThreeNodes_2_text" presStyleLbl="node1" presStyleIdx="2" presStyleCnt="3">
        <dgm:presLayoutVars>
          <dgm:bulletEnabled val="1"/>
        </dgm:presLayoutVars>
      </dgm:prSet>
      <dgm:spPr/>
    </dgm:pt>
    <dgm:pt modelId="{47542BD4-DDFF-4C3C-B5F2-9C8E5647714B}" type="pres">
      <dgm:prSet presAssocID="{CCCB589F-B93F-41BD-A4A1-EA7394F18C23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B02A7A0B-846C-4858-9D68-CF6AEE685773}" type="presOf" srcId="{BCF390AA-6393-47B0-B35A-F0999279B96D}" destId="{74F3EBA5-3F1F-479F-8D81-390153EFC300}" srcOrd="0" destOrd="0" presId="urn:microsoft.com/office/officeart/2005/8/layout/vProcess5"/>
    <dgm:cxn modelId="{5EC1AA18-6AC4-4DEF-B9F4-3FDF13D70063}" type="presOf" srcId="{11018739-6602-4BC9-A9B9-3E5E3DE6566B}" destId="{C78DEF5B-54C8-480A-B2E9-2C9999D634E6}" srcOrd="0" destOrd="0" presId="urn:microsoft.com/office/officeart/2005/8/layout/vProcess5"/>
    <dgm:cxn modelId="{2D7FC245-1B55-413E-8377-BD368C269822}" type="presOf" srcId="{545236E7-9742-4A2A-ADEF-4FF83B271BBA}" destId="{42D9B544-91F6-4CD6-B148-D77E373CE485}" srcOrd="0" destOrd="0" presId="urn:microsoft.com/office/officeart/2005/8/layout/vProcess5"/>
    <dgm:cxn modelId="{B4849647-7FEA-4F14-8556-35FA0B80259C}" type="presOf" srcId="{CCCB589F-B93F-41BD-A4A1-EA7394F18C23}" destId="{4CE0FCCC-1E0D-4381-A8FB-AF05604420B5}" srcOrd="0" destOrd="0" presId="urn:microsoft.com/office/officeart/2005/8/layout/vProcess5"/>
    <dgm:cxn modelId="{62A48F6F-CBB3-4FA0-AA9A-C0A908F3C096}" type="presOf" srcId="{2AF4D16A-19AB-41EF-852C-9CAD4CC1B211}" destId="{F0429035-E80C-4CB3-A1AA-9B3036B1AF67}" srcOrd="1" destOrd="0" presId="urn:microsoft.com/office/officeart/2005/8/layout/vProcess5"/>
    <dgm:cxn modelId="{E0FE9F59-0B5E-4D75-B063-9538018CDCB9}" srcId="{CCCB589F-B93F-41BD-A4A1-EA7394F18C23}" destId="{2AF4D16A-19AB-41EF-852C-9CAD4CC1B211}" srcOrd="0" destOrd="0" parTransId="{AF881E39-72EC-4EB7-9E34-20EDCB10A706}" sibTransId="{545236E7-9742-4A2A-ADEF-4FF83B271BBA}"/>
    <dgm:cxn modelId="{44450C92-A553-484C-B947-920F0A9A18D0}" srcId="{CCCB589F-B93F-41BD-A4A1-EA7394F18C23}" destId="{BCF390AA-6393-47B0-B35A-F0999279B96D}" srcOrd="2" destOrd="0" parTransId="{AE2BCDEF-E07A-4D6F-8ABB-F5A7A2355D66}" sibTransId="{CF875E71-73C0-4D59-A0FA-EE1D23F73311}"/>
    <dgm:cxn modelId="{295189A2-F9B7-4998-A3FC-D3FAE15D7887}" srcId="{CCCB589F-B93F-41BD-A4A1-EA7394F18C23}" destId="{C2296322-F278-46FC-85B6-12BC5A66399C}" srcOrd="1" destOrd="0" parTransId="{3CBFE985-496B-4086-9A86-F3D6FAA5B84F}" sibTransId="{11018739-6602-4BC9-A9B9-3E5E3DE6566B}"/>
    <dgm:cxn modelId="{52EDE0A8-A28A-453A-8F61-E613C70A1B9F}" type="presOf" srcId="{BCF390AA-6393-47B0-B35A-F0999279B96D}" destId="{47542BD4-DDFF-4C3C-B5F2-9C8E5647714B}" srcOrd="1" destOrd="0" presId="urn:microsoft.com/office/officeart/2005/8/layout/vProcess5"/>
    <dgm:cxn modelId="{1B8D70CB-BBAD-45A7-B29A-BE883BB86255}" type="presOf" srcId="{C2296322-F278-46FC-85B6-12BC5A66399C}" destId="{A9A17099-769A-4004-AE6C-DDC0B703EAF5}" srcOrd="0" destOrd="0" presId="urn:microsoft.com/office/officeart/2005/8/layout/vProcess5"/>
    <dgm:cxn modelId="{1D3BDECB-E12E-4184-9C7F-C26EF09C51D7}" type="presOf" srcId="{2AF4D16A-19AB-41EF-852C-9CAD4CC1B211}" destId="{114BA0B4-7AAC-41A9-B469-D6801460EEFE}" srcOrd="0" destOrd="0" presId="urn:microsoft.com/office/officeart/2005/8/layout/vProcess5"/>
    <dgm:cxn modelId="{43A705D1-B401-42D8-932B-D0B1C947C61D}" type="presOf" srcId="{C2296322-F278-46FC-85B6-12BC5A66399C}" destId="{0B636167-54C9-4180-9673-234331C9883E}" srcOrd="1" destOrd="0" presId="urn:microsoft.com/office/officeart/2005/8/layout/vProcess5"/>
    <dgm:cxn modelId="{04B98609-E52B-4778-A19B-7574AA7C73F7}" type="presParOf" srcId="{4CE0FCCC-1E0D-4381-A8FB-AF05604420B5}" destId="{A9B2AD45-CDB4-4FB8-B566-A54CB87E48E0}" srcOrd="0" destOrd="0" presId="urn:microsoft.com/office/officeart/2005/8/layout/vProcess5"/>
    <dgm:cxn modelId="{44ECECEE-D354-43F0-AF8E-8F95BE692DF4}" type="presParOf" srcId="{4CE0FCCC-1E0D-4381-A8FB-AF05604420B5}" destId="{114BA0B4-7AAC-41A9-B469-D6801460EEFE}" srcOrd="1" destOrd="0" presId="urn:microsoft.com/office/officeart/2005/8/layout/vProcess5"/>
    <dgm:cxn modelId="{EBDDF00A-99B2-48D8-9D72-985E01DD426C}" type="presParOf" srcId="{4CE0FCCC-1E0D-4381-A8FB-AF05604420B5}" destId="{A9A17099-769A-4004-AE6C-DDC0B703EAF5}" srcOrd="2" destOrd="0" presId="urn:microsoft.com/office/officeart/2005/8/layout/vProcess5"/>
    <dgm:cxn modelId="{FB4298B4-FEAD-42B4-B993-57C595C951AD}" type="presParOf" srcId="{4CE0FCCC-1E0D-4381-A8FB-AF05604420B5}" destId="{74F3EBA5-3F1F-479F-8D81-390153EFC300}" srcOrd="3" destOrd="0" presId="urn:microsoft.com/office/officeart/2005/8/layout/vProcess5"/>
    <dgm:cxn modelId="{EE97E385-801F-4667-B180-B56D5440B785}" type="presParOf" srcId="{4CE0FCCC-1E0D-4381-A8FB-AF05604420B5}" destId="{42D9B544-91F6-4CD6-B148-D77E373CE485}" srcOrd="4" destOrd="0" presId="urn:microsoft.com/office/officeart/2005/8/layout/vProcess5"/>
    <dgm:cxn modelId="{8F20D8C6-18B5-4E48-A5A9-7254454A53EC}" type="presParOf" srcId="{4CE0FCCC-1E0D-4381-A8FB-AF05604420B5}" destId="{C78DEF5B-54C8-480A-B2E9-2C9999D634E6}" srcOrd="5" destOrd="0" presId="urn:microsoft.com/office/officeart/2005/8/layout/vProcess5"/>
    <dgm:cxn modelId="{0A716368-B821-4BB0-AE5A-DD541E0455B3}" type="presParOf" srcId="{4CE0FCCC-1E0D-4381-A8FB-AF05604420B5}" destId="{F0429035-E80C-4CB3-A1AA-9B3036B1AF67}" srcOrd="6" destOrd="0" presId="urn:microsoft.com/office/officeart/2005/8/layout/vProcess5"/>
    <dgm:cxn modelId="{134A63A9-9E72-47FB-AB1E-32E1C953288B}" type="presParOf" srcId="{4CE0FCCC-1E0D-4381-A8FB-AF05604420B5}" destId="{0B636167-54C9-4180-9673-234331C9883E}" srcOrd="7" destOrd="0" presId="urn:microsoft.com/office/officeart/2005/8/layout/vProcess5"/>
    <dgm:cxn modelId="{A96CF697-81DC-4B31-872C-9E7199FDF0F5}" type="presParOf" srcId="{4CE0FCCC-1E0D-4381-A8FB-AF05604420B5}" destId="{47542BD4-DDFF-4C3C-B5F2-9C8E5647714B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4E0F33B-2CA5-47BF-A089-B89BF382B25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73C59728-A277-4949-8DD6-4ADCB9A8D11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/>
            <a:t>Quick scan:</a:t>
          </a:r>
        </a:p>
        <a:p>
          <a:pPr>
            <a:lnSpc>
              <a:spcPct val="100000"/>
            </a:lnSpc>
          </a:pPr>
          <a:r>
            <a:rPr lang="en-US" sz="1400"/>
            <a:t>00_COMPREHENSIVE_RED_FLAGS_MASTER.md for all red flags in one place.</a:t>
          </a:r>
        </a:p>
      </dgm:t>
    </dgm:pt>
    <dgm:pt modelId="{C92FCB55-E94D-4508-B744-157EC17945E3}" type="parTrans" cxnId="{3F6AA3BD-46E8-449E-A3B8-68A99FAE377C}">
      <dgm:prSet/>
      <dgm:spPr/>
      <dgm:t>
        <a:bodyPr/>
        <a:lstStyle/>
        <a:p>
          <a:endParaRPr lang="en-US" sz="4400"/>
        </a:p>
      </dgm:t>
    </dgm:pt>
    <dgm:pt modelId="{9E35AD4B-70E9-4CEA-A3A6-8274EA114E30}" type="sibTrans" cxnId="{3F6AA3BD-46E8-449E-A3B8-68A99FAE377C}">
      <dgm:prSet/>
      <dgm:spPr/>
      <dgm:t>
        <a:bodyPr/>
        <a:lstStyle/>
        <a:p>
          <a:endParaRPr lang="en-US" sz="2400"/>
        </a:p>
      </dgm:t>
    </dgm:pt>
    <dgm:pt modelId="{49A34807-3212-4B9B-B83B-916E372B3DF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/>
            <a:t>Deep dive:</a:t>
          </a:r>
        </a:p>
        <a:p>
          <a:pPr>
            <a:lnSpc>
              <a:spcPct val="100000"/>
            </a:lnSpc>
          </a:pPr>
          <a:r>
            <a:rPr lang="en-US" sz="1400"/>
            <a:t>Documents 01–08 for typology-specific context and risk guidance.</a:t>
          </a:r>
        </a:p>
      </dgm:t>
    </dgm:pt>
    <dgm:pt modelId="{B92FD87E-9351-48FF-A2AE-D314AA349D36}" type="parTrans" cxnId="{416444EF-97E4-4BFC-BC07-2F639183D258}">
      <dgm:prSet/>
      <dgm:spPr/>
      <dgm:t>
        <a:bodyPr/>
        <a:lstStyle/>
        <a:p>
          <a:endParaRPr lang="en-US" sz="4400"/>
        </a:p>
      </dgm:t>
    </dgm:pt>
    <dgm:pt modelId="{7CB38A6B-69F0-493F-BB32-1BF2B1C8F37F}" type="sibTrans" cxnId="{416444EF-97E4-4BFC-BC07-2F639183D258}">
      <dgm:prSet/>
      <dgm:spPr/>
      <dgm:t>
        <a:bodyPr/>
        <a:lstStyle/>
        <a:p>
          <a:endParaRPr lang="en-US" sz="2400"/>
        </a:p>
      </dgm:t>
    </dgm:pt>
    <dgm:pt modelId="{FBA58119-E4B1-43EA-9814-AB875B89187E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/>
            <a:t>Traceability:</a:t>
          </a:r>
        </a:p>
        <a:p>
          <a:pPr>
            <a:lnSpc>
              <a:spcPct val="100000"/>
            </a:lnSpc>
          </a:pPr>
          <a:r>
            <a:rPr lang="en-US" sz="1400"/>
            <a:t>SOURCES.md for full citations; inline references in each document.</a:t>
          </a:r>
        </a:p>
      </dgm:t>
    </dgm:pt>
    <dgm:pt modelId="{B4C174C4-A76C-4C68-BB1B-09A144A55818}" type="parTrans" cxnId="{C8C8EABF-8A35-4920-ABE0-A54E388A95D3}">
      <dgm:prSet/>
      <dgm:spPr/>
      <dgm:t>
        <a:bodyPr/>
        <a:lstStyle/>
        <a:p>
          <a:endParaRPr lang="en-US" sz="4400"/>
        </a:p>
      </dgm:t>
    </dgm:pt>
    <dgm:pt modelId="{5C2D7AAB-6FC1-46C9-A4CA-398FC6D94037}" type="sibTrans" cxnId="{C8C8EABF-8A35-4920-ABE0-A54E388A95D3}">
      <dgm:prSet/>
      <dgm:spPr/>
      <dgm:t>
        <a:bodyPr/>
        <a:lstStyle/>
        <a:p>
          <a:endParaRPr lang="en-US" sz="2400"/>
        </a:p>
      </dgm:t>
    </dgm:pt>
    <dgm:pt modelId="{5FA1B813-25EA-4F2A-AC74-54CB098C54B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400" b="1"/>
            <a:t>Link to data:</a:t>
          </a:r>
        </a:p>
        <a:p>
          <a:pPr>
            <a:lnSpc>
              <a:spcPct val="100000"/>
            </a:lnSpc>
          </a:pPr>
          <a:r>
            <a:rPr lang="en-US" sz="1400"/>
            <a:t>Red_Flag_to_Feature_Mapping.md maps red flags → data signals → features.</a:t>
          </a:r>
        </a:p>
      </dgm:t>
    </dgm:pt>
    <dgm:pt modelId="{A9BF7115-CD92-4EB1-BC3D-DA19727E9191}" type="parTrans" cxnId="{403A5E31-A651-4ED8-A2A5-2FFE72937BCA}">
      <dgm:prSet/>
      <dgm:spPr/>
      <dgm:t>
        <a:bodyPr/>
        <a:lstStyle/>
        <a:p>
          <a:endParaRPr lang="en-US" sz="4400"/>
        </a:p>
      </dgm:t>
    </dgm:pt>
    <dgm:pt modelId="{17949A48-DE51-4EF6-B3EA-39F64465DB14}" type="sibTrans" cxnId="{403A5E31-A651-4ED8-A2A5-2FFE72937BCA}">
      <dgm:prSet/>
      <dgm:spPr/>
      <dgm:t>
        <a:bodyPr/>
        <a:lstStyle/>
        <a:p>
          <a:endParaRPr lang="en-US" sz="2400"/>
        </a:p>
      </dgm:t>
    </dgm:pt>
    <dgm:pt modelId="{842F650B-C3BF-4A49-8427-599C03A5AE2B}" type="pres">
      <dgm:prSet presAssocID="{14E0F33B-2CA5-47BF-A089-B89BF382B25B}" presName="root" presStyleCnt="0">
        <dgm:presLayoutVars>
          <dgm:dir/>
          <dgm:resizeHandles val="exact"/>
        </dgm:presLayoutVars>
      </dgm:prSet>
      <dgm:spPr/>
    </dgm:pt>
    <dgm:pt modelId="{B73A03A6-4FD5-41DD-8371-99EDA62ECFD8}" type="pres">
      <dgm:prSet presAssocID="{73C59728-A277-4949-8DD6-4ADCB9A8D11C}" presName="compNode" presStyleCnt="0"/>
      <dgm:spPr/>
    </dgm:pt>
    <dgm:pt modelId="{DA8CE0F2-2F63-4601-8C1D-BB920620AF75}" type="pres">
      <dgm:prSet presAssocID="{73C59728-A277-4949-8DD6-4ADCB9A8D11C}" presName="bgRect" presStyleLbl="bgShp" presStyleIdx="0" presStyleCnt="4"/>
      <dgm:spPr/>
    </dgm:pt>
    <dgm:pt modelId="{2B5FA3F0-3AD1-4479-B8AC-4D7125022E86}" type="pres">
      <dgm:prSet presAssocID="{73C59728-A277-4949-8DD6-4ADCB9A8D11C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anner"/>
        </a:ext>
      </dgm:extLst>
    </dgm:pt>
    <dgm:pt modelId="{8BBC626C-DEEA-4128-A5A9-EEC8B7CD7000}" type="pres">
      <dgm:prSet presAssocID="{73C59728-A277-4949-8DD6-4ADCB9A8D11C}" presName="spaceRect" presStyleCnt="0"/>
      <dgm:spPr/>
    </dgm:pt>
    <dgm:pt modelId="{06312878-895D-4DFF-A12D-DE6854382940}" type="pres">
      <dgm:prSet presAssocID="{73C59728-A277-4949-8DD6-4ADCB9A8D11C}" presName="parTx" presStyleLbl="revTx" presStyleIdx="0" presStyleCnt="4">
        <dgm:presLayoutVars>
          <dgm:chMax val="0"/>
          <dgm:chPref val="0"/>
        </dgm:presLayoutVars>
      </dgm:prSet>
      <dgm:spPr/>
    </dgm:pt>
    <dgm:pt modelId="{DE775835-4942-4460-AE5E-ABF51FBD2729}" type="pres">
      <dgm:prSet presAssocID="{9E35AD4B-70E9-4CEA-A3A6-8274EA114E30}" presName="sibTrans" presStyleCnt="0"/>
      <dgm:spPr/>
    </dgm:pt>
    <dgm:pt modelId="{56A84406-35DB-4E3F-99C8-3837FDE0F0D0}" type="pres">
      <dgm:prSet presAssocID="{49A34807-3212-4B9B-B83B-916E372B3DFE}" presName="compNode" presStyleCnt="0"/>
      <dgm:spPr/>
    </dgm:pt>
    <dgm:pt modelId="{79722314-6004-4C1A-9855-F1091322516E}" type="pres">
      <dgm:prSet presAssocID="{49A34807-3212-4B9B-B83B-916E372B3DFE}" presName="bgRect" presStyleLbl="bgShp" presStyleIdx="1" presStyleCnt="4"/>
      <dgm:spPr/>
    </dgm:pt>
    <dgm:pt modelId="{CDE97D1D-838E-4F5A-A1E9-7A2384E14322}" type="pres">
      <dgm:prSet presAssocID="{49A34807-3212-4B9B-B83B-916E372B3DF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ag"/>
        </a:ext>
      </dgm:extLst>
    </dgm:pt>
    <dgm:pt modelId="{00FC7B9C-824B-4D97-BA21-EED10400D86B}" type="pres">
      <dgm:prSet presAssocID="{49A34807-3212-4B9B-B83B-916E372B3DFE}" presName="spaceRect" presStyleCnt="0"/>
      <dgm:spPr/>
    </dgm:pt>
    <dgm:pt modelId="{297F5057-ADB8-4817-9D20-81B023759E5D}" type="pres">
      <dgm:prSet presAssocID="{49A34807-3212-4B9B-B83B-916E372B3DFE}" presName="parTx" presStyleLbl="revTx" presStyleIdx="1" presStyleCnt="4">
        <dgm:presLayoutVars>
          <dgm:chMax val="0"/>
          <dgm:chPref val="0"/>
        </dgm:presLayoutVars>
      </dgm:prSet>
      <dgm:spPr/>
    </dgm:pt>
    <dgm:pt modelId="{255C5B23-EB51-4A4C-AAB5-B25A54513534}" type="pres">
      <dgm:prSet presAssocID="{7CB38A6B-69F0-493F-BB32-1BF2B1C8F37F}" presName="sibTrans" presStyleCnt="0"/>
      <dgm:spPr/>
    </dgm:pt>
    <dgm:pt modelId="{E06DEE8C-FC65-4465-A992-26DAE38F24A1}" type="pres">
      <dgm:prSet presAssocID="{FBA58119-E4B1-43EA-9814-AB875B89187E}" presName="compNode" presStyleCnt="0"/>
      <dgm:spPr/>
    </dgm:pt>
    <dgm:pt modelId="{9FCF07D0-A795-4A79-AC5E-C3AA1D46959A}" type="pres">
      <dgm:prSet presAssocID="{FBA58119-E4B1-43EA-9814-AB875B89187E}" presName="bgRect" presStyleLbl="bgShp" presStyleIdx="2" presStyleCnt="4"/>
      <dgm:spPr/>
    </dgm:pt>
    <dgm:pt modelId="{2A6A1A72-A689-4D4C-9B8B-35EEF69C7761}" type="pres">
      <dgm:prSet presAssocID="{FBA58119-E4B1-43EA-9814-AB875B89187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ve"/>
        </a:ext>
      </dgm:extLst>
    </dgm:pt>
    <dgm:pt modelId="{82BFBF6D-A4AC-4919-A63F-52755BEF9FA1}" type="pres">
      <dgm:prSet presAssocID="{FBA58119-E4B1-43EA-9814-AB875B89187E}" presName="spaceRect" presStyleCnt="0"/>
      <dgm:spPr/>
    </dgm:pt>
    <dgm:pt modelId="{12CE061C-61EC-433D-8A9C-8197C2C925AE}" type="pres">
      <dgm:prSet presAssocID="{FBA58119-E4B1-43EA-9814-AB875B89187E}" presName="parTx" presStyleLbl="revTx" presStyleIdx="2" presStyleCnt="4">
        <dgm:presLayoutVars>
          <dgm:chMax val="0"/>
          <dgm:chPref val="0"/>
        </dgm:presLayoutVars>
      </dgm:prSet>
      <dgm:spPr/>
    </dgm:pt>
    <dgm:pt modelId="{62C58A7D-79F9-4E6F-838E-DC9AE98BDB8A}" type="pres">
      <dgm:prSet presAssocID="{5C2D7AAB-6FC1-46C9-A4CA-398FC6D94037}" presName="sibTrans" presStyleCnt="0"/>
      <dgm:spPr/>
    </dgm:pt>
    <dgm:pt modelId="{F717DA0E-AC52-4D10-AB1C-C300E86D2A40}" type="pres">
      <dgm:prSet presAssocID="{5FA1B813-25EA-4F2A-AC74-54CB098C54B3}" presName="compNode" presStyleCnt="0"/>
      <dgm:spPr/>
    </dgm:pt>
    <dgm:pt modelId="{6A52F529-7698-422C-A067-C2B2A9B20B5C}" type="pres">
      <dgm:prSet presAssocID="{5FA1B813-25EA-4F2A-AC74-54CB098C54B3}" presName="bgRect" presStyleLbl="bgShp" presStyleIdx="3" presStyleCnt="4"/>
      <dgm:spPr/>
    </dgm:pt>
    <dgm:pt modelId="{FBDC8869-5BAB-4DB1-B406-2ADBC4021AC4}" type="pres">
      <dgm:prSet presAssocID="{5FA1B813-25EA-4F2A-AC74-54CB098C54B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BF77F396-01CD-45F8-9E67-8EC58E4D2C64}" type="pres">
      <dgm:prSet presAssocID="{5FA1B813-25EA-4F2A-AC74-54CB098C54B3}" presName="spaceRect" presStyleCnt="0"/>
      <dgm:spPr/>
    </dgm:pt>
    <dgm:pt modelId="{1C2BF369-858C-429D-B9D6-7D54DD166176}" type="pres">
      <dgm:prSet presAssocID="{5FA1B813-25EA-4F2A-AC74-54CB098C54B3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A702EF26-3173-46B9-9AEA-CB5660F7756C}" type="presOf" srcId="{14E0F33B-2CA5-47BF-A089-B89BF382B25B}" destId="{842F650B-C3BF-4A49-8427-599C03A5AE2B}" srcOrd="0" destOrd="0" presId="urn:microsoft.com/office/officeart/2018/2/layout/IconVerticalSolidList"/>
    <dgm:cxn modelId="{18FED527-16E8-4A1C-87E6-C8D5E8521BCF}" type="presOf" srcId="{5FA1B813-25EA-4F2A-AC74-54CB098C54B3}" destId="{1C2BF369-858C-429D-B9D6-7D54DD166176}" srcOrd="0" destOrd="0" presId="urn:microsoft.com/office/officeart/2018/2/layout/IconVerticalSolidList"/>
    <dgm:cxn modelId="{403A5E31-A651-4ED8-A2A5-2FFE72937BCA}" srcId="{14E0F33B-2CA5-47BF-A089-B89BF382B25B}" destId="{5FA1B813-25EA-4F2A-AC74-54CB098C54B3}" srcOrd="3" destOrd="0" parTransId="{A9BF7115-CD92-4EB1-BC3D-DA19727E9191}" sibTransId="{17949A48-DE51-4EF6-B3EA-39F64465DB14}"/>
    <dgm:cxn modelId="{8D18DD5C-9B7B-4742-BC0B-CFF93D280FF2}" type="presOf" srcId="{73C59728-A277-4949-8DD6-4ADCB9A8D11C}" destId="{06312878-895D-4DFF-A12D-DE6854382940}" srcOrd="0" destOrd="0" presId="urn:microsoft.com/office/officeart/2018/2/layout/IconVerticalSolidList"/>
    <dgm:cxn modelId="{3F6AA3BD-46E8-449E-A3B8-68A99FAE377C}" srcId="{14E0F33B-2CA5-47BF-A089-B89BF382B25B}" destId="{73C59728-A277-4949-8DD6-4ADCB9A8D11C}" srcOrd="0" destOrd="0" parTransId="{C92FCB55-E94D-4508-B744-157EC17945E3}" sibTransId="{9E35AD4B-70E9-4CEA-A3A6-8274EA114E30}"/>
    <dgm:cxn modelId="{C8C8EABF-8A35-4920-ABE0-A54E388A95D3}" srcId="{14E0F33B-2CA5-47BF-A089-B89BF382B25B}" destId="{FBA58119-E4B1-43EA-9814-AB875B89187E}" srcOrd="2" destOrd="0" parTransId="{B4C174C4-A76C-4C68-BB1B-09A144A55818}" sibTransId="{5C2D7AAB-6FC1-46C9-A4CA-398FC6D94037}"/>
    <dgm:cxn modelId="{F74FD8DD-7206-4A9E-AF9D-60A017CBC012}" type="presOf" srcId="{FBA58119-E4B1-43EA-9814-AB875B89187E}" destId="{12CE061C-61EC-433D-8A9C-8197C2C925AE}" srcOrd="0" destOrd="0" presId="urn:microsoft.com/office/officeart/2018/2/layout/IconVerticalSolidList"/>
    <dgm:cxn modelId="{416444EF-97E4-4BFC-BC07-2F639183D258}" srcId="{14E0F33B-2CA5-47BF-A089-B89BF382B25B}" destId="{49A34807-3212-4B9B-B83B-916E372B3DFE}" srcOrd="1" destOrd="0" parTransId="{B92FD87E-9351-48FF-A2AE-D314AA349D36}" sibTransId="{7CB38A6B-69F0-493F-BB32-1BF2B1C8F37F}"/>
    <dgm:cxn modelId="{386239FE-8ADB-43C0-8773-DF67B9DD94AD}" type="presOf" srcId="{49A34807-3212-4B9B-B83B-916E372B3DFE}" destId="{297F5057-ADB8-4817-9D20-81B023759E5D}" srcOrd="0" destOrd="0" presId="urn:microsoft.com/office/officeart/2018/2/layout/IconVerticalSolidList"/>
    <dgm:cxn modelId="{69F96A81-D532-457E-AD6C-A03D0E007E7B}" type="presParOf" srcId="{842F650B-C3BF-4A49-8427-599C03A5AE2B}" destId="{B73A03A6-4FD5-41DD-8371-99EDA62ECFD8}" srcOrd="0" destOrd="0" presId="urn:microsoft.com/office/officeart/2018/2/layout/IconVerticalSolidList"/>
    <dgm:cxn modelId="{9E57FA65-3480-46BC-BE83-CEC532102D63}" type="presParOf" srcId="{B73A03A6-4FD5-41DD-8371-99EDA62ECFD8}" destId="{DA8CE0F2-2F63-4601-8C1D-BB920620AF75}" srcOrd="0" destOrd="0" presId="urn:microsoft.com/office/officeart/2018/2/layout/IconVerticalSolidList"/>
    <dgm:cxn modelId="{D9373409-FEA6-4C06-A8DF-9401A2780F5C}" type="presParOf" srcId="{B73A03A6-4FD5-41DD-8371-99EDA62ECFD8}" destId="{2B5FA3F0-3AD1-4479-B8AC-4D7125022E86}" srcOrd="1" destOrd="0" presId="urn:microsoft.com/office/officeart/2018/2/layout/IconVerticalSolidList"/>
    <dgm:cxn modelId="{2535BA69-697A-44CB-BE5B-C9433E9A378E}" type="presParOf" srcId="{B73A03A6-4FD5-41DD-8371-99EDA62ECFD8}" destId="{8BBC626C-DEEA-4128-A5A9-EEC8B7CD7000}" srcOrd="2" destOrd="0" presId="urn:microsoft.com/office/officeart/2018/2/layout/IconVerticalSolidList"/>
    <dgm:cxn modelId="{4906BBA7-24FE-45B7-8C5A-CFBBC1D6A949}" type="presParOf" srcId="{B73A03A6-4FD5-41DD-8371-99EDA62ECFD8}" destId="{06312878-895D-4DFF-A12D-DE6854382940}" srcOrd="3" destOrd="0" presId="urn:microsoft.com/office/officeart/2018/2/layout/IconVerticalSolidList"/>
    <dgm:cxn modelId="{54388E44-7E82-4D55-B293-7FD661DE2294}" type="presParOf" srcId="{842F650B-C3BF-4A49-8427-599C03A5AE2B}" destId="{DE775835-4942-4460-AE5E-ABF51FBD2729}" srcOrd="1" destOrd="0" presId="urn:microsoft.com/office/officeart/2018/2/layout/IconVerticalSolidList"/>
    <dgm:cxn modelId="{A283F016-25DB-4DAF-AF18-3365B3EC4DB3}" type="presParOf" srcId="{842F650B-C3BF-4A49-8427-599C03A5AE2B}" destId="{56A84406-35DB-4E3F-99C8-3837FDE0F0D0}" srcOrd="2" destOrd="0" presId="urn:microsoft.com/office/officeart/2018/2/layout/IconVerticalSolidList"/>
    <dgm:cxn modelId="{2D94C89D-B265-4656-A221-23870067EC84}" type="presParOf" srcId="{56A84406-35DB-4E3F-99C8-3837FDE0F0D0}" destId="{79722314-6004-4C1A-9855-F1091322516E}" srcOrd="0" destOrd="0" presId="urn:microsoft.com/office/officeart/2018/2/layout/IconVerticalSolidList"/>
    <dgm:cxn modelId="{2E37E130-271B-45D3-8293-7EE1266EC786}" type="presParOf" srcId="{56A84406-35DB-4E3F-99C8-3837FDE0F0D0}" destId="{CDE97D1D-838E-4F5A-A1E9-7A2384E14322}" srcOrd="1" destOrd="0" presId="urn:microsoft.com/office/officeart/2018/2/layout/IconVerticalSolidList"/>
    <dgm:cxn modelId="{BAA2C776-846A-4687-A4B5-8CE56519BBB8}" type="presParOf" srcId="{56A84406-35DB-4E3F-99C8-3837FDE0F0D0}" destId="{00FC7B9C-824B-4D97-BA21-EED10400D86B}" srcOrd="2" destOrd="0" presId="urn:microsoft.com/office/officeart/2018/2/layout/IconVerticalSolidList"/>
    <dgm:cxn modelId="{FC646379-D127-4332-9F6A-5AD5F9A88A80}" type="presParOf" srcId="{56A84406-35DB-4E3F-99C8-3837FDE0F0D0}" destId="{297F5057-ADB8-4817-9D20-81B023759E5D}" srcOrd="3" destOrd="0" presId="urn:microsoft.com/office/officeart/2018/2/layout/IconVerticalSolidList"/>
    <dgm:cxn modelId="{25F5578A-6300-4591-840E-3BEA0937A822}" type="presParOf" srcId="{842F650B-C3BF-4A49-8427-599C03A5AE2B}" destId="{255C5B23-EB51-4A4C-AAB5-B25A54513534}" srcOrd="3" destOrd="0" presId="urn:microsoft.com/office/officeart/2018/2/layout/IconVerticalSolidList"/>
    <dgm:cxn modelId="{B48CB505-0691-4E56-8C52-C1A3B7F82B03}" type="presParOf" srcId="{842F650B-C3BF-4A49-8427-599C03A5AE2B}" destId="{E06DEE8C-FC65-4465-A992-26DAE38F24A1}" srcOrd="4" destOrd="0" presId="urn:microsoft.com/office/officeart/2018/2/layout/IconVerticalSolidList"/>
    <dgm:cxn modelId="{EC880F08-990A-42B3-AABE-9A3D2C8CFE1B}" type="presParOf" srcId="{E06DEE8C-FC65-4465-A992-26DAE38F24A1}" destId="{9FCF07D0-A795-4A79-AC5E-C3AA1D46959A}" srcOrd="0" destOrd="0" presId="urn:microsoft.com/office/officeart/2018/2/layout/IconVerticalSolidList"/>
    <dgm:cxn modelId="{79F0A1D5-8B46-47A5-B4FE-943FFC86E066}" type="presParOf" srcId="{E06DEE8C-FC65-4465-A992-26DAE38F24A1}" destId="{2A6A1A72-A689-4D4C-9B8B-35EEF69C7761}" srcOrd="1" destOrd="0" presId="urn:microsoft.com/office/officeart/2018/2/layout/IconVerticalSolidList"/>
    <dgm:cxn modelId="{5887E5A0-C7FA-4E01-AE73-0A7BD1E06950}" type="presParOf" srcId="{E06DEE8C-FC65-4465-A992-26DAE38F24A1}" destId="{82BFBF6D-A4AC-4919-A63F-52755BEF9FA1}" srcOrd="2" destOrd="0" presId="urn:microsoft.com/office/officeart/2018/2/layout/IconVerticalSolidList"/>
    <dgm:cxn modelId="{C0E6906B-B94B-4982-B33E-2A6A39717917}" type="presParOf" srcId="{E06DEE8C-FC65-4465-A992-26DAE38F24A1}" destId="{12CE061C-61EC-433D-8A9C-8197C2C925AE}" srcOrd="3" destOrd="0" presId="urn:microsoft.com/office/officeart/2018/2/layout/IconVerticalSolidList"/>
    <dgm:cxn modelId="{853CCA39-785C-408F-9228-AABC434158EA}" type="presParOf" srcId="{842F650B-C3BF-4A49-8427-599C03A5AE2B}" destId="{62C58A7D-79F9-4E6F-838E-DC9AE98BDB8A}" srcOrd="5" destOrd="0" presId="urn:microsoft.com/office/officeart/2018/2/layout/IconVerticalSolidList"/>
    <dgm:cxn modelId="{AA332C12-DAA8-4498-8038-4D68FC93D8C1}" type="presParOf" srcId="{842F650B-C3BF-4A49-8427-599C03A5AE2B}" destId="{F717DA0E-AC52-4D10-AB1C-C300E86D2A40}" srcOrd="6" destOrd="0" presId="urn:microsoft.com/office/officeart/2018/2/layout/IconVerticalSolidList"/>
    <dgm:cxn modelId="{0395C5E7-8E57-4E87-B8B8-AA320E8EF230}" type="presParOf" srcId="{F717DA0E-AC52-4D10-AB1C-C300E86D2A40}" destId="{6A52F529-7698-422C-A067-C2B2A9B20B5C}" srcOrd="0" destOrd="0" presId="urn:microsoft.com/office/officeart/2018/2/layout/IconVerticalSolidList"/>
    <dgm:cxn modelId="{8B16A4AE-17E2-4E0A-A5B8-4AA3CB363FFB}" type="presParOf" srcId="{F717DA0E-AC52-4D10-AB1C-C300E86D2A40}" destId="{FBDC8869-5BAB-4DB1-B406-2ADBC4021AC4}" srcOrd="1" destOrd="0" presId="urn:microsoft.com/office/officeart/2018/2/layout/IconVerticalSolidList"/>
    <dgm:cxn modelId="{8D5CED50-E6C9-4DE4-A20E-F417CFFD56EC}" type="presParOf" srcId="{F717DA0E-AC52-4D10-AB1C-C300E86D2A40}" destId="{BF77F396-01CD-45F8-9E67-8EC58E4D2C64}" srcOrd="2" destOrd="0" presId="urn:microsoft.com/office/officeart/2018/2/layout/IconVerticalSolidList"/>
    <dgm:cxn modelId="{79CD9EE4-78A6-49B3-9A99-86B56A820BAF}" type="presParOf" srcId="{F717DA0E-AC52-4D10-AB1C-C300E86D2A40}" destId="{1C2BF369-858C-429D-B9D6-7D54DD16617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704752BE-D6D2-432F-B0A1-8B6A89F39787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2DE3D80-A425-4A34-8063-4EF22DE12C52}">
      <dgm:prSet/>
      <dgm:spPr/>
      <dgm:t>
        <a:bodyPr/>
        <a:lstStyle/>
        <a:p>
          <a:r>
            <a:rPr lang="zh-CN"/>
            <a:t>Silhouette score: Measures how well a point fits within its cluster vs. other clusters. </a:t>
          </a:r>
          <a:endParaRPr lang="en-US"/>
        </a:p>
      </dgm:t>
    </dgm:pt>
    <dgm:pt modelId="{84F08B56-C61A-4289-B284-0F06261B1B00}" type="parTrans" cxnId="{DE3CEC9E-2C0F-48BB-BFD9-BB88535BAD1E}">
      <dgm:prSet/>
      <dgm:spPr/>
      <dgm:t>
        <a:bodyPr/>
        <a:lstStyle/>
        <a:p>
          <a:endParaRPr lang="en-US"/>
        </a:p>
      </dgm:t>
    </dgm:pt>
    <dgm:pt modelId="{7164C001-F259-45BF-B360-84B5F4024C26}" type="sibTrans" cxnId="{DE3CEC9E-2C0F-48BB-BFD9-BB88535BAD1E}">
      <dgm:prSet/>
      <dgm:spPr/>
      <dgm:t>
        <a:bodyPr/>
        <a:lstStyle/>
        <a:p>
          <a:endParaRPr lang="en-US"/>
        </a:p>
      </dgm:t>
    </dgm:pt>
    <dgm:pt modelId="{566DE162-1E0F-4A51-B4B2-17C644408526}">
      <dgm:prSet/>
      <dgm:spPr/>
      <dgm:t>
        <a:bodyPr/>
        <a:lstStyle/>
        <a:p>
          <a:r>
            <a:rPr lang="zh-CN"/>
            <a:t>Range: -1 to 1; higher values indicate better separation.</a:t>
          </a:r>
          <a:endParaRPr lang="en-US"/>
        </a:p>
      </dgm:t>
    </dgm:pt>
    <dgm:pt modelId="{27FD3E42-31FF-44EB-B87E-CF56E9C8C067}" type="parTrans" cxnId="{149B01D4-F2BC-46E2-BC9C-A38672C4D648}">
      <dgm:prSet/>
      <dgm:spPr/>
      <dgm:t>
        <a:bodyPr/>
        <a:lstStyle/>
        <a:p>
          <a:endParaRPr lang="en-US"/>
        </a:p>
      </dgm:t>
    </dgm:pt>
    <dgm:pt modelId="{08491FD9-7075-40B6-B84B-38766C89A5B0}" type="sibTrans" cxnId="{149B01D4-F2BC-46E2-BC9C-A38672C4D648}">
      <dgm:prSet/>
      <dgm:spPr/>
      <dgm:t>
        <a:bodyPr/>
        <a:lstStyle/>
        <a:p>
          <a:endParaRPr lang="en-US"/>
        </a:p>
      </dgm:t>
    </dgm:pt>
    <dgm:pt modelId="{2EFDA460-99BA-4CFB-A970-65EEF107AF6B}">
      <dgm:prSet/>
      <dgm:spPr/>
      <dgm:t>
        <a:bodyPr/>
        <a:lstStyle/>
        <a:p>
          <a:r>
            <a:rPr lang="zh-CN"/>
            <a:t>Elbow inertia: Total within-cluster sum of squared distances (cluster compactness).</a:t>
          </a:r>
          <a:endParaRPr lang="en-US"/>
        </a:p>
      </dgm:t>
    </dgm:pt>
    <dgm:pt modelId="{ED7B1956-C83D-4DE5-A6F4-C2F7F9CD9338}" type="parTrans" cxnId="{055995D1-BC6E-4C47-8F9C-46BBAB992F6D}">
      <dgm:prSet/>
      <dgm:spPr/>
      <dgm:t>
        <a:bodyPr/>
        <a:lstStyle/>
        <a:p>
          <a:endParaRPr lang="en-US"/>
        </a:p>
      </dgm:t>
    </dgm:pt>
    <dgm:pt modelId="{4BECDADD-CA19-4348-993F-6B29C672CA70}" type="sibTrans" cxnId="{055995D1-BC6E-4C47-8F9C-46BBAB992F6D}">
      <dgm:prSet/>
      <dgm:spPr/>
      <dgm:t>
        <a:bodyPr/>
        <a:lstStyle/>
        <a:p>
          <a:endParaRPr lang="en-US"/>
        </a:p>
      </dgm:t>
    </dgm:pt>
    <dgm:pt modelId="{F4370506-F6F8-4F2A-B435-16E4640C4E7A}">
      <dgm:prSet/>
      <dgm:spPr/>
      <dgm:t>
        <a:bodyPr/>
        <a:lstStyle/>
        <a:p>
          <a:r>
            <a:rPr lang="zh-CN"/>
            <a:t>Elbow point: Where inertia decreases more slowly, indicating diminishing returns from adding clusters.</a:t>
          </a:r>
          <a:endParaRPr lang="en-US"/>
        </a:p>
      </dgm:t>
    </dgm:pt>
    <dgm:pt modelId="{2FB2B116-7EBD-4690-8893-9F977008DE75}" type="parTrans" cxnId="{30515E6D-FC54-4C56-A092-AB582C23B3B6}">
      <dgm:prSet/>
      <dgm:spPr/>
      <dgm:t>
        <a:bodyPr/>
        <a:lstStyle/>
        <a:p>
          <a:endParaRPr lang="en-US"/>
        </a:p>
      </dgm:t>
    </dgm:pt>
    <dgm:pt modelId="{5F81CE53-3625-4455-97F9-CD1DB635F584}" type="sibTrans" cxnId="{30515E6D-FC54-4C56-A092-AB582C23B3B6}">
      <dgm:prSet/>
      <dgm:spPr/>
      <dgm:t>
        <a:bodyPr/>
        <a:lstStyle/>
        <a:p>
          <a:endParaRPr lang="en-US"/>
        </a:p>
      </dgm:t>
    </dgm:pt>
    <dgm:pt modelId="{E691143D-B097-442D-9917-33CE8A025A95}" type="pres">
      <dgm:prSet presAssocID="{704752BE-D6D2-432F-B0A1-8B6A89F39787}" presName="vert0" presStyleCnt="0">
        <dgm:presLayoutVars>
          <dgm:dir/>
          <dgm:animOne val="branch"/>
          <dgm:animLvl val="lvl"/>
        </dgm:presLayoutVars>
      </dgm:prSet>
      <dgm:spPr/>
    </dgm:pt>
    <dgm:pt modelId="{55ECC95A-52EF-4812-B2DE-A7A5E0DA1946}" type="pres">
      <dgm:prSet presAssocID="{52DE3D80-A425-4A34-8063-4EF22DE12C52}" presName="thickLine" presStyleLbl="alignNode1" presStyleIdx="0" presStyleCnt="4"/>
      <dgm:spPr/>
    </dgm:pt>
    <dgm:pt modelId="{1E964388-CEA0-48B9-BA2C-33039CCBA3F9}" type="pres">
      <dgm:prSet presAssocID="{52DE3D80-A425-4A34-8063-4EF22DE12C52}" presName="horz1" presStyleCnt="0"/>
      <dgm:spPr/>
    </dgm:pt>
    <dgm:pt modelId="{725F84C8-973C-4A1A-BEE9-27BC8EC6202B}" type="pres">
      <dgm:prSet presAssocID="{52DE3D80-A425-4A34-8063-4EF22DE12C52}" presName="tx1" presStyleLbl="revTx" presStyleIdx="0" presStyleCnt="4"/>
      <dgm:spPr/>
    </dgm:pt>
    <dgm:pt modelId="{F812E9C0-8302-4EA3-A971-EB725E45222A}" type="pres">
      <dgm:prSet presAssocID="{52DE3D80-A425-4A34-8063-4EF22DE12C52}" presName="vert1" presStyleCnt="0"/>
      <dgm:spPr/>
    </dgm:pt>
    <dgm:pt modelId="{76899064-498D-4DF0-8C39-731AD4B8276A}" type="pres">
      <dgm:prSet presAssocID="{566DE162-1E0F-4A51-B4B2-17C644408526}" presName="thickLine" presStyleLbl="alignNode1" presStyleIdx="1" presStyleCnt="4"/>
      <dgm:spPr/>
    </dgm:pt>
    <dgm:pt modelId="{8B783B13-C819-4975-A2A5-1135820D50C4}" type="pres">
      <dgm:prSet presAssocID="{566DE162-1E0F-4A51-B4B2-17C644408526}" presName="horz1" presStyleCnt="0"/>
      <dgm:spPr/>
    </dgm:pt>
    <dgm:pt modelId="{706BA17B-5E93-4BEF-B4BF-05B35BF7FA0A}" type="pres">
      <dgm:prSet presAssocID="{566DE162-1E0F-4A51-B4B2-17C644408526}" presName="tx1" presStyleLbl="revTx" presStyleIdx="1" presStyleCnt="4"/>
      <dgm:spPr/>
    </dgm:pt>
    <dgm:pt modelId="{C2EB48DC-80E7-4E27-992A-813C5DF38C66}" type="pres">
      <dgm:prSet presAssocID="{566DE162-1E0F-4A51-B4B2-17C644408526}" presName="vert1" presStyleCnt="0"/>
      <dgm:spPr/>
    </dgm:pt>
    <dgm:pt modelId="{3E13E585-C8CE-457D-AFBB-8FC1C5DBC95C}" type="pres">
      <dgm:prSet presAssocID="{2EFDA460-99BA-4CFB-A970-65EEF107AF6B}" presName="thickLine" presStyleLbl="alignNode1" presStyleIdx="2" presStyleCnt="4"/>
      <dgm:spPr/>
    </dgm:pt>
    <dgm:pt modelId="{3E2756FF-72CC-4034-8A1D-6DEA51737A54}" type="pres">
      <dgm:prSet presAssocID="{2EFDA460-99BA-4CFB-A970-65EEF107AF6B}" presName="horz1" presStyleCnt="0"/>
      <dgm:spPr/>
    </dgm:pt>
    <dgm:pt modelId="{6931BDE7-E6EA-41AF-80DA-DD536EA4C2B6}" type="pres">
      <dgm:prSet presAssocID="{2EFDA460-99BA-4CFB-A970-65EEF107AF6B}" presName="tx1" presStyleLbl="revTx" presStyleIdx="2" presStyleCnt="4"/>
      <dgm:spPr/>
    </dgm:pt>
    <dgm:pt modelId="{BE9AA20E-A531-46A8-B45D-453B5DDB122D}" type="pres">
      <dgm:prSet presAssocID="{2EFDA460-99BA-4CFB-A970-65EEF107AF6B}" presName="vert1" presStyleCnt="0"/>
      <dgm:spPr/>
    </dgm:pt>
    <dgm:pt modelId="{FA715C5E-3509-43A3-9717-97D0A1544E1A}" type="pres">
      <dgm:prSet presAssocID="{F4370506-F6F8-4F2A-B435-16E4640C4E7A}" presName="thickLine" presStyleLbl="alignNode1" presStyleIdx="3" presStyleCnt="4"/>
      <dgm:spPr/>
    </dgm:pt>
    <dgm:pt modelId="{0CD916D2-0AA2-456E-97B1-5B95BBDBF8BD}" type="pres">
      <dgm:prSet presAssocID="{F4370506-F6F8-4F2A-B435-16E4640C4E7A}" presName="horz1" presStyleCnt="0"/>
      <dgm:spPr/>
    </dgm:pt>
    <dgm:pt modelId="{C549AD43-A969-4BC3-80CE-94110A84E077}" type="pres">
      <dgm:prSet presAssocID="{F4370506-F6F8-4F2A-B435-16E4640C4E7A}" presName="tx1" presStyleLbl="revTx" presStyleIdx="3" presStyleCnt="4"/>
      <dgm:spPr/>
    </dgm:pt>
    <dgm:pt modelId="{AD5A77DD-23CA-4696-9B56-0EAC4B52CEE6}" type="pres">
      <dgm:prSet presAssocID="{F4370506-F6F8-4F2A-B435-16E4640C4E7A}" presName="vert1" presStyleCnt="0"/>
      <dgm:spPr/>
    </dgm:pt>
  </dgm:ptLst>
  <dgm:cxnLst>
    <dgm:cxn modelId="{FDF29D12-0A9B-40AC-935D-93D0DA51D8AE}" type="presOf" srcId="{566DE162-1E0F-4A51-B4B2-17C644408526}" destId="{706BA17B-5E93-4BEF-B4BF-05B35BF7FA0A}" srcOrd="0" destOrd="0" presId="urn:microsoft.com/office/officeart/2008/layout/LinedList"/>
    <dgm:cxn modelId="{04517040-4E29-4A1E-930D-4E208E503DE5}" type="presOf" srcId="{F4370506-F6F8-4F2A-B435-16E4640C4E7A}" destId="{C549AD43-A969-4BC3-80CE-94110A84E077}" srcOrd="0" destOrd="0" presId="urn:microsoft.com/office/officeart/2008/layout/LinedList"/>
    <dgm:cxn modelId="{30515E6D-FC54-4C56-A092-AB582C23B3B6}" srcId="{704752BE-D6D2-432F-B0A1-8B6A89F39787}" destId="{F4370506-F6F8-4F2A-B435-16E4640C4E7A}" srcOrd="3" destOrd="0" parTransId="{2FB2B116-7EBD-4690-8893-9F977008DE75}" sibTransId="{5F81CE53-3625-4455-97F9-CD1DB635F584}"/>
    <dgm:cxn modelId="{DE3CEC9E-2C0F-48BB-BFD9-BB88535BAD1E}" srcId="{704752BE-D6D2-432F-B0A1-8B6A89F39787}" destId="{52DE3D80-A425-4A34-8063-4EF22DE12C52}" srcOrd="0" destOrd="0" parTransId="{84F08B56-C61A-4289-B284-0F06261B1B00}" sibTransId="{7164C001-F259-45BF-B360-84B5F4024C26}"/>
    <dgm:cxn modelId="{88A29AB3-1D5F-4D1E-80DB-B81F4717BFF2}" type="presOf" srcId="{2EFDA460-99BA-4CFB-A970-65EEF107AF6B}" destId="{6931BDE7-E6EA-41AF-80DA-DD536EA4C2B6}" srcOrd="0" destOrd="0" presId="urn:microsoft.com/office/officeart/2008/layout/LinedList"/>
    <dgm:cxn modelId="{DD8778B8-9213-41AA-A5E3-795C7701AEE4}" type="presOf" srcId="{52DE3D80-A425-4A34-8063-4EF22DE12C52}" destId="{725F84C8-973C-4A1A-BEE9-27BC8EC6202B}" srcOrd="0" destOrd="0" presId="urn:microsoft.com/office/officeart/2008/layout/LinedList"/>
    <dgm:cxn modelId="{2C89F7C7-6A81-4B1A-A301-08B01F5B2B40}" type="presOf" srcId="{704752BE-D6D2-432F-B0A1-8B6A89F39787}" destId="{E691143D-B097-442D-9917-33CE8A025A95}" srcOrd="0" destOrd="0" presId="urn:microsoft.com/office/officeart/2008/layout/LinedList"/>
    <dgm:cxn modelId="{055995D1-BC6E-4C47-8F9C-46BBAB992F6D}" srcId="{704752BE-D6D2-432F-B0A1-8B6A89F39787}" destId="{2EFDA460-99BA-4CFB-A970-65EEF107AF6B}" srcOrd="2" destOrd="0" parTransId="{ED7B1956-C83D-4DE5-A6F4-C2F7F9CD9338}" sibTransId="{4BECDADD-CA19-4348-993F-6B29C672CA70}"/>
    <dgm:cxn modelId="{149B01D4-F2BC-46E2-BC9C-A38672C4D648}" srcId="{704752BE-D6D2-432F-B0A1-8B6A89F39787}" destId="{566DE162-1E0F-4A51-B4B2-17C644408526}" srcOrd="1" destOrd="0" parTransId="{27FD3E42-31FF-44EB-B87E-CF56E9C8C067}" sibTransId="{08491FD9-7075-40B6-B84B-38766C89A5B0}"/>
    <dgm:cxn modelId="{B3797D00-8305-4FE7-8A0D-502579623D7E}" type="presParOf" srcId="{E691143D-B097-442D-9917-33CE8A025A95}" destId="{55ECC95A-52EF-4812-B2DE-A7A5E0DA1946}" srcOrd="0" destOrd="0" presId="urn:microsoft.com/office/officeart/2008/layout/LinedList"/>
    <dgm:cxn modelId="{2BDBC7EF-D4EA-4A78-A017-693475615AB4}" type="presParOf" srcId="{E691143D-B097-442D-9917-33CE8A025A95}" destId="{1E964388-CEA0-48B9-BA2C-33039CCBA3F9}" srcOrd="1" destOrd="0" presId="urn:microsoft.com/office/officeart/2008/layout/LinedList"/>
    <dgm:cxn modelId="{3DAFBAD8-69CF-4AC3-BCAB-D9C296E2740B}" type="presParOf" srcId="{1E964388-CEA0-48B9-BA2C-33039CCBA3F9}" destId="{725F84C8-973C-4A1A-BEE9-27BC8EC6202B}" srcOrd="0" destOrd="0" presId="urn:microsoft.com/office/officeart/2008/layout/LinedList"/>
    <dgm:cxn modelId="{097834D7-C7A6-4174-A77D-045C59A20F0C}" type="presParOf" srcId="{1E964388-CEA0-48B9-BA2C-33039CCBA3F9}" destId="{F812E9C0-8302-4EA3-A971-EB725E45222A}" srcOrd="1" destOrd="0" presId="urn:microsoft.com/office/officeart/2008/layout/LinedList"/>
    <dgm:cxn modelId="{D25D0AA6-F818-4978-9E18-C15050338BCE}" type="presParOf" srcId="{E691143D-B097-442D-9917-33CE8A025A95}" destId="{76899064-498D-4DF0-8C39-731AD4B8276A}" srcOrd="2" destOrd="0" presId="urn:microsoft.com/office/officeart/2008/layout/LinedList"/>
    <dgm:cxn modelId="{D02CF8B3-E02F-4B5B-8E24-C7720E7A489D}" type="presParOf" srcId="{E691143D-B097-442D-9917-33CE8A025A95}" destId="{8B783B13-C819-4975-A2A5-1135820D50C4}" srcOrd="3" destOrd="0" presId="urn:microsoft.com/office/officeart/2008/layout/LinedList"/>
    <dgm:cxn modelId="{A0CA4894-40B7-4F50-8A34-67F592FA230C}" type="presParOf" srcId="{8B783B13-C819-4975-A2A5-1135820D50C4}" destId="{706BA17B-5E93-4BEF-B4BF-05B35BF7FA0A}" srcOrd="0" destOrd="0" presId="urn:microsoft.com/office/officeart/2008/layout/LinedList"/>
    <dgm:cxn modelId="{3616D0AD-9B7A-4D41-8631-589129F9311D}" type="presParOf" srcId="{8B783B13-C819-4975-A2A5-1135820D50C4}" destId="{C2EB48DC-80E7-4E27-992A-813C5DF38C66}" srcOrd="1" destOrd="0" presId="urn:microsoft.com/office/officeart/2008/layout/LinedList"/>
    <dgm:cxn modelId="{B11206C4-2BF9-4360-A187-894D9E1336E0}" type="presParOf" srcId="{E691143D-B097-442D-9917-33CE8A025A95}" destId="{3E13E585-C8CE-457D-AFBB-8FC1C5DBC95C}" srcOrd="4" destOrd="0" presId="urn:microsoft.com/office/officeart/2008/layout/LinedList"/>
    <dgm:cxn modelId="{3D3DA21D-EFB5-4F87-A1FA-BFD3644FE63B}" type="presParOf" srcId="{E691143D-B097-442D-9917-33CE8A025A95}" destId="{3E2756FF-72CC-4034-8A1D-6DEA51737A54}" srcOrd="5" destOrd="0" presId="urn:microsoft.com/office/officeart/2008/layout/LinedList"/>
    <dgm:cxn modelId="{79F5DC42-FFB2-4281-9F51-215A51A49332}" type="presParOf" srcId="{3E2756FF-72CC-4034-8A1D-6DEA51737A54}" destId="{6931BDE7-E6EA-41AF-80DA-DD536EA4C2B6}" srcOrd="0" destOrd="0" presId="urn:microsoft.com/office/officeart/2008/layout/LinedList"/>
    <dgm:cxn modelId="{835D6ABE-749E-4D68-9476-B5C3A23A3273}" type="presParOf" srcId="{3E2756FF-72CC-4034-8A1D-6DEA51737A54}" destId="{BE9AA20E-A531-46A8-B45D-453B5DDB122D}" srcOrd="1" destOrd="0" presId="urn:microsoft.com/office/officeart/2008/layout/LinedList"/>
    <dgm:cxn modelId="{62887A25-5230-4FBE-9A8B-007DE73DC306}" type="presParOf" srcId="{E691143D-B097-442D-9917-33CE8A025A95}" destId="{FA715C5E-3509-43A3-9717-97D0A1544E1A}" srcOrd="6" destOrd="0" presId="urn:microsoft.com/office/officeart/2008/layout/LinedList"/>
    <dgm:cxn modelId="{9E445D2C-710C-4D4F-B862-67546EB795F7}" type="presParOf" srcId="{E691143D-B097-442D-9917-33CE8A025A95}" destId="{0CD916D2-0AA2-456E-97B1-5B95BBDBF8BD}" srcOrd="7" destOrd="0" presId="urn:microsoft.com/office/officeart/2008/layout/LinedList"/>
    <dgm:cxn modelId="{C8DDE886-EBA1-4590-8725-2A683C8096C0}" type="presParOf" srcId="{0CD916D2-0AA2-456E-97B1-5B95BBDBF8BD}" destId="{C549AD43-A969-4BC3-80CE-94110A84E077}" srcOrd="0" destOrd="0" presId="urn:microsoft.com/office/officeart/2008/layout/LinedList"/>
    <dgm:cxn modelId="{47C5D9B1-9228-4636-A20D-414B2B4D9615}" type="presParOf" srcId="{0CD916D2-0AA2-456E-97B1-5B95BBDBF8BD}" destId="{AD5A77DD-23CA-4696-9B56-0EAC4B52CEE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9F117D-DC41-4E41-9E2D-2D6784D3BEE9}">
      <dsp:nvSpPr>
        <dsp:cNvPr id="0" name=""/>
        <dsp:cNvSpPr/>
      </dsp:nvSpPr>
      <dsp:spPr>
        <a:xfrm>
          <a:off x="0" y="677"/>
          <a:ext cx="6271398" cy="158419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C2D7C8-667F-4E7C-BDAC-FF621FF1D556}">
      <dsp:nvSpPr>
        <dsp:cNvPr id="0" name=""/>
        <dsp:cNvSpPr/>
      </dsp:nvSpPr>
      <dsp:spPr>
        <a:xfrm>
          <a:off x="479219" y="357121"/>
          <a:ext cx="871308" cy="871308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D79BE3-6476-4584-9D53-17FFA08DDF2C}">
      <dsp:nvSpPr>
        <dsp:cNvPr id="0" name=""/>
        <dsp:cNvSpPr/>
      </dsp:nvSpPr>
      <dsp:spPr>
        <a:xfrm>
          <a:off x="1829748" y="677"/>
          <a:ext cx="4441649" cy="1584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61" tIns="167661" rIns="167661" bIns="16766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Edward </a:t>
          </a:r>
          <a:r>
            <a:rPr lang="en-US" sz="1600" b="1" kern="1200" dirty="0" err="1"/>
            <a:t>Junsyoung</a:t>
          </a:r>
          <a:r>
            <a:rPr lang="en-US" sz="1600" b="1" kern="1200" dirty="0"/>
            <a:t> Lee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Statistics (Maj), Psychology (Maj)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Key Interests: Data Analysis Techniques, Machine Learning Research</a:t>
          </a:r>
        </a:p>
      </dsp:txBody>
      <dsp:txXfrm>
        <a:off x="1829748" y="677"/>
        <a:ext cx="4441649" cy="1584197"/>
      </dsp:txXfrm>
    </dsp:sp>
    <dsp:sp modelId="{C3826975-97B1-4BD2-B9C2-2C56CBB7335E}">
      <dsp:nvSpPr>
        <dsp:cNvPr id="0" name=""/>
        <dsp:cNvSpPr/>
      </dsp:nvSpPr>
      <dsp:spPr>
        <a:xfrm>
          <a:off x="0" y="1980924"/>
          <a:ext cx="6271398" cy="158419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9E21F5-3F59-4ACE-B768-24B5AC6257FF}">
      <dsp:nvSpPr>
        <dsp:cNvPr id="0" name=""/>
        <dsp:cNvSpPr/>
      </dsp:nvSpPr>
      <dsp:spPr>
        <a:xfrm>
          <a:off x="479219" y="2337369"/>
          <a:ext cx="871308" cy="87130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36E9BB-A792-4AFF-9ACC-BF254D649A9C}">
      <dsp:nvSpPr>
        <dsp:cNvPr id="0" name=""/>
        <dsp:cNvSpPr/>
      </dsp:nvSpPr>
      <dsp:spPr>
        <a:xfrm>
          <a:off x="1829748" y="1980924"/>
          <a:ext cx="4441649" cy="1584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61" tIns="167661" rIns="167661" bIns="16766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Junyi (Harvey) Hou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Statistics (Maj), Technology, Coding &amp; Society (Maj)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Key interests: Data Analysis, Data Science, Data Engineering, AI Development</a:t>
          </a:r>
        </a:p>
      </dsp:txBody>
      <dsp:txXfrm>
        <a:off x="1829748" y="1980924"/>
        <a:ext cx="4441649" cy="1584197"/>
      </dsp:txXfrm>
    </dsp:sp>
    <dsp:sp modelId="{22F65DB1-64A7-4B02-A5EE-4AE8DD714B76}">
      <dsp:nvSpPr>
        <dsp:cNvPr id="0" name=""/>
        <dsp:cNvSpPr/>
      </dsp:nvSpPr>
      <dsp:spPr>
        <a:xfrm>
          <a:off x="0" y="3961171"/>
          <a:ext cx="6271398" cy="1584197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EEF0C1-972A-47C8-8181-F6DA1AC20309}">
      <dsp:nvSpPr>
        <dsp:cNvPr id="0" name=""/>
        <dsp:cNvSpPr/>
      </dsp:nvSpPr>
      <dsp:spPr>
        <a:xfrm>
          <a:off x="479219" y="4317616"/>
          <a:ext cx="871308" cy="871308"/>
        </a:xfrm>
        <a:prstGeom prst="rect">
          <a:avLst/>
        </a:prstGeom>
        <a:blipFill rotWithShape="1"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30A86C-F6B4-461F-A451-15A3B8169A12}">
      <dsp:nvSpPr>
        <dsp:cNvPr id="0" name=""/>
        <dsp:cNvSpPr/>
      </dsp:nvSpPr>
      <dsp:spPr>
        <a:xfrm>
          <a:off x="1829748" y="3961171"/>
          <a:ext cx="4441649" cy="15841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61" tIns="167661" rIns="167661" bIns="167661" numCol="1" spcCol="1270" anchor="ctr" anchorCtr="0">
          <a:noAutofit/>
        </a:bodyPr>
        <a:lstStyle/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Danny Han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Statistics (Maj), Computer Science (Min), Math (Min)</a:t>
          </a:r>
        </a:p>
        <a:p>
          <a:pPr marL="0" lvl="0" indent="0" algn="l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Key Interests: Software Development, Data Analysis, Machine Learning</a:t>
          </a:r>
        </a:p>
      </dsp:txBody>
      <dsp:txXfrm>
        <a:off x="1829748" y="3961171"/>
        <a:ext cx="4441649" cy="158419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11CB87-56B0-47E7-9905-19F69AEA3D65}">
      <dsp:nvSpPr>
        <dsp:cNvPr id="0" name=""/>
        <dsp:cNvSpPr/>
      </dsp:nvSpPr>
      <dsp:spPr>
        <a:xfrm>
          <a:off x="0" y="4615"/>
          <a:ext cx="11768900" cy="14552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819636-5D5C-4C7D-8454-E90F96C0A5B7}">
      <dsp:nvSpPr>
        <dsp:cNvPr id="0" name=""/>
        <dsp:cNvSpPr/>
      </dsp:nvSpPr>
      <dsp:spPr>
        <a:xfrm>
          <a:off x="440210" y="332044"/>
          <a:ext cx="801164" cy="80038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BA0DC-1DAD-465E-8007-522530F7D56D}">
      <dsp:nvSpPr>
        <dsp:cNvPr id="0" name=""/>
        <dsp:cNvSpPr/>
      </dsp:nvSpPr>
      <dsp:spPr>
        <a:xfrm>
          <a:off x="1681585" y="4615"/>
          <a:ext cx="10021430" cy="1456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164" tIns="154164" rIns="154164" bIns="15416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[Task 1] AML Knowledge Library:</a:t>
          </a:r>
          <a:r>
            <a:rPr lang="en-US" sz="2000" kern="1200"/>
            <a:t> (Website + Documentation) Over 147 red flags and typologies, focused on organized crime, with full source traceability and a document that maps red flags to data signals and features we use later.</a:t>
          </a:r>
        </a:p>
      </dsp:txBody>
      <dsp:txXfrm>
        <a:off x="1681585" y="4615"/>
        <a:ext cx="10021430" cy="1456663"/>
      </dsp:txXfrm>
    </dsp:sp>
    <dsp:sp modelId="{51C32981-F8FC-4A47-A197-B37A2AE0BD5F}">
      <dsp:nvSpPr>
        <dsp:cNvPr id="0" name=""/>
        <dsp:cNvSpPr/>
      </dsp:nvSpPr>
      <dsp:spPr>
        <a:xfrm>
          <a:off x="0" y="1814409"/>
          <a:ext cx="11768900" cy="14552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80BD36-B147-445A-932F-913C9C33F47B}">
      <dsp:nvSpPr>
        <dsp:cNvPr id="0" name=""/>
        <dsp:cNvSpPr/>
      </dsp:nvSpPr>
      <dsp:spPr>
        <a:xfrm>
          <a:off x="440210" y="2141838"/>
          <a:ext cx="801164" cy="80038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5AAE81-E2C3-4BEC-A321-46B0DBA6C6AB}">
      <dsp:nvSpPr>
        <dsp:cNvPr id="0" name=""/>
        <dsp:cNvSpPr/>
      </dsp:nvSpPr>
      <dsp:spPr>
        <a:xfrm>
          <a:off x="1681585" y="1814409"/>
          <a:ext cx="10021430" cy="1456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164" tIns="154164" rIns="154164" bIns="15416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[Task 2] Bad-Actor Detection Pipeline:</a:t>
          </a:r>
          <a:r>
            <a:rPr lang="en-US" sz="2000" kern="1200"/>
            <a:t> We clean and engineer features from the original data, run a rule-based scorer and several unsupervised ML models, fuse rule-based and ML scores, and output risk scores and flagged customers. You get both a single submission pair of CSVs and per-model outputs.</a:t>
          </a:r>
        </a:p>
      </dsp:txBody>
      <dsp:txXfrm>
        <a:off x="1681585" y="1814409"/>
        <a:ext cx="10021430" cy="1456663"/>
      </dsp:txXfrm>
    </dsp:sp>
    <dsp:sp modelId="{0D870CAA-E490-4A75-B850-201F944D15B2}">
      <dsp:nvSpPr>
        <dsp:cNvPr id="0" name=""/>
        <dsp:cNvSpPr/>
      </dsp:nvSpPr>
      <dsp:spPr>
        <a:xfrm>
          <a:off x="0" y="3624203"/>
          <a:ext cx="11768900" cy="145524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5EA25F-E868-4E4D-98B4-4F6A9700DB03}">
      <dsp:nvSpPr>
        <dsp:cNvPr id="0" name=""/>
        <dsp:cNvSpPr/>
      </dsp:nvSpPr>
      <dsp:spPr>
        <a:xfrm>
          <a:off x="440210" y="3951632"/>
          <a:ext cx="801164" cy="80038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B9F553-25E3-4DAA-AA3B-F8E9283BB7B8}">
      <dsp:nvSpPr>
        <dsp:cNvPr id="0" name=""/>
        <dsp:cNvSpPr/>
      </dsp:nvSpPr>
      <dsp:spPr>
        <a:xfrm>
          <a:off x="1681585" y="3624203"/>
          <a:ext cx="10021430" cy="14566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4164" tIns="154164" rIns="154164" bIns="154164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[Task 3] Explanation For All Customers: </a:t>
          </a:r>
          <a:r>
            <a:rPr lang="en-US" sz="2000" kern="1200"/>
            <a:t>Short, non-technical text that says why someone was flagged or not, using the same risk categories as the library, plus an optional GUI to browse and search those explanations.</a:t>
          </a:r>
        </a:p>
      </dsp:txBody>
      <dsp:txXfrm>
        <a:off x="1681585" y="3624203"/>
        <a:ext cx="10021430" cy="14566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5DA7E5-03CB-4900-828C-8DFF77D6B9A1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4D84F0D-B07C-4D98-911A-F298DE559E8A}">
      <dsp:nvSpPr>
        <dsp:cNvPr id="0" name=""/>
        <dsp:cNvSpPr/>
      </dsp:nvSpPr>
      <dsp:spPr>
        <a:xfrm>
          <a:off x="0" y="212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Content:</a:t>
          </a:r>
          <a:r>
            <a:rPr lang="en-US" sz="1600" kern="1200"/>
            <a:t> 147+ red flags and indicators from </a:t>
          </a:r>
          <a:r>
            <a:rPr lang="en-US" sz="1600" b="1" kern="1200"/>
            <a:t>8 typology documents</a:t>
          </a:r>
          <a:r>
            <a:rPr lang="en-US" sz="1600" kern="1200"/>
            <a:t> (trade-based ML, bulk cash, oil smuggling, Chinese ML networks, synthetic opioids, underground banking, human trafficking, general ML/TF), with a focus on </a:t>
          </a:r>
          <a:r>
            <a:rPr lang="en-US" sz="1600" b="1" kern="1200"/>
            <a:t>organized crime</a:t>
          </a:r>
          <a:r>
            <a:rPr lang="en-US" sz="1600" kern="1200"/>
            <a:t>.</a:t>
          </a:r>
        </a:p>
      </dsp:txBody>
      <dsp:txXfrm>
        <a:off x="0" y="2124"/>
        <a:ext cx="10515600" cy="724514"/>
      </dsp:txXfrm>
    </dsp:sp>
    <dsp:sp modelId="{B2B145CA-2967-40B2-AAD3-20C389E12E53}">
      <dsp:nvSpPr>
        <dsp:cNvPr id="0" name=""/>
        <dsp:cNvSpPr/>
      </dsp:nvSpPr>
      <dsp:spPr>
        <a:xfrm>
          <a:off x="0" y="726639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1288723"/>
                <a:satOff val="-3699"/>
                <a:lumOff val="-592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288723"/>
                <a:satOff val="-3699"/>
                <a:lumOff val="-592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288723"/>
                <a:satOff val="-3699"/>
                <a:lumOff val="-592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C803D2A-B0FD-4EEF-8F9D-AFD60EAE597D}">
      <dsp:nvSpPr>
        <dsp:cNvPr id="0" name=""/>
        <dsp:cNvSpPr/>
      </dsp:nvSpPr>
      <dsp:spPr>
        <a:xfrm>
          <a:off x="0" y="72663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Single reference:</a:t>
          </a:r>
          <a:r>
            <a:rPr lang="en-US" sz="1600" kern="1200"/>
            <a:t> 00_COMPREHENSIVE_RED_FLAGS_MASTER.md — all red flags in one place with quick navigation.</a:t>
          </a:r>
        </a:p>
      </dsp:txBody>
      <dsp:txXfrm>
        <a:off x="0" y="726639"/>
        <a:ext cx="10515600" cy="724514"/>
      </dsp:txXfrm>
    </dsp:sp>
    <dsp:sp modelId="{0CC24733-ABED-4ED9-961F-BC44318E993B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2577445"/>
                <a:satOff val="-7397"/>
                <a:lumOff val="-1184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577445"/>
                <a:satOff val="-7397"/>
                <a:lumOff val="-1184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577445"/>
                <a:satOff val="-7397"/>
                <a:lumOff val="-1184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B092D1-6DFA-413C-8D9B-141BEC0D0F43}">
      <dsp:nvSpPr>
        <dsp:cNvPr id="0" name=""/>
        <dsp:cNvSpPr/>
      </dsp:nvSpPr>
      <dsp:spPr>
        <a:xfrm>
          <a:off x="0" y="145115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Deep dives:</a:t>
          </a:r>
          <a:r>
            <a:rPr lang="en-US" sz="1600" kern="1200"/>
            <a:t> Documents 01–08 give context, risk guidance, and high-risk combinations per typology.</a:t>
          </a:r>
        </a:p>
      </dsp:txBody>
      <dsp:txXfrm>
        <a:off x="0" y="1451154"/>
        <a:ext cx="10515600" cy="724514"/>
      </dsp:txXfrm>
    </dsp:sp>
    <dsp:sp modelId="{611452FA-69F3-4AC3-8685-6C747C5C56AF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3866169"/>
                <a:satOff val="-11096"/>
                <a:lumOff val="-1776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866169"/>
                <a:satOff val="-11096"/>
                <a:lumOff val="-1776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866169"/>
                <a:satOff val="-11096"/>
                <a:lumOff val="-1776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CBCCF4-6918-4901-84CF-A075D0ACBF2D}">
      <dsp:nvSpPr>
        <dsp:cNvPr id="0" name=""/>
        <dsp:cNvSpPr/>
      </dsp:nvSpPr>
      <dsp:spPr>
        <a:xfrm>
          <a:off x="0" y="217566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Traceability:</a:t>
          </a:r>
          <a:r>
            <a:rPr lang="en-US" sz="1600" kern="1200"/>
            <a:t> Every red flag is tied to a </a:t>
          </a:r>
          <a:r>
            <a:rPr lang="en-US" sz="1600" b="1" kern="1200"/>
            <a:t>source</a:t>
          </a:r>
          <a:r>
            <a:rPr lang="en-US" sz="1600" kern="1200"/>
            <a:t> — FINTRAC/FinCEN alerts and advisories — with URLs and references in </a:t>
          </a:r>
          <a:r>
            <a:rPr lang="en-US" sz="1600" b="1" kern="1200"/>
            <a:t>SOURCES.md</a:t>
          </a:r>
          <a:r>
            <a:rPr lang="en-US" sz="1600" kern="1200"/>
            <a:t> and inline citations.</a:t>
          </a:r>
        </a:p>
      </dsp:txBody>
      <dsp:txXfrm>
        <a:off x="0" y="2175669"/>
        <a:ext cx="10515600" cy="724514"/>
      </dsp:txXfrm>
    </dsp:sp>
    <dsp:sp modelId="{436B9DD1-5BFB-4DEC-A99E-6F4C59C95B72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5154891"/>
                <a:satOff val="-14794"/>
                <a:lumOff val="-2368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154891"/>
                <a:satOff val="-14794"/>
                <a:lumOff val="-2368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154891"/>
                <a:satOff val="-14794"/>
                <a:lumOff val="-2368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FF87F37-B30C-4883-8B5E-95320B2726C7}">
      <dsp:nvSpPr>
        <dsp:cNvPr id="0" name=""/>
        <dsp:cNvSpPr/>
      </dsp:nvSpPr>
      <dsp:spPr>
        <a:xfrm>
          <a:off x="0" y="2900183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Linking to data:</a:t>
          </a:r>
          <a:r>
            <a:rPr lang="en-US" sz="1600" kern="1200"/>
            <a:t> </a:t>
          </a:r>
          <a:r>
            <a:rPr lang="en-US" sz="1600" b="1" kern="1200"/>
            <a:t>Red_Flag_to_Feature_Mapping.md</a:t>
          </a:r>
          <a:r>
            <a:rPr lang="en-US" sz="1600" kern="1200"/>
            <a:t> maps each red flag to </a:t>
          </a:r>
          <a:r>
            <a:rPr lang="en-US" sz="1600" b="1" kern="1200"/>
            <a:t>data signals</a:t>
          </a:r>
          <a:r>
            <a:rPr lang="en-US" sz="1600" kern="1200"/>
            <a:t> and </a:t>
          </a:r>
          <a:r>
            <a:rPr lang="en-US" sz="1600" b="1" kern="1200"/>
            <a:t>engineered features</a:t>
          </a:r>
          <a:r>
            <a:rPr lang="en-US" sz="1600" kern="1200"/>
            <a:t> used in detection (feeds Task 2 &amp; 3).</a:t>
          </a:r>
        </a:p>
      </dsp:txBody>
      <dsp:txXfrm>
        <a:off x="0" y="2900183"/>
        <a:ext cx="10515600" cy="724514"/>
      </dsp:txXfrm>
    </dsp:sp>
    <dsp:sp modelId="{AC1E363D-339C-4AEF-AFE0-CC74256E55FA}">
      <dsp:nvSpPr>
        <dsp:cNvPr id="0" name=""/>
        <dsp:cNvSpPr/>
      </dsp:nvSpPr>
      <dsp:spPr>
        <a:xfrm>
          <a:off x="0" y="3624698"/>
          <a:ext cx="10515600" cy="0"/>
        </a:xfrm>
        <a:prstGeom prst="line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CF7B7E5-3C6C-49F8-8262-DDE6F7213806}">
      <dsp:nvSpPr>
        <dsp:cNvPr id="0" name=""/>
        <dsp:cNvSpPr/>
      </dsp:nvSpPr>
      <dsp:spPr>
        <a:xfrm>
          <a:off x="0" y="3624698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Format:</a:t>
          </a:r>
          <a:r>
            <a:rPr lang="en-US" sz="1600" kern="1200"/>
            <a:t> Markdown, organized and easy to use for both modelling and investigation (organized, accessible, and fully traceable via source information).</a:t>
          </a:r>
        </a:p>
      </dsp:txBody>
      <dsp:txXfrm>
        <a:off x="0" y="3624698"/>
        <a:ext cx="10515600" cy="72451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DF306F-F69D-4E07-B46A-34C7DFF841EC}">
      <dsp:nvSpPr>
        <dsp:cNvPr id="0" name=""/>
        <dsp:cNvSpPr/>
      </dsp:nvSpPr>
      <dsp:spPr>
        <a:xfrm>
          <a:off x="1212569" y="629931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4C35B1-1C18-45E7-8BC3-B080586A759C}">
      <dsp:nvSpPr>
        <dsp:cNvPr id="0" name=""/>
        <dsp:cNvSpPr/>
      </dsp:nvSpPr>
      <dsp:spPr>
        <a:xfrm>
          <a:off x="417971" y="2393906"/>
          <a:ext cx="2889450" cy="132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Primary Users: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 Modelling experts</a:t>
          </a:r>
          <a:endParaRPr lang="en-US" sz="1600" kern="1200"/>
        </a:p>
      </dsp:txBody>
      <dsp:txXfrm>
        <a:off x="417971" y="2393906"/>
        <a:ext cx="2889450" cy="1327500"/>
      </dsp:txXfrm>
    </dsp:sp>
    <dsp:sp modelId="{891AFC9E-94BD-4758-BAA9-71AE35B91457}">
      <dsp:nvSpPr>
        <dsp:cNvPr id="0" name=""/>
        <dsp:cNvSpPr/>
      </dsp:nvSpPr>
      <dsp:spPr>
        <a:xfrm>
          <a:off x="4607673" y="629931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B5F2B4-E58E-436A-B400-9EAB95CDED7F}">
      <dsp:nvSpPr>
        <dsp:cNvPr id="0" name=""/>
        <dsp:cNvSpPr/>
      </dsp:nvSpPr>
      <dsp:spPr>
        <a:xfrm>
          <a:off x="3813075" y="2393906"/>
          <a:ext cx="2889450" cy="132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Use Case: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Link AML library content to data signals and features, using the suggested red flags as a guideline.</a:t>
          </a:r>
        </a:p>
      </dsp:txBody>
      <dsp:txXfrm>
        <a:off x="3813075" y="2393906"/>
        <a:ext cx="2889450" cy="1327500"/>
      </dsp:txXfrm>
    </dsp:sp>
    <dsp:sp modelId="{6ACD38B3-5191-463F-95EF-EFFFA1B383E6}">
      <dsp:nvSpPr>
        <dsp:cNvPr id="0" name=""/>
        <dsp:cNvSpPr/>
      </dsp:nvSpPr>
      <dsp:spPr>
        <a:xfrm>
          <a:off x="8002777" y="629931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DB2EDA-D8BE-40FE-B245-87B6E70D3D75}">
      <dsp:nvSpPr>
        <dsp:cNvPr id="0" name=""/>
        <dsp:cNvSpPr/>
      </dsp:nvSpPr>
      <dsp:spPr>
        <a:xfrm>
          <a:off x="7208178" y="2393906"/>
          <a:ext cx="2889450" cy="132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Use Case: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Understand</a:t>
          </a:r>
          <a:r>
            <a:rPr lang="en-US" sz="1600" kern="1200"/>
            <a:t> risk patterns and design </a:t>
          </a:r>
          <a:r>
            <a:rPr lang="en-US" sz="1600" b="1" kern="1200"/>
            <a:t>interpretable detection models.</a:t>
          </a:r>
          <a:endParaRPr lang="en-US" sz="1600" kern="1200"/>
        </a:p>
      </dsp:txBody>
      <dsp:txXfrm>
        <a:off x="7208178" y="2393906"/>
        <a:ext cx="2889450" cy="13275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04805F-8CFD-4E0B-B06D-74E9F669C442}">
      <dsp:nvSpPr>
        <dsp:cNvPr id="0" name=""/>
        <dsp:cNvSpPr/>
      </dsp:nvSpPr>
      <dsp:spPr>
        <a:xfrm>
          <a:off x="1212569" y="395095"/>
          <a:ext cx="1300252" cy="130025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62D4E2-85F4-4113-A110-AACE9C58FC8E}">
      <dsp:nvSpPr>
        <dsp:cNvPr id="0" name=""/>
        <dsp:cNvSpPr/>
      </dsp:nvSpPr>
      <dsp:spPr>
        <a:xfrm>
          <a:off x="417971" y="2116525"/>
          <a:ext cx="2889450" cy="1084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Secondary Users: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 AML investigators and professionals</a:t>
          </a:r>
          <a:endParaRPr lang="en-US" sz="1600" kern="1200"/>
        </a:p>
      </dsp:txBody>
      <dsp:txXfrm>
        <a:off x="417971" y="2116525"/>
        <a:ext cx="2889450" cy="1084526"/>
      </dsp:txXfrm>
    </dsp:sp>
    <dsp:sp modelId="{5F45EA87-1FF6-4526-89B9-DFCEF0EAB727}">
      <dsp:nvSpPr>
        <dsp:cNvPr id="0" name=""/>
        <dsp:cNvSpPr/>
      </dsp:nvSpPr>
      <dsp:spPr>
        <a:xfrm>
          <a:off x="4607673" y="395095"/>
          <a:ext cx="1300252" cy="130025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C6BA93-5CCE-4F66-BD66-149CFDA32C14}">
      <dsp:nvSpPr>
        <dsp:cNvPr id="0" name=""/>
        <dsp:cNvSpPr/>
      </dsp:nvSpPr>
      <dsp:spPr>
        <a:xfrm>
          <a:off x="3813075" y="2116525"/>
          <a:ext cx="2889450" cy="1084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Use Case: 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Reference</a:t>
          </a:r>
          <a:r>
            <a:rPr lang="en-US" sz="1600" kern="1200"/>
            <a:t> during investigations and due diligence.</a:t>
          </a:r>
        </a:p>
      </dsp:txBody>
      <dsp:txXfrm>
        <a:off x="3813075" y="2116525"/>
        <a:ext cx="2889450" cy="1084526"/>
      </dsp:txXfrm>
    </dsp:sp>
    <dsp:sp modelId="{080C9B31-42BA-406C-9B41-71AEFA3BC350}">
      <dsp:nvSpPr>
        <dsp:cNvPr id="0" name=""/>
        <dsp:cNvSpPr/>
      </dsp:nvSpPr>
      <dsp:spPr>
        <a:xfrm>
          <a:off x="8002777" y="395095"/>
          <a:ext cx="1300252" cy="130025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C0E88F-8E04-4DB6-9B39-A77B6D4C8FD7}">
      <dsp:nvSpPr>
        <dsp:cNvPr id="0" name=""/>
        <dsp:cNvSpPr/>
      </dsp:nvSpPr>
      <dsp:spPr>
        <a:xfrm>
          <a:off x="7208178" y="2116525"/>
          <a:ext cx="2889450" cy="108452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Use Case:</a:t>
          </a:r>
          <a:r>
            <a:rPr lang="en-US" sz="1600" kern="1200"/>
            <a:t> </a:t>
          </a:r>
        </a:p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Spot suspicious patterns and justify decisions with </a:t>
          </a:r>
          <a:r>
            <a:rPr lang="en-US" sz="1600" b="1" kern="1200"/>
            <a:t>source-backed</a:t>
          </a:r>
          <a:r>
            <a:rPr lang="en-US" sz="1600" kern="1200"/>
            <a:t> indicators.</a:t>
          </a:r>
        </a:p>
      </dsp:txBody>
      <dsp:txXfrm>
        <a:off x="7208178" y="2116525"/>
        <a:ext cx="2889450" cy="108452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4BA0B4-7AAC-41A9-B469-D6801460EEFE}">
      <dsp:nvSpPr>
        <dsp:cNvPr id="0" name=""/>
        <dsp:cNvSpPr/>
      </dsp:nvSpPr>
      <dsp:spPr>
        <a:xfrm>
          <a:off x="0" y="0"/>
          <a:ext cx="8938260" cy="13054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Used the </a:t>
          </a:r>
          <a:r>
            <a:rPr lang="en-US" sz="1900" b="1" kern="1200"/>
            <a:t>mapping document</a:t>
          </a:r>
          <a:r>
            <a:rPr lang="en-US" sz="1900" kern="1200"/>
            <a:t> to decide which </a:t>
          </a:r>
          <a:r>
            <a:rPr lang="en-US" sz="1900" b="1" kern="1200"/>
            <a:t>signals and features</a:t>
          </a:r>
          <a:r>
            <a:rPr lang="en-US" sz="1900" kern="1200"/>
            <a:t> to build from KYC and transaction data (e.g. structuring, channel, geographic, behavioral, profile).</a:t>
          </a:r>
        </a:p>
      </dsp:txBody>
      <dsp:txXfrm>
        <a:off x="38234" y="38234"/>
        <a:ext cx="7529629" cy="1228933"/>
      </dsp:txXfrm>
    </dsp:sp>
    <dsp:sp modelId="{A9A17099-769A-4004-AE6C-DDC0B703EAF5}">
      <dsp:nvSpPr>
        <dsp:cNvPr id="0" name=""/>
        <dsp:cNvSpPr/>
      </dsp:nvSpPr>
      <dsp:spPr>
        <a:xfrm>
          <a:off x="788669" y="1522968"/>
          <a:ext cx="8938260" cy="13054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Aligned </a:t>
          </a:r>
          <a:r>
            <a:rPr lang="en-US" sz="1900" b="1" kern="1200"/>
            <a:t>feature categories</a:t>
          </a:r>
          <a:r>
            <a:rPr lang="en-US" sz="1900" kern="1200"/>
            <a:t> in the pipeline (rule-based scorer and explanations) with </a:t>
          </a:r>
          <a:r>
            <a:rPr lang="en-US" sz="1900" b="1" kern="1200"/>
            <a:t>library typologies and red-flag categories</a:t>
          </a:r>
          <a:r>
            <a:rPr lang="en-US" sz="1900" kern="1200"/>
            <a:t> so detection and explanations stay consistent with Task 1.</a:t>
          </a:r>
        </a:p>
      </dsp:txBody>
      <dsp:txXfrm>
        <a:off x="826903" y="1561202"/>
        <a:ext cx="7224611" cy="1228933"/>
      </dsp:txXfrm>
    </dsp:sp>
    <dsp:sp modelId="{74F3EBA5-3F1F-479F-8D81-390153EFC300}">
      <dsp:nvSpPr>
        <dsp:cNvPr id="0" name=""/>
        <dsp:cNvSpPr/>
      </dsp:nvSpPr>
      <dsp:spPr>
        <a:xfrm>
          <a:off x="1577339" y="3045936"/>
          <a:ext cx="8938260" cy="130540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US" sz="1900" b="1" i="0" kern="1200"/>
            <a:t>Metadata</a:t>
          </a:r>
          <a:r>
            <a:rPr lang="en-US" sz="1900" b="0" i="0" kern="1200"/>
            <a:t> ties each feature to a </a:t>
          </a:r>
          <a:r>
            <a:rPr lang="en-US" sz="1900" b="1" i="0" kern="1200"/>
            <a:t>typology doc</a:t>
          </a:r>
          <a:r>
            <a:rPr lang="en-US" sz="1900" b="0" i="0" kern="1200"/>
            <a:t> for traceability; </a:t>
          </a:r>
          <a:r>
            <a:rPr lang="en-US" sz="1900" b="1" i="0" kern="1200"/>
            <a:t>rule thresholds</a:t>
          </a:r>
          <a:r>
            <a:rPr lang="en-US" sz="1900" b="0" i="0" kern="1200"/>
            <a:t> were chosen to reflect those risk patterns (e.g. round amounts, wire volume, flow-through).</a:t>
          </a:r>
          <a:endParaRPr lang="en-US" sz="1900" kern="1200"/>
        </a:p>
      </dsp:txBody>
      <dsp:txXfrm>
        <a:off x="1615573" y="3084170"/>
        <a:ext cx="7224611" cy="1228933"/>
      </dsp:txXfrm>
    </dsp:sp>
    <dsp:sp modelId="{42D9B544-91F6-4CD6-B148-D77E373CE485}">
      <dsp:nvSpPr>
        <dsp:cNvPr id="0" name=""/>
        <dsp:cNvSpPr/>
      </dsp:nvSpPr>
      <dsp:spPr>
        <a:xfrm>
          <a:off x="8089749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280664" y="989929"/>
        <a:ext cx="466680" cy="638504"/>
      </dsp:txXfrm>
    </dsp:sp>
    <dsp:sp modelId="{C78DEF5B-54C8-480A-B2E9-2C9999D634E6}">
      <dsp:nvSpPr>
        <dsp:cNvPr id="0" name=""/>
        <dsp:cNvSpPr/>
      </dsp:nvSpPr>
      <dsp:spPr>
        <a:xfrm>
          <a:off x="8878419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069334" y="2504195"/>
        <a:ext cx="466680" cy="6385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8CE0F2-2F63-4601-8C1D-BB920620AF75}">
      <dsp:nvSpPr>
        <dsp:cNvPr id="0" name=""/>
        <dsp:cNvSpPr/>
      </dsp:nvSpPr>
      <dsp:spPr>
        <a:xfrm>
          <a:off x="0" y="1740"/>
          <a:ext cx="10927829" cy="8819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5FA3F0-3AD1-4479-B8AC-4D7125022E86}">
      <dsp:nvSpPr>
        <dsp:cNvPr id="0" name=""/>
        <dsp:cNvSpPr/>
      </dsp:nvSpPr>
      <dsp:spPr>
        <a:xfrm>
          <a:off x="266793" y="200181"/>
          <a:ext cx="485079" cy="48507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312878-895D-4DFF-A12D-DE6854382940}">
      <dsp:nvSpPr>
        <dsp:cNvPr id="0" name=""/>
        <dsp:cNvSpPr/>
      </dsp:nvSpPr>
      <dsp:spPr>
        <a:xfrm>
          <a:off x="1018667" y="1740"/>
          <a:ext cx="9909161" cy="881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41" tIns="93341" rIns="93341" bIns="9334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Quick scan: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00_COMPREHENSIVE_RED_FLAGS_MASTER.md for all red flags in one place.</a:t>
          </a:r>
        </a:p>
      </dsp:txBody>
      <dsp:txXfrm>
        <a:off x="1018667" y="1740"/>
        <a:ext cx="9909161" cy="881963"/>
      </dsp:txXfrm>
    </dsp:sp>
    <dsp:sp modelId="{79722314-6004-4C1A-9855-F1091322516E}">
      <dsp:nvSpPr>
        <dsp:cNvPr id="0" name=""/>
        <dsp:cNvSpPr/>
      </dsp:nvSpPr>
      <dsp:spPr>
        <a:xfrm>
          <a:off x="0" y="1104194"/>
          <a:ext cx="10927829" cy="8819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E97D1D-838E-4F5A-A1E9-7A2384E14322}">
      <dsp:nvSpPr>
        <dsp:cNvPr id="0" name=""/>
        <dsp:cNvSpPr/>
      </dsp:nvSpPr>
      <dsp:spPr>
        <a:xfrm>
          <a:off x="266793" y="1302635"/>
          <a:ext cx="485079" cy="48507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7F5057-ADB8-4817-9D20-81B023759E5D}">
      <dsp:nvSpPr>
        <dsp:cNvPr id="0" name=""/>
        <dsp:cNvSpPr/>
      </dsp:nvSpPr>
      <dsp:spPr>
        <a:xfrm>
          <a:off x="1018667" y="1104194"/>
          <a:ext cx="9909161" cy="881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41" tIns="93341" rIns="93341" bIns="9334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Deep dive: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Documents 01–08 for typology-specific context and risk guidance.</a:t>
          </a:r>
        </a:p>
      </dsp:txBody>
      <dsp:txXfrm>
        <a:off x="1018667" y="1104194"/>
        <a:ext cx="9909161" cy="881963"/>
      </dsp:txXfrm>
    </dsp:sp>
    <dsp:sp modelId="{9FCF07D0-A795-4A79-AC5E-C3AA1D46959A}">
      <dsp:nvSpPr>
        <dsp:cNvPr id="0" name=""/>
        <dsp:cNvSpPr/>
      </dsp:nvSpPr>
      <dsp:spPr>
        <a:xfrm>
          <a:off x="0" y="2206647"/>
          <a:ext cx="10927829" cy="8819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6A1A72-A689-4D4C-9B8B-35EEF69C7761}">
      <dsp:nvSpPr>
        <dsp:cNvPr id="0" name=""/>
        <dsp:cNvSpPr/>
      </dsp:nvSpPr>
      <dsp:spPr>
        <a:xfrm>
          <a:off x="266793" y="2405089"/>
          <a:ext cx="485079" cy="48507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CE061C-61EC-433D-8A9C-8197C2C925AE}">
      <dsp:nvSpPr>
        <dsp:cNvPr id="0" name=""/>
        <dsp:cNvSpPr/>
      </dsp:nvSpPr>
      <dsp:spPr>
        <a:xfrm>
          <a:off x="1018667" y="2206647"/>
          <a:ext cx="9909161" cy="881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41" tIns="93341" rIns="93341" bIns="9334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Traceability: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SOURCES.md for full citations; inline references in each document.</a:t>
          </a:r>
        </a:p>
      </dsp:txBody>
      <dsp:txXfrm>
        <a:off x="1018667" y="2206647"/>
        <a:ext cx="9909161" cy="881963"/>
      </dsp:txXfrm>
    </dsp:sp>
    <dsp:sp modelId="{6A52F529-7698-422C-A067-C2B2A9B20B5C}">
      <dsp:nvSpPr>
        <dsp:cNvPr id="0" name=""/>
        <dsp:cNvSpPr/>
      </dsp:nvSpPr>
      <dsp:spPr>
        <a:xfrm>
          <a:off x="0" y="3309101"/>
          <a:ext cx="10927829" cy="88196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DC8869-5BAB-4DB1-B406-2ADBC4021AC4}">
      <dsp:nvSpPr>
        <dsp:cNvPr id="0" name=""/>
        <dsp:cNvSpPr/>
      </dsp:nvSpPr>
      <dsp:spPr>
        <a:xfrm>
          <a:off x="266793" y="3507543"/>
          <a:ext cx="485079" cy="48507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2BF369-858C-429D-B9D6-7D54DD166176}">
      <dsp:nvSpPr>
        <dsp:cNvPr id="0" name=""/>
        <dsp:cNvSpPr/>
      </dsp:nvSpPr>
      <dsp:spPr>
        <a:xfrm>
          <a:off x="1018667" y="3309101"/>
          <a:ext cx="9909161" cy="8819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3341" tIns="93341" rIns="93341" bIns="93341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Link to data: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Red_Flag_to_Feature_Mapping.md maps red flags → data signals → features.</a:t>
          </a:r>
        </a:p>
      </dsp:txBody>
      <dsp:txXfrm>
        <a:off x="1018667" y="3309101"/>
        <a:ext cx="9909161" cy="88196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5ECC95A-52EF-4812-B2DE-A7A5E0DA1946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5F84C8-973C-4A1A-BEE9-27BC8EC6202B}">
      <dsp:nvSpPr>
        <dsp:cNvPr id="0" name=""/>
        <dsp:cNvSpPr/>
      </dsp:nvSpPr>
      <dsp:spPr>
        <a:xfrm>
          <a:off x="0" y="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700" kern="1200"/>
            <a:t>Silhouette score: Measures how well a point fits within its cluster vs. other clusters. </a:t>
          </a:r>
          <a:endParaRPr lang="en-US" sz="2700" kern="1200"/>
        </a:p>
      </dsp:txBody>
      <dsp:txXfrm>
        <a:off x="0" y="0"/>
        <a:ext cx="6900512" cy="1384035"/>
      </dsp:txXfrm>
    </dsp:sp>
    <dsp:sp modelId="{76899064-498D-4DF0-8C39-731AD4B8276A}">
      <dsp:nvSpPr>
        <dsp:cNvPr id="0" name=""/>
        <dsp:cNvSpPr/>
      </dsp:nvSpPr>
      <dsp:spPr>
        <a:xfrm>
          <a:off x="0" y="1384035"/>
          <a:ext cx="6900512" cy="0"/>
        </a:xfrm>
        <a:prstGeom prst="line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accent2">
              <a:hueOff val="2147871"/>
              <a:satOff val="-6164"/>
              <a:lumOff val="-987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6BA17B-5E93-4BEF-B4BF-05B35BF7FA0A}">
      <dsp:nvSpPr>
        <dsp:cNvPr id="0" name=""/>
        <dsp:cNvSpPr/>
      </dsp:nvSpPr>
      <dsp:spPr>
        <a:xfrm>
          <a:off x="0" y="138403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700" kern="1200"/>
            <a:t>Range: -1 to 1; higher values indicate better separation.</a:t>
          </a:r>
          <a:endParaRPr lang="en-US" sz="2700" kern="1200"/>
        </a:p>
      </dsp:txBody>
      <dsp:txXfrm>
        <a:off x="0" y="1384035"/>
        <a:ext cx="6900512" cy="1384035"/>
      </dsp:txXfrm>
    </dsp:sp>
    <dsp:sp modelId="{3E13E585-C8CE-457D-AFBB-8FC1C5DBC95C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2">
            <a:hueOff val="4295743"/>
            <a:satOff val="-12329"/>
            <a:lumOff val="-19739"/>
            <a:alphaOff val="0"/>
          </a:schemeClr>
        </a:solidFill>
        <a:ln w="19050" cap="flat" cmpd="sng" algn="ctr">
          <a:solidFill>
            <a:schemeClr val="accent2">
              <a:hueOff val="4295743"/>
              <a:satOff val="-12329"/>
              <a:lumOff val="-1973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31BDE7-E6EA-41AF-80DA-DD536EA4C2B6}">
      <dsp:nvSpPr>
        <dsp:cNvPr id="0" name=""/>
        <dsp:cNvSpPr/>
      </dsp:nvSpPr>
      <dsp:spPr>
        <a:xfrm>
          <a:off x="0" y="2768070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700" kern="1200"/>
            <a:t>Elbow inertia: Total within-cluster sum of squared distances (cluster compactness).</a:t>
          </a:r>
          <a:endParaRPr lang="en-US" sz="2700" kern="1200"/>
        </a:p>
      </dsp:txBody>
      <dsp:txXfrm>
        <a:off x="0" y="2768070"/>
        <a:ext cx="6900512" cy="1384035"/>
      </dsp:txXfrm>
    </dsp:sp>
    <dsp:sp modelId="{FA715C5E-3509-43A3-9717-97D0A1544E1A}">
      <dsp:nvSpPr>
        <dsp:cNvPr id="0" name=""/>
        <dsp:cNvSpPr/>
      </dsp:nvSpPr>
      <dsp:spPr>
        <a:xfrm>
          <a:off x="0" y="4152105"/>
          <a:ext cx="6900512" cy="0"/>
        </a:xfrm>
        <a:prstGeom prst="line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49AD43-A969-4BC3-80CE-94110A84E077}">
      <dsp:nvSpPr>
        <dsp:cNvPr id="0" name=""/>
        <dsp:cNvSpPr/>
      </dsp:nvSpPr>
      <dsp:spPr>
        <a:xfrm>
          <a:off x="0" y="4152105"/>
          <a:ext cx="6900512" cy="13840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700" kern="1200"/>
            <a:t>Elbow point: Where inertia decreases more slowly, indicating diminishing returns from adding clusters.</a:t>
          </a:r>
          <a:endParaRPr lang="en-US" sz="2700" kern="1200"/>
        </a:p>
      </dsp:txBody>
      <dsp:txXfrm>
        <a:off x="0" y="4152105"/>
        <a:ext cx="6900512" cy="13840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03:44:11.5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328 148 24575,'-46'2'0,"35"-1"0,0 0 0,-1-1 0,1 0 0,0-1 0,0 0 0,0 0 0,0-1 0,0-1 0,-13-5 0,-131-52 0,155 60 0,0 0 0,0 0 0,-1-1 0,1 1 0,0 0 0,0 0 0,0 0 0,0 0 0,0 0 0,0 0 0,-1-1 0,1 1 0,0 0 0,0 0 0,0 0 0,0 0 0,0-1 0,0 1 0,0 0 0,0 0 0,0 0 0,0 0 0,0-1 0,0 1 0,0 0 0,0 0 0,0 0 0,0 0 0,0-1 0,0 1 0,0 0 0,0 0 0,0 0 0,0 0 0,0-1 0,0 1 0,0 0 0,0 0 0,0 0 0,0 0 0,1-1 0,-1 1 0,0 0 0,0 0 0,0 0 0,0 0 0,0 0 0,0 0 0,1-1 0,-1 1 0,14-10 0,17-6 0,80-15 0,-77 26 0,1 2 0,0 1 0,59 4 0,-17 0 0,34-2-1365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3T03:44:11.570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328 148 24575,'-46'2'0,"35"-1"0,0 0 0,-1-1 0,1 0 0,0-1 0,0 0 0,0 0 0,0-1 0,0-1 0,-13-5 0,-131-52 0,155 60 0,0 0 0,0 0 0,-1-1 0,1 1 0,0 0 0,0 0 0,0 0 0,0 0 0,0 0 0,0 0 0,-1-1 0,1 1 0,0 0 0,0 0 0,0 0 0,0 0 0,0-1 0,0 1 0,0 0 0,0 0 0,0 0 0,0 0 0,0-1 0,0 1 0,0 0 0,0 0 0,0 0 0,0 0 0,0-1 0,0 1 0,0 0 0,0 0 0,0 0 0,0 0 0,0-1 0,0 1 0,0 0 0,0 0 0,0 0 0,0 0 0,1-1 0,-1 1 0,0 0 0,0 0 0,0 0 0,0 0 0,0 0 0,0 0 0,1-1 0,-1 1 0,14-10 0,17-6 0,80-15 0,-77 26 0,1 2 0,0 1 0,59 4 0,-17 0 0,34-2-1365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E17235-7C82-4E4F-BE3E-F83C20CD3A73}" type="datetimeFigureOut"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8B8A65-1012-412B-B4F9-4ECC235BFAB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40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B8A65-1012-412B-B4F9-4ECC235BFA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199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B8A65-1012-412B-B4F9-4ECC235BFAB8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868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B8A65-1012-412B-B4F9-4ECC235BFAB8}" type="slidenum"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88903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F084F-842E-0E4A-1FC0-7B8D613B2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9F6277-0217-94DE-658E-F5EF0FED92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0C64D7-80AC-3DEC-1F50-7CE0FE3004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C274D0-3FB8-6446-55D3-11D68E5B4B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B8A65-1012-412B-B4F9-4ECC235BFAB8}" type="slidenum"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33956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F2142-3982-401B-1AE9-C2FFC9A97A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919C42-AB0D-9E00-74AD-04E4400AEC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E019B9-E43D-675D-2B1B-88401B86C2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288B17-6596-8D46-5D6C-9AC90CEA94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B8A65-1012-412B-B4F9-4ECC235BFAB8}" type="slidenum"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630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43C43-3F41-6EF8-E21F-EC75EECE9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CF2D7-2688-FEFA-F1B2-80B87E7F16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3A61D0-7B12-9FC8-3166-17840D1E60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3B93C-6F7D-B60F-C4C1-C9B26D152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B8A65-1012-412B-B4F9-4ECC235BFAB8}" type="slidenum"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35366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9EE30-E5BD-60FA-74DB-A962FC35F0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2640BE-B0D1-F44A-74D4-39E0E5E825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DEADF7-00E5-24C7-E4AC-2AB259A5ED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D893A3-F32C-6276-AE02-4523C31631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B8A65-1012-412B-B4F9-4ECC235BFAB8}" type="slidenum"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5784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51F3D-DF5F-DF02-7CD9-53C92C2EE5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EA348E-5E36-1F1C-A4F1-B93231FD0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2E22C4-B5DF-B109-2342-35B6FD655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7D0E76-4CDB-9186-05CA-58E923A0CE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B8A65-1012-412B-B4F9-4ECC235BFAB8}" type="slidenum"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62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01B65-960E-F302-EEB4-EBD00AD10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11C069-C7E5-292C-2A25-19C1CF3BF9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321ED4-179F-ED0E-A151-1449B0A30A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B42E6-1527-3475-8F3C-05BC09E0B3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B8A65-1012-412B-B4F9-4ECC235BFAB8}" type="slidenum"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2804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3089C-6F3B-AD40-5C44-98D3ED916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C25EA-9010-6402-8851-BA35153B1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BFA2A1-15E9-0E57-4268-F579B97043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4C57F-770E-3B55-909C-D415336469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B8A65-1012-412B-B4F9-4ECC235BFAB8}" type="slidenum"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7127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CB2DF-F88A-B604-42A4-904AF9F2E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91323-DCD0-92E7-B743-888A8C3EB5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F5EF33-882F-9DAF-DA6B-D937F9A849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EDEFEC-129C-B3CA-3157-C98C240C78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B8A65-1012-412B-B4F9-4ECC235BFAB8}" type="slidenum"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4972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84FEA-1B45-9655-1874-3E46D81C2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093127-C5E4-8012-5B18-03C24FCF5E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71B66D-D61B-D4A9-DA49-3B72B4AB4E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3EF84-6AA6-88AC-565F-6B6E360F8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B8A65-1012-412B-B4F9-4ECC235BFAB8}" type="slidenum"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8042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A61940-9CF6-9445-7BD9-672103F77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CDEED9-2CF5-96F9-7EA5-0CA05E07C9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E2EFF3-ABB4-CF29-B4A2-4907A0416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ED376-9BF6-FC44-5059-D5F7AFD3CA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B8A65-1012-412B-B4F9-4ECC235BFAB8}" type="slidenum"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11181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a typeface="Calibri"/>
              <a:cs typeface="Calibri"/>
            </a:endParaRPr>
          </a:p>
          <a:p>
            <a:pPr marL="171450" indent="-171450">
              <a:buFont typeface="Calibri"/>
              <a:buChar char="-"/>
            </a:pP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8B8A65-1012-412B-B4F9-4ECC235BFAB8}" type="slidenum"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645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88FDCF-7536-FFA8-5BD1-E7EF51069D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B0E659-66E6-0590-C797-A20DBFC946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494DF-D5D3-585A-019C-54290D927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AE3C-792F-4A12-B8F6-06E6D3079F9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52BC2-3B0B-D3F8-A469-15E8ADCD5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B6DECB-6EC9-9F32-9072-2B2D27689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88657-E517-4FBF-9A0E-526EA1A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55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B044F-C5B9-ADD7-356E-E3A80437D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69777-5AA9-67B0-9CD4-01CB230DC5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BE4DB7-11D1-649C-6B4F-2B2955309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AE3C-792F-4A12-B8F6-06E6D3079F9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27EF0-2085-5F1E-C407-01F01A82A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AD7915-8AE9-3E2A-EBFA-8E0F7416F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88657-E517-4FBF-9A0E-526EA1A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82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20E757-8B6B-E950-B51A-CD46B18CE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C4C702-3F28-4851-D3F8-5FBF15306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62C64E-DC4D-8816-84A9-44931CE7F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AE3C-792F-4A12-B8F6-06E6D3079F9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1C0BA-00A4-81FD-B6D2-24AEE11D57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D78C-5B3E-5380-FA7D-2ACEBC7C7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88657-E517-4FBF-9A0E-526EA1A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66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489FD-2547-2A0A-D309-81DBEB73E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BF3FB-1739-D007-6B28-BA8EC31EC3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2D87D5-52A7-7783-D550-28AE914117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44198-F38A-C7A5-23B3-17E73E94E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AE3C-792F-4A12-B8F6-06E6D3079F9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D4964F-497D-FEB2-254C-7C11BE18D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3882F9-0468-82CA-6261-241E53AC6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88657-E517-4FBF-9A0E-526EA1A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738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57B93-B42C-4259-BF0B-FAF9AE20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AD2D7-3404-1F4B-0F36-26B47A2F8E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7FA675-500B-730A-0C13-A6D9566312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047AEF-451A-61CD-EE43-E8CEF6A1C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B62B19-B4F2-D380-1008-7F2F51B50D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7E1760-7FAA-32C5-17E4-3AC17AA44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AE3C-792F-4A12-B8F6-06E6D3079F9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3539A7-B8CB-EDEC-0A8D-78BBBF681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34E1F6-2AE4-C59D-C651-6F7EF2116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88657-E517-4FBF-9A0E-526EA1A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448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07384-ED95-5013-24D8-D2C30F12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58C318-6143-CFFE-33D8-C0CC46472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AE3C-792F-4A12-B8F6-06E6D3079F9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9F5DB6-F5A6-2F62-3AFA-4EF09CEAE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EE39B0-DBAA-E69D-777A-8AE29F58E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88657-E517-4FBF-9A0E-526EA1A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79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4F8B26-7703-E72B-0FFB-F8930B5EB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AE3C-792F-4A12-B8F6-06E6D3079F9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B5735B-70E7-F53A-6574-9C2B5A93B9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18FDBA-D7FC-DDE2-408C-71E526E4B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88657-E517-4FBF-9A0E-526EA1A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794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66DE6C-8F21-4A81-DB47-D9D6EF358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DAC997-1EC4-6CA0-BBC2-1B26E28E6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AE9A0E-DABB-6EF4-8FF7-5AFBE1256A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1B225-A4BA-8DD3-2E46-9A886443F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AE3C-792F-4A12-B8F6-06E6D3079F9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A228F4-B531-14DE-60D8-8A3566019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0FEC1-C974-4186-2D7D-2631EF94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88657-E517-4FBF-9A0E-526EA1A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351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2014D-34FD-08E6-2301-3A848D9CC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FF7E9F-497F-DC60-BC9D-3B8A2EBDAC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35E59-DA0E-0F5E-5EF1-3B7E73B4D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64CA3B-86D6-96CF-C66B-3B5D0875D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AE3C-792F-4A12-B8F6-06E6D3079F9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F3CD6E-5A2B-BAAC-3F62-9A04B0AC7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2BA9E3-B2A6-B60A-E197-F2ED0C897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88657-E517-4FBF-9A0E-526EA1A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7452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32EB-7D76-F33E-4AEA-4F0FA8AE8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7D0711-8130-A1F3-3A8F-770328654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ECD43-FEE6-33F9-BB92-B70B79FB1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AE3C-792F-4A12-B8F6-06E6D3079F9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5810F-67FB-63A5-4BAC-AB0D61B34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F02FC2-B7DB-75A2-5173-D465C7E41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88657-E517-4FBF-9A0E-526EA1A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636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C62AC3-1074-B8D2-96F6-AE78BC639E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585A3C-7F89-9A93-576C-11B30486A9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20D89-7F51-FFA9-D01A-40427E3FE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1AE3C-792F-4A12-B8F6-06E6D3079F9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85999-41AD-E146-904D-2B15D6BD5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F274D-FC16-6921-4789-A6F32F6B1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88657-E517-4FBF-9A0E-526EA1A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028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E8F89E-B737-B991-3EF2-FE7804BE9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34A6C-E48D-4B9E-46D2-EAB0887858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57469-BAC3-A62E-6B0B-3A99C22C77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41AE3C-792F-4A12-B8F6-06E6D3079F9A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A2D9AF-9142-8E03-2A8F-900D28958C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7971F-291E-A3FC-0440-602BCFCDC8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88657-E517-4FBF-9A0E-526EA1A775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260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9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what-is-silhouette-score/" TargetMode="External"/><Relationship Id="rId2" Type="http://schemas.openxmlformats.org/officeDocument/2006/relationships/hyperlink" Target="https://maxhalford.github.io/prince/famd/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jpe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64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99BE15-F698-029B-50D2-77B153DB2B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8663" y="1115219"/>
            <a:ext cx="5505449" cy="2387600"/>
          </a:xfrm>
        </p:spPr>
        <p:txBody>
          <a:bodyPr>
            <a:normAutofit/>
          </a:bodyPr>
          <a:lstStyle/>
          <a:p>
            <a:pPr algn="l"/>
            <a:r>
              <a:rPr lang="en-US" sz="5000" dirty="0">
                <a:solidFill>
                  <a:schemeClr val="bg1"/>
                </a:solidFill>
              </a:rPr>
              <a:t>IMI Big Data &amp; AI Competition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F58069-8F4B-FBA8-9C69-7B56ED8302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8663" y="3902075"/>
            <a:ext cx="6863796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sz="2000">
                <a:solidFill>
                  <a:schemeClr val="bg1"/>
                </a:solidFill>
              </a:rPr>
              <a:t>Team 88: Danny Han, Edward </a:t>
            </a:r>
            <a:r>
              <a:rPr lang="en-US" sz="2000" err="1">
                <a:solidFill>
                  <a:schemeClr val="bg1"/>
                </a:solidFill>
              </a:rPr>
              <a:t>Junsyong</a:t>
            </a:r>
            <a:r>
              <a:rPr lang="en-US" sz="2000">
                <a:solidFill>
                  <a:schemeClr val="bg1"/>
                </a:solidFill>
              </a:rPr>
              <a:t> Lee, Junyi Hou</a:t>
            </a:r>
          </a:p>
          <a:p>
            <a:pPr algn="l"/>
            <a:endParaRPr lang="en-US" sz="2000">
              <a:solidFill>
                <a:schemeClr val="bg1"/>
              </a:solidFill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2155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9" name="Rectangle 188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16439D-4FC7-D65B-A56E-5C2330C82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26549" y="604822"/>
            <a:ext cx="5654565" cy="3387497"/>
          </a:xfrm>
        </p:spPr>
        <p:txBody>
          <a:bodyPr anchor="b">
            <a:normAutofit/>
          </a:bodyPr>
          <a:lstStyle/>
          <a:p>
            <a:pPr algn="ctr"/>
            <a:r>
              <a:rPr lang="en-US" sz="4000">
                <a:solidFill>
                  <a:srgbClr val="FFFFFF"/>
                </a:solidFill>
              </a:rPr>
              <a:t>Who We Are</a:t>
            </a:r>
          </a:p>
        </p:txBody>
      </p:sp>
      <p:graphicFrame>
        <p:nvGraphicFramePr>
          <p:cNvPr id="195" name="Content Placeholder 2">
            <a:extLst>
              <a:ext uri="{FF2B5EF4-FFF2-40B4-BE49-F238E27FC236}">
                <a16:creationId xmlns:a16="http://schemas.microsoft.com/office/drawing/2014/main" id="{FFC788AD-2443-2F9F-7FD6-1D9186A05F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5552291"/>
              </p:ext>
            </p:extLst>
          </p:nvPr>
        </p:nvGraphicFramePr>
        <p:xfrm>
          <a:off x="5798683" y="649480"/>
          <a:ext cx="6271398" cy="55460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08917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2" name="Rectangle 5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E2A721-E490-E45C-A0B8-C0E2B298D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7934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Introduction: Deliverables Summary</a:t>
            </a:r>
          </a:p>
        </p:txBody>
      </p:sp>
      <p:graphicFrame>
        <p:nvGraphicFramePr>
          <p:cNvPr id="21" name="内容占位符 2">
            <a:extLst>
              <a:ext uri="{FF2B5EF4-FFF2-40B4-BE49-F238E27FC236}">
                <a16:creationId xmlns:a16="http://schemas.microsoft.com/office/drawing/2014/main" id="{A8AEACD1-C670-DB50-52C2-8DE6BC9122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2373433"/>
              </p:ext>
            </p:extLst>
          </p:nvPr>
        </p:nvGraphicFramePr>
        <p:xfrm>
          <a:off x="223521" y="1666241"/>
          <a:ext cx="11768900" cy="5085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5523070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68936D-36CC-277A-51B2-B0CAB6B24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299387E-8B0F-8E5F-D717-D1B7B24F3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0273" y="237878"/>
            <a:ext cx="8048047" cy="115920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Introduction: Deliverables Summary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929451F-D058-37BA-FA8C-84D74F3E72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96" y="1812188"/>
            <a:ext cx="11827008" cy="476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793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2C0706-397A-1D43-0F4E-A28447C9E3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56977F-7924-3F45-7726-72493143F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Introduction: Deliverables Summary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2A695FA7-92C1-80CA-6DBD-2694F56AD698}"/>
              </a:ext>
            </a:extLst>
          </p:cNvPr>
          <p:cNvSpPr txBox="1">
            <a:spLocks/>
          </p:cNvSpPr>
          <p:nvPr/>
        </p:nvSpPr>
        <p:spPr>
          <a:xfrm>
            <a:off x="1371599" y="2318197"/>
            <a:ext cx="9724031" cy="36833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sz="2000" b="1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A14395-AD0A-5E92-A366-D055F5AA8072}"/>
              </a:ext>
            </a:extLst>
          </p:cNvPr>
          <p:cNvSpPr txBox="1">
            <a:spLocks/>
          </p:cNvSpPr>
          <p:nvPr/>
        </p:nvSpPr>
        <p:spPr>
          <a:xfrm>
            <a:off x="1089679" y="1470345"/>
            <a:ext cx="10005951" cy="42666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5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>
              <a:buNone/>
            </a:pPr>
            <a:endParaRPr lang="en-US" sz="25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algn="ctr">
              <a:buNone/>
            </a:pPr>
            <a:r>
              <a:rPr lang="en-US" sz="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Everything is in the </a:t>
            </a:r>
            <a:r>
              <a:rPr lang="en-US" sz="2500" b="1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AML_Submission</a:t>
            </a:r>
            <a:r>
              <a:rPr lang="en-US" sz="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 folder:</a:t>
            </a:r>
          </a:p>
          <a:p>
            <a:pPr marL="0" indent="0" algn="ctr">
              <a:buNone/>
            </a:pPr>
            <a:endParaRPr lang="en-US" sz="2500"/>
          </a:p>
          <a:p>
            <a:pPr marL="0" indent="0" algn="ctr">
              <a:buNone/>
            </a:pPr>
            <a:r>
              <a:rPr lang="en-US" sz="2500"/>
              <a:t>Dataset, AML L</a:t>
            </a:r>
            <a:r>
              <a:rPr lang="en-US" sz="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ibrary, </a:t>
            </a:r>
            <a:r>
              <a:rPr lang="en-US" sz="2500"/>
              <a:t>P</a:t>
            </a:r>
            <a:r>
              <a:rPr lang="en-US" sz="2500" kern="120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ipeline, Trained ML Models, and Required CSV’s</a:t>
            </a:r>
            <a:endParaRPr lang="en-US" altLang="zh-CN" sz="2500" b="1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65527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343B54-DDEE-9755-CA99-45804954A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140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DF52A1-F295-821B-0587-15C95E99817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l="12046" r="29433" b="-1"/>
          <a:stretch>
            <a:fillRect/>
          </a:stretch>
        </p:blipFill>
        <p:spPr>
          <a:xfrm>
            <a:off x="4283902" y="10"/>
            <a:ext cx="7908098" cy="6857992"/>
          </a:xfrm>
          <a:prstGeom prst="rect">
            <a:avLst/>
          </a:prstGeom>
        </p:spPr>
      </p:pic>
      <p:sp>
        <p:nvSpPr>
          <p:cNvPr id="142" name="Rectangle 141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83759F-25F9-3594-49DA-FBE20D157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663" y="1115219"/>
            <a:ext cx="5505449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>
                <a:solidFill>
                  <a:schemeClr val="bg1"/>
                </a:solidFill>
              </a:rPr>
              <a:t>Presentation Overview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A5C74DD-9858-B30E-0EBA-9CDA092BA783}"/>
              </a:ext>
            </a:extLst>
          </p:cNvPr>
          <p:cNvSpPr txBox="1">
            <a:spLocks/>
          </p:cNvSpPr>
          <p:nvPr/>
        </p:nvSpPr>
        <p:spPr>
          <a:xfrm>
            <a:off x="728663" y="3902075"/>
            <a:ext cx="550544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chemeClr val="bg1"/>
                </a:solidFill>
              </a:rPr>
              <a:t>1. AML Knowledge Library</a:t>
            </a:r>
            <a:r>
              <a:rPr lang="en-US" sz="2000">
                <a:solidFill>
                  <a:schemeClr val="bg1"/>
                </a:solidFill>
              </a:rPr>
              <a:t>: How is it built? Who is it for? How did we use it to guide data prep and feature engineering?</a:t>
            </a:r>
          </a:p>
        </p:txBody>
      </p:sp>
      <p:cxnSp>
        <p:nvCxnSpPr>
          <p:cNvPr id="136" name="Straight Connector 135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273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82F6BD-A6F9-A1E7-B452-2BA20AE2A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Rectangle 310">
            <a:extLst>
              <a:ext uri="{FF2B5EF4-FFF2-40B4-BE49-F238E27FC236}">
                <a16:creationId xmlns:a16="http://schemas.microsoft.com/office/drawing/2014/main" id="{27BDFED6-6E33-4606-AFE2-886ADB1C01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93D995-BCC0-EEF5-6BE5-BC7417F867C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t="26677" b="33737"/>
          <a:stretch>
            <a:fillRect/>
          </a:stretch>
        </p:blipFill>
        <p:spPr>
          <a:xfrm>
            <a:off x="4547937" y="-5"/>
            <a:ext cx="7644062" cy="368140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204F0DB-5968-FCC2-4DB3-0EB67DF43B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787" b="-1"/>
          <a:stretch>
            <a:fillRect/>
          </a:stretch>
        </p:blipFill>
        <p:spPr>
          <a:xfrm>
            <a:off x="4547938" y="3681409"/>
            <a:ext cx="7644062" cy="3176595"/>
          </a:xfrm>
          <a:prstGeom prst="rect">
            <a:avLst/>
          </a:prstGeom>
        </p:spPr>
      </p:pic>
      <p:sp>
        <p:nvSpPr>
          <p:cNvPr id="312" name="Rectangle 311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C6E6AAB9-3669-50A6-0D32-87900E831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440" y="1115219"/>
            <a:ext cx="539591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Presentation Overview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3A91C804-4035-07AD-4952-20C0A1DC7B4F}"/>
              </a:ext>
            </a:extLst>
          </p:cNvPr>
          <p:cNvSpPr txBox="1">
            <a:spLocks/>
          </p:cNvSpPr>
          <p:nvPr/>
        </p:nvSpPr>
        <p:spPr>
          <a:xfrm>
            <a:off x="726440" y="3902075"/>
            <a:ext cx="5395912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chemeClr val="bg1"/>
                </a:solidFill>
              </a:rPr>
              <a:t>2.</a:t>
            </a:r>
            <a:r>
              <a:rPr lang="en-US" sz="2000" b="1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Data Preparation:</a:t>
            </a:r>
            <a:r>
              <a:rPr 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Data cleaning + Feature engineering</a:t>
            </a:r>
            <a:endParaRPr lang="en-US" sz="2000" b="1" kern="120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313" name="Straight Connector 312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3681408"/>
            <a:ext cx="11353799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7493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9CCAAC-026F-452A-DC0B-D66DEABA2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22A397E7-BF60-45B2-84C7-B074B76C37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0A369A-2265-6F56-C909-95FEEB8B005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r="22451" b="-2"/>
          <a:stretch>
            <a:fillRect/>
          </a:stretch>
        </p:blipFill>
        <p:spPr>
          <a:xfrm>
            <a:off x="4283902" y="10"/>
            <a:ext cx="7908098" cy="6857992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890DEF05-784E-4B61-89E4-04C4ECF4E5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36000">
                <a:schemeClr val="tx1">
                  <a:lumMod val="95000"/>
                  <a:lumOff val="5000"/>
                </a:schemeClr>
              </a:gs>
              <a:gs pos="81000">
                <a:schemeClr val="tx1">
                  <a:lumMod val="95000"/>
                  <a:lumOff val="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EABD89-9DA5-AA3D-54E7-ABE66060F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663" y="1115219"/>
            <a:ext cx="5505449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>
                <a:solidFill>
                  <a:schemeClr val="bg1"/>
                </a:solidFill>
              </a:rPr>
              <a:t>Presentation Overview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5DDA919-EA60-2944-81C1-374EB2C5BA35}"/>
              </a:ext>
            </a:extLst>
          </p:cNvPr>
          <p:cNvSpPr txBox="1">
            <a:spLocks/>
          </p:cNvSpPr>
          <p:nvPr/>
        </p:nvSpPr>
        <p:spPr>
          <a:xfrm>
            <a:off x="728663" y="3902075"/>
            <a:ext cx="3555239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chemeClr val="bg1"/>
                </a:solidFill>
              </a:rPr>
              <a:t>3. Clustering</a:t>
            </a:r>
            <a:r>
              <a:rPr lang="en-US" sz="2000">
                <a:solidFill>
                  <a:schemeClr val="bg1"/>
                </a:solidFill>
              </a:rPr>
              <a:t>: How does it connect to the bigger picture?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41BAEC7-F7B0-4224-8B18-8F74B7D87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8585" y="3681408"/>
            <a:ext cx="1193482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9075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0B76E3-6AE2-D593-D674-2DC89AC34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 descr="Graph">
            <a:extLst>
              <a:ext uri="{FF2B5EF4-FFF2-40B4-BE49-F238E27FC236}">
                <a16:creationId xmlns:a16="http://schemas.microsoft.com/office/drawing/2014/main" id="{879B2BEF-FBFA-24A3-C0A3-9BFF305DC8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884" r="28181" b="3207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100" name="Rectangle 99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DBFEFD-8891-A58A-6C60-E54CB73C9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>
                <a:solidFill>
                  <a:schemeClr val="bg1"/>
                </a:solidFill>
              </a:rPr>
              <a:t>Presentation Overview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014D4A1D-9935-48F8-16F9-00559FBDD50D}"/>
              </a:ext>
            </a:extLst>
          </p:cNvPr>
          <p:cNvSpPr txBox="1">
            <a:spLocks/>
          </p:cNvSpPr>
          <p:nvPr/>
        </p:nvSpPr>
        <p:spPr>
          <a:xfrm>
            <a:off x="477980" y="4872922"/>
            <a:ext cx="4023359" cy="1208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chemeClr val="bg1"/>
                </a:solidFill>
              </a:rPr>
              <a:t>4. ML Algorithms:</a:t>
            </a:r>
            <a:r>
              <a:rPr lang="en-US" sz="2000">
                <a:solidFill>
                  <a:schemeClr val="bg1"/>
                </a:solidFill>
              </a:rPr>
              <a:t> Unsupervised models that were tested, why they were used, and how they scored each customer.</a:t>
            </a:r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245964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168EF5-A9D7-976A-A20E-74905558B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Rectangle 77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81">
            <a:extLst>
              <a:ext uri="{FF2B5EF4-FFF2-40B4-BE49-F238E27FC236}">
                <a16:creationId xmlns:a16="http://schemas.microsoft.com/office/drawing/2014/main" id="{74E65F23-789E-4CB9-B34F-46A85E25D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83" name="Oval 82">
              <a:extLst>
                <a:ext uri="{FF2B5EF4-FFF2-40B4-BE49-F238E27FC236}">
                  <a16:creationId xmlns:a16="http://schemas.microsoft.com/office/drawing/2014/main" id="{1CA207F7-3B67-4EA2-8EC5-1260B55A07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4" name="Oval 83">
              <a:extLst>
                <a:ext uri="{FF2B5EF4-FFF2-40B4-BE49-F238E27FC236}">
                  <a16:creationId xmlns:a16="http://schemas.microsoft.com/office/drawing/2014/main" id="{AD4CC450-51C3-4A41-B2B1-68A15D57C5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5" name="Oval 84">
              <a:extLst>
                <a:ext uri="{FF2B5EF4-FFF2-40B4-BE49-F238E27FC236}">
                  <a16:creationId xmlns:a16="http://schemas.microsoft.com/office/drawing/2014/main" id="{ED62506D-F8E8-4C55-B160-D4FE89850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6" name="Oval 85">
              <a:extLst>
                <a:ext uri="{FF2B5EF4-FFF2-40B4-BE49-F238E27FC236}">
                  <a16:creationId xmlns:a16="http://schemas.microsoft.com/office/drawing/2014/main" id="{E6004793-0083-43B9-81A2-20F71D2C7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7" name="Oval 86">
              <a:extLst>
                <a:ext uri="{FF2B5EF4-FFF2-40B4-BE49-F238E27FC236}">
                  <a16:creationId xmlns:a16="http://schemas.microsoft.com/office/drawing/2014/main" id="{53D192AA-AFCB-470F-B66A-18815C352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9079B0CF-0B4C-42A9-9769-3AC0A34FA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92EB177-D070-8AF4-FE33-87ECD743D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260992" cy="209675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Presentation Overview</a:t>
            </a:r>
          </a:p>
        </p:txBody>
      </p:sp>
      <p:sp>
        <p:nvSpPr>
          <p:cNvPr id="55" name="内容占位符 2">
            <a:extLst>
              <a:ext uri="{FF2B5EF4-FFF2-40B4-BE49-F238E27FC236}">
                <a16:creationId xmlns:a16="http://schemas.microsoft.com/office/drawing/2014/main" id="{CB98ED90-71D3-4956-6ACC-807ACBC9EF5A}"/>
              </a:ext>
            </a:extLst>
          </p:cNvPr>
          <p:cNvSpPr txBox="1">
            <a:spLocks/>
          </p:cNvSpPr>
          <p:nvPr/>
        </p:nvSpPr>
        <p:spPr>
          <a:xfrm>
            <a:off x="5361994" y="757366"/>
            <a:ext cx="5836347" cy="209676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chemeClr val="bg1"/>
                </a:solidFill>
              </a:rPr>
              <a:t>5. Pipeline: Rule-Based Algorithm</a:t>
            </a:r>
          </a:p>
          <a:p>
            <a:pPr marL="0" indent="0">
              <a:buNone/>
            </a:pPr>
            <a:endParaRPr lang="en-US" sz="1100" b="1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How it incorporates insights from AML Library, engineered features, and clustering to produce rule-based scores for every customer</a:t>
            </a:r>
            <a:r>
              <a:rPr lang="en-US" sz="1800" b="1">
                <a:solidFill>
                  <a:schemeClr val="bg1"/>
                </a:solidFill>
              </a:rPr>
              <a:t>.</a:t>
            </a: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8" name="Rectangle 97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6" y="5940561"/>
            <a:ext cx="1285875" cy="549007"/>
            <a:chOff x="7029447" y="3514725"/>
            <a:chExt cx="1285875" cy="549007"/>
          </a:xfrm>
        </p:grpSpPr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460FF42A-7ED0-51F5-3CA9-E4F61FF43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126" y="2993695"/>
            <a:ext cx="11294162" cy="2400008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4043ADFC-DC2E-40D2-954D-4A13B908D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5716" y="3029889"/>
            <a:ext cx="304800" cy="429768"/>
            <a:chOff x="215328" y="-46937"/>
            <a:chExt cx="304800" cy="2773841"/>
          </a:xfrm>
        </p:grpSpPr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975E7D3-10F5-4E53-902F-9E79C98C2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BDC51AAB-5A3B-4730-B8AC-46C96AC0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03A6F2D9-1476-4E35-988D-D4CCB15C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CE17F678-D5C6-49BF-933D-1E65F69B3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789845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A54050-0DDB-6B92-1496-F78C3B274A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4E65F23-789E-4CB9-B34F-46A85E25D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1CA207F7-3B67-4EA2-8EC5-1260B55A07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AD4CC450-51C3-4A41-B2B1-68A15D57C5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D62506D-F8E8-4C55-B160-D4FE89850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E6004793-0083-43B9-81A2-20F71D2C7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53D192AA-AFCB-470F-B66A-18815C352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9079B0CF-0B4C-42A9-9769-3AC0A34FA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A893FC4-ADB7-00D0-F601-E4C91B9635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260992" cy="209675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Presentation Overview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75B72CF3-5C02-8809-CA3C-64CDDF4BFF6D}"/>
              </a:ext>
            </a:extLst>
          </p:cNvPr>
          <p:cNvSpPr txBox="1">
            <a:spLocks/>
          </p:cNvSpPr>
          <p:nvPr/>
        </p:nvSpPr>
        <p:spPr>
          <a:xfrm>
            <a:off x="5677070" y="756350"/>
            <a:ext cx="5064191" cy="209676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chemeClr val="bg1"/>
                </a:solidFill>
              </a:rPr>
              <a:t>6. Pipeline: Fusion Algorithm</a:t>
            </a:r>
          </a:p>
          <a:p>
            <a:pPr marL="0" indent="0">
              <a:buNone/>
            </a:pPr>
            <a:endParaRPr lang="en-US" sz="500" b="1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How it fuses rule-based scores with unique scores from each model to produce Task 2 deliverables.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6" y="5940561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E549B7C-5455-BF55-183F-3F64A06AE3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81" y="2885910"/>
            <a:ext cx="5979221" cy="3265248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4043ADFC-DC2E-40D2-954D-4A13B908D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5716" y="3029889"/>
            <a:ext cx="304800" cy="429768"/>
            <a:chOff x="215328" y="-46937"/>
            <a:chExt cx="304800" cy="2773841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C975E7D3-10F5-4E53-902F-9E79C98C2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BDC51AAB-5A3B-4730-B8AC-46C96AC0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03A6F2D9-1476-4E35-988D-D4CCB15C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CE17F678-D5C6-49BF-933D-1E65F69B3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181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9ADFB5-7B6A-1F58-3EC4-904E470D7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4E65F23-789E-4CB9-B34F-46A85E25D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1CA207F7-3B67-4EA2-8EC5-1260B55A07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D4CC450-51C3-4A41-B2B1-68A15D57C5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D62506D-F8E8-4C55-B160-D4FE898504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6004793-0083-43B9-81A2-20F71D2C7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53D192AA-AFCB-470F-B66A-18815C352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079B0CF-0B4C-42A9-9769-3AC0A34FA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7030E9C-6A89-09C6-ABC9-989F0E854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260992" cy="209675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Presentation Overview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A4BBBDE1-2A96-C5D6-A54B-8ECF00F3E9F0}"/>
              </a:ext>
            </a:extLst>
          </p:cNvPr>
          <p:cNvSpPr txBox="1">
            <a:spLocks/>
          </p:cNvSpPr>
          <p:nvPr/>
        </p:nvSpPr>
        <p:spPr>
          <a:xfrm>
            <a:off x="5212338" y="756350"/>
            <a:ext cx="6440280" cy="209676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chemeClr val="bg1"/>
                </a:solidFill>
              </a:rPr>
              <a:t>7. Pipeline: Explanation Generator</a:t>
            </a:r>
          </a:p>
          <a:p>
            <a:pPr marL="0" indent="0">
              <a:buNone/>
            </a:pPr>
            <a:endParaRPr lang="en-US" sz="100" b="1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How it fuses rule-based scores with unique scores from each model to produce Task 3 deliverables.</a:t>
            </a:r>
          </a:p>
          <a:p>
            <a:pPr marL="0" indent="0">
              <a:buNone/>
            </a:pPr>
            <a:endParaRPr lang="en-US" b="1">
              <a:solidFill>
                <a:schemeClr val="bg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6" y="5940561"/>
            <a:ext cx="1285875" cy="549007"/>
            <a:chOff x="7029447" y="3514725"/>
            <a:chExt cx="1285875" cy="549007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062FC503-9370-775E-F5A0-0E8061A08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4609" y="2209527"/>
            <a:ext cx="8860640" cy="3903414"/>
          </a:xfrm>
          <a:prstGeom prst="rect">
            <a:avLst/>
          </a:prstGeom>
        </p:spPr>
      </p:pic>
      <p:grpSp>
        <p:nvGrpSpPr>
          <p:cNvPr id="39" name="Group 38">
            <a:extLst>
              <a:ext uri="{FF2B5EF4-FFF2-40B4-BE49-F238E27FC236}">
                <a16:creationId xmlns:a16="http://schemas.microsoft.com/office/drawing/2014/main" id="{4043ADFC-DC2E-40D2-954D-4A13B908D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5716" y="3029889"/>
            <a:ext cx="304800" cy="429768"/>
            <a:chOff x="215328" y="-46937"/>
            <a:chExt cx="304800" cy="2773841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975E7D3-10F5-4E53-902F-9E79C98C22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BDC51AAB-5A3B-4730-B8AC-46C96AC0B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3A6F2D9-1476-4E35-988D-D4CCB15C8D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CE17F678-D5C6-49BF-933D-1E65F69B32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349362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55F4C6-FC4D-7FE0-CD34-271AC50B1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0671A8AE-40A1-4631-A6B8-581AFF0654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670FC2-A701-D293-3C6D-BE67A8A7FD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302" r="16117" b="3790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AB58EF07-17C2-48CF-ABB0-EEF1F17CB8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933920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3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98B00E8-C403-EF02-DF28-AB919078D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Presentation Overview</a:t>
            </a:r>
          </a:p>
        </p:txBody>
      </p: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EFA95F63-754E-1FBE-2DC4-0E0FA32F391D}"/>
              </a:ext>
            </a:extLst>
          </p:cNvPr>
          <p:cNvSpPr txBox="1">
            <a:spLocks/>
          </p:cNvSpPr>
          <p:nvPr/>
        </p:nvSpPr>
        <p:spPr>
          <a:xfrm>
            <a:off x="477980" y="4872922"/>
            <a:ext cx="4023359" cy="12081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chemeClr val="bg1"/>
                </a:solidFill>
              </a:rPr>
              <a:t>8. Python GUI App: Explanation Viewer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96014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E5FA3B-26E9-0806-43A8-B7711F822453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b="25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4B6B50-9FE8-6986-BC2D-2CA6EC2C1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AML Library: Website + Markdown Docs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E3372338-EBE4-D758-5418-925F0BBA7F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49118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37577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B1CCB8-2080-D63D-5C79-3F7DA5D6F6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0135" y="5744221"/>
            <a:ext cx="1102868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https://code-of-toad.github.io/utm-25-26-IMI-big-data-AI-Competition/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1C9AF9-D651-8C13-A0A0-3D9FC7C64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950" y="245034"/>
            <a:ext cx="11179050" cy="5254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8786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3FAE6C-C5E5-FB1D-12B0-8E815B14084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2132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622BA3-164E-663C-1DB7-6830016CD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AML Library: Who is it designed for?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1A84627-A912-E5AF-EA52-3B1DF26095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9070858"/>
              </p:ext>
            </p:extLst>
          </p:nvPr>
        </p:nvGraphicFramePr>
        <p:xfrm>
          <a:off x="838200" y="1571627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494263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499499-5678-89F4-F217-95C402AA5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961BA0-34F2-CE0C-B240-3A45CAC38D9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</a:blip>
          <a:srcRect t="2132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5EBD497-54A3-2CBE-D3C2-900E35E74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AML Library: Who is it designed for?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CD6609-91F2-D174-69E6-4831B6BF52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5672209"/>
              </p:ext>
            </p:extLst>
          </p:nvPr>
        </p:nvGraphicFramePr>
        <p:xfrm>
          <a:off x="838200" y="1848148"/>
          <a:ext cx="10515600" cy="3596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207340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D01925-ED92-34F9-AA39-800CD9B6C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58A652D-D463-68AC-562A-4E79ED0A02A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</a:blip>
          <a:srcRect b="127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74D2936-7A5F-A28F-36E2-F8B3EC634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AML Library: How we used it for feature engineering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1F75587A-E8BC-D3A4-18AC-5F3A611714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2103063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51966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1D9AC8-AAF0-6C6F-0668-B719596B9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41C92A-EB99-64A5-D2FC-8AC79F667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AML Library: Markdown Docs (How to use it)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34D8B319-6535-9006-D32D-31FC31A679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5727272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9337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A8D224-5944-F691-12DF-DF529971E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Rectangle 255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445F9C-53FA-526A-CD68-776487896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663" y="1422400"/>
            <a:ext cx="4715404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dirty="0">
                <a:solidFill>
                  <a:schemeClr val="bg1"/>
                </a:solidFill>
              </a:rPr>
              <a:t>Data Preparation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90A67B-4963-79BD-D836-DD4EB2D4A361}"/>
              </a:ext>
            </a:extLst>
          </p:cNvPr>
          <p:cNvSpPr txBox="1"/>
          <p:nvPr/>
        </p:nvSpPr>
        <p:spPr>
          <a:xfrm>
            <a:off x="728663" y="3902075"/>
            <a:ext cx="4505552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000">
                <a:solidFill>
                  <a:schemeClr val="bg1"/>
                </a:solidFill>
                <a:effectLst/>
              </a:rPr>
              <a:t>Raw KYC and transaction data are cleaned into </a:t>
            </a:r>
            <a:r>
              <a:rPr lang="en-US" sz="2000" b="1">
                <a:solidFill>
                  <a:schemeClr val="bg1"/>
                </a:solidFill>
                <a:effectLst/>
              </a:rPr>
              <a:t>master customer and transaction</a:t>
            </a:r>
            <a:r>
              <a:rPr lang="en-US" sz="2000">
                <a:solidFill>
                  <a:schemeClr val="bg1"/>
                </a:solidFill>
                <a:effectLst/>
              </a:rPr>
              <a:t> tables.</a:t>
            </a:r>
            <a:endParaRPr lang="en-US" sz="2000">
              <a:solidFill>
                <a:schemeClr val="bg1"/>
              </a:solidFill>
            </a:endParaRPr>
          </a:p>
        </p:txBody>
      </p:sp>
      <p:sp>
        <p:nvSpPr>
          <p:cNvPr id="258" name="Freeform: Shape 257">
            <a:extLst>
              <a:ext uri="{FF2B5EF4-FFF2-40B4-BE49-F238E27FC236}">
                <a16:creationId xmlns:a16="http://schemas.microsoft.com/office/drawing/2014/main" id="{0277405F-0B4F-4418-B773-1B3881412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0421" y="226893"/>
            <a:ext cx="5968658" cy="6085007"/>
          </a:xfrm>
          <a:custGeom>
            <a:avLst/>
            <a:gdLst>
              <a:gd name="connsiteX0" fmla="*/ 0 w 5968658"/>
              <a:gd name="connsiteY0" fmla="*/ 0 h 6085007"/>
              <a:gd name="connsiteX1" fmla="*/ 3557919 w 5968658"/>
              <a:gd name="connsiteY1" fmla="*/ 0 h 6085007"/>
              <a:gd name="connsiteX2" fmla="*/ 3557919 w 5968658"/>
              <a:gd name="connsiteY2" fmla="*/ 2195749 h 6085007"/>
              <a:gd name="connsiteX3" fmla="*/ 5968658 w 5968658"/>
              <a:gd name="connsiteY3" fmla="*/ 2195749 h 6085007"/>
              <a:gd name="connsiteX4" fmla="*/ 5968658 w 5968658"/>
              <a:gd name="connsiteY4" fmla="*/ 6085007 h 6085007"/>
              <a:gd name="connsiteX5" fmla="*/ 2058230 w 5968658"/>
              <a:gd name="connsiteY5" fmla="*/ 6085007 h 6085007"/>
              <a:gd name="connsiteX6" fmla="*/ 2058230 w 5968658"/>
              <a:gd name="connsiteY6" fmla="*/ 3538657 h 6085007"/>
              <a:gd name="connsiteX7" fmla="*/ 0 w 5968658"/>
              <a:gd name="connsiteY7" fmla="*/ 3538657 h 60850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968658" h="6085007">
                <a:moveTo>
                  <a:pt x="0" y="0"/>
                </a:moveTo>
                <a:lnTo>
                  <a:pt x="3557919" y="0"/>
                </a:lnTo>
                <a:lnTo>
                  <a:pt x="3557919" y="2195749"/>
                </a:lnTo>
                <a:lnTo>
                  <a:pt x="5968658" y="2195749"/>
                </a:lnTo>
                <a:lnTo>
                  <a:pt x="5968658" y="6085007"/>
                </a:lnTo>
                <a:lnTo>
                  <a:pt x="2058230" y="6085007"/>
                </a:lnTo>
                <a:lnTo>
                  <a:pt x="2058230" y="3538657"/>
                </a:lnTo>
                <a:lnTo>
                  <a:pt x="0" y="3538657"/>
                </a:lnTo>
                <a:close/>
              </a:path>
            </a:pathLst>
          </a:custGeom>
          <a:solidFill>
            <a:schemeClr val="tx1">
              <a:lumMod val="95000"/>
              <a:lumOff val="5000"/>
            </a:schemeClr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875019E8-EDC3-DD1D-A55E-E8B8BC643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8324" y="2663211"/>
            <a:ext cx="2871083" cy="340812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FA0AB69F-22F7-51B6-A465-EEE4F7F73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655" y="1157923"/>
            <a:ext cx="4681338" cy="104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919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B67913-049A-770D-67E8-AA2A8C748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91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BC2870-1F3D-D993-99E6-5D62578C7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027" y="1031360"/>
            <a:ext cx="4707671" cy="12256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Data Preparation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BE13B8-35AE-2E2B-8E90-D3E038D77987}"/>
              </a:ext>
            </a:extLst>
          </p:cNvPr>
          <p:cNvSpPr txBox="1"/>
          <p:nvPr/>
        </p:nvSpPr>
        <p:spPr>
          <a:xfrm>
            <a:off x="608767" y="2525992"/>
            <a:ext cx="4094758" cy="270640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b="1">
                <a:solidFill>
                  <a:schemeClr val="bg1"/>
                </a:solidFill>
              </a:rPr>
              <a:t>Engineer features</a:t>
            </a:r>
            <a:r>
              <a:rPr lang="en-US" sz="2000">
                <a:solidFill>
                  <a:schemeClr val="bg1"/>
                </a:solidFill>
              </a:rPr>
              <a:t> from those tables using the </a:t>
            </a:r>
            <a:r>
              <a:rPr lang="en-US" sz="2000" b="1">
                <a:solidFill>
                  <a:schemeClr val="bg1"/>
                </a:solidFill>
              </a:rPr>
              <a:t>AML Knowledge Library</a:t>
            </a:r>
            <a:r>
              <a:rPr lang="en-US" sz="2000">
                <a:solidFill>
                  <a:schemeClr val="bg1"/>
                </a:solidFill>
              </a:rPr>
              <a:t> (red-flag mapping)</a:t>
            </a:r>
            <a:r>
              <a:rPr lang="en-US" sz="2000" b="1">
                <a:solidFill>
                  <a:schemeClr val="bg1"/>
                </a:solidFill>
              </a:rPr>
              <a:t> </a:t>
            </a:r>
            <a:r>
              <a:rPr lang="en-US" sz="2000">
                <a:solidFill>
                  <a:schemeClr val="bg1"/>
                </a:solidFill>
              </a:rPr>
              <a:t>and run </a:t>
            </a:r>
            <a:r>
              <a:rPr lang="en-US" sz="2000" b="1">
                <a:solidFill>
                  <a:schemeClr val="bg1"/>
                </a:solidFill>
              </a:rPr>
              <a:t>clustering</a:t>
            </a:r>
            <a:r>
              <a:rPr lang="en-US" sz="2000">
                <a:solidFill>
                  <a:schemeClr val="bg1"/>
                </a:solidFill>
              </a:rPr>
              <a:t> on the customer (and transaction-derived) data.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>
                <a:solidFill>
                  <a:schemeClr val="bg1"/>
                </a:solidFill>
              </a:rPr>
              <a:t>We </a:t>
            </a:r>
            <a:r>
              <a:rPr lang="en-US" b="1">
                <a:solidFill>
                  <a:schemeClr val="bg1"/>
                </a:solidFill>
              </a:rPr>
              <a:t>merge</a:t>
            </a:r>
            <a:r>
              <a:rPr lang="en-US">
                <a:solidFill>
                  <a:schemeClr val="bg1"/>
                </a:solidFill>
              </a:rPr>
              <a:t> the cluster labels into the feature table to get: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900">
              <a:solidFill>
                <a:schemeClr val="bg1"/>
              </a:solidFill>
            </a:endParaRPr>
          </a:p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b="1">
                <a:solidFill>
                  <a:schemeClr val="bg1"/>
                </a:solidFill>
              </a:rPr>
              <a:t>master_features_with_clustering.csv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5F2244-3146-A63A-E530-A6C3A9983A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9731" y="1844908"/>
            <a:ext cx="6543881" cy="3091983"/>
          </a:xfrm>
          <a:prstGeom prst="rect">
            <a:avLst/>
          </a:prstGeom>
        </p:spPr>
      </p:pic>
      <p:sp>
        <p:nvSpPr>
          <p:cNvPr id="94" name="Rectangle 93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>
            <a:extLst>
              <a:ext uri="{FF2B5EF4-FFF2-40B4-BE49-F238E27FC236}">
                <a16:creationId xmlns:a16="http://schemas.microsoft.com/office/drawing/2014/main" id="{C61F2F60-14E3-4196-B7CE-175E46F044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2461" y="1159669"/>
            <a:ext cx="10987078" cy="4462463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001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8A99A1-6D27-90BE-7AA2-121B5A334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master_features_with_clustering.csv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09200-52D0-5E9B-46BD-2A624DDFA402}"/>
              </a:ext>
            </a:extLst>
          </p:cNvPr>
          <p:cNvSpPr txBox="1"/>
          <p:nvPr/>
        </p:nvSpPr>
        <p:spPr>
          <a:xfrm>
            <a:off x="576914" y="1808480"/>
            <a:ext cx="5712126" cy="42942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</a:pPr>
            <a:r>
              <a:rPr lang="en-US" sz="1600" b="1">
                <a:effectLst/>
              </a:rPr>
              <a:t>Columns: </a:t>
            </a:r>
            <a:r>
              <a:rPr lang="en-US" sz="1600" err="1">
                <a:effectLst/>
              </a:rPr>
              <a:t>customer_id</a:t>
            </a:r>
            <a:r>
              <a:rPr lang="en-US" sz="1600">
                <a:effectLst/>
              </a:rPr>
              <a:t>, </a:t>
            </a:r>
            <a:r>
              <a:rPr lang="en-US" sz="1600" err="1">
                <a:effectLst/>
              </a:rPr>
              <a:t>kyc_type</a:t>
            </a:r>
            <a:r>
              <a:rPr lang="en-US" sz="1600">
                <a:effectLst/>
              </a:rPr>
              <a:t>, 180+ engineered features, and cluster.</a:t>
            </a:r>
          </a:p>
          <a:p>
            <a:pPr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</a:pPr>
            <a:endParaRPr lang="en-US" sz="1600">
              <a:effectLst/>
            </a:endParaRPr>
          </a:p>
          <a:p>
            <a:pPr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</a:pPr>
            <a:r>
              <a:rPr lang="en-US" sz="1600" b="1">
                <a:effectLst/>
              </a:rPr>
              <a:t>Feature groups (aligned with AML library / pipeline):</a:t>
            </a:r>
          </a:p>
          <a:p>
            <a:pPr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</a:pPr>
            <a:endParaRPr lang="en-US" sz="1600">
              <a:effectLst/>
            </a:endParaRPr>
          </a:p>
          <a:p>
            <a:pPr indent="-2286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b="1">
                <a:effectLst/>
              </a:rPr>
              <a:t>Velocity:</a:t>
            </a:r>
            <a:r>
              <a:rPr lang="en-US" sz="1600">
                <a:effectLst/>
              </a:rPr>
              <a:t> Transaction counts, per-day rates, flow-through timing, turnover, sudden inflow/outflow.</a:t>
            </a:r>
          </a:p>
          <a:p>
            <a:pPr indent="-2286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b="1">
                <a:effectLst/>
              </a:rPr>
              <a:t>Amount / structuring:</a:t>
            </a:r>
            <a:r>
              <a:rPr lang="en-US" sz="1600">
                <a:effectLst/>
              </a:rPr>
              <a:t> Means, round amounts, just-below-threshold counts, structuring flag, large-</a:t>
            </a:r>
            <a:r>
              <a:rPr lang="en-US" sz="1600" err="1">
                <a:effectLst/>
              </a:rPr>
              <a:t>txn</a:t>
            </a:r>
            <a:r>
              <a:rPr lang="en-US" sz="1600">
                <a:effectLst/>
              </a:rPr>
              <a:t> counts (10k/50k/100k).</a:t>
            </a:r>
          </a:p>
          <a:p>
            <a:pPr indent="-2286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b="1">
                <a:effectLst/>
              </a:rPr>
              <a:t>Channel:</a:t>
            </a:r>
            <a:r>
              <a:rPr lang="en-US" sz="1600">
                <a:effectLst/>
              </a:rPr>
              <a:t> Wire, ABM/cash, Western Union, EFT/EMT/card/cheque volumes and flags; multi-channel.</a:t>
            </a:r>
          </a:p>
          <a:p>
            <a:pPr indent="-2286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b="1">
                <a:effectLst/>
              </a:rPr>
              <a:t>Geographic:</a:t>
            </a:r>
            <a:r>
              <a:rPr lang="en-US" sz="1600">
                <a:effectLst/>
              </a:rPr>
              <a:t> Country/province/city diversity, cross-border flags, high-risk jurisdiction flags (e.g. offshore, TBML, shell).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051671-BF9E-BAB2-315D-3D87C304A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10" y="1669411"/>
            <a:ext cx="4737650" cy="35413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739695-C42B-15BE-5B6A-1A868A7C182C}"/>
              </a:ext>
            </a:extLst>
          </p:cNvPr>
          <p:cNvSpPr txBox="1"/>
          <p:nvPr/>
        </p:nvSpPr>
        <p:spPr>
          <a:xfrm>
            <a:off x="65887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38479889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94507A-B512-E495-D71E-41811E1EC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F821940F-7A1D-4ACC-85B4-A932898A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16674508-81D3-48CF-96BF-7FC60EAA57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741994" cy="6858000"/>
          </a:xfrm>
          <a:custGeom>
            <a:avLst/>
            <a:gdLst>
              <a:gd name="connsiteX0" fmla="*/ 0 w 6568309"/>
              <a:gd name="connsiteY0" fmla="*/ 0 h 6858000"/>
              <a:gd name="connsiteX1" fmla="*/ 362841 w 6568309"/>
              <a:gd name="connsiteY1" fmla="*/ 0 h 6858000"/>
              <a:gd name="connsiteX2" fmla="*/ 523269 w 6568309"/>
              <a:gd name="connsiteY2" fmla="*/ 0 h 6858000"/>
              <a:gd name="connsiteX3" fmla="*/ 1343025 w 6568309"/>
              <a:gd name="connsiteY3" fmla="*/ 0 h 6858000"/>
              <a:gd name="connsiteX4" fmla="*/ 1705866 w 6568309"/>
              <a:gd name="connsiteY4" fmla="*/ 0 h 6858000"/>
              <a:gd name="connsiteX5" fmla="*/ 1866294 w 6568309"/>
              <a:gd name="connsiteY5" fmla="*/ 0 h 6858000"/>
              <a:gd name="connsiteX6" fmla="*/ 5225154 w 6568309"/>
              <a:gd name="connsiteY6" fmla="*/ 0 h 6858000"/>
              <a:gd name="connsiteX7" fmla="*/ 6568179 w 6568309"/>
              <a:gd name="connsiteY7" fmla="*/ 0 h 6858000"/>
              <a:gd name="connsiteX8" fmla="*/ 6568309 w 6568309"/>
              <a:gd name="connsiteY8" fmla="*/ 1 h 6858000"/>
              <a:gd name="connsiteX9" fmla="*/ 6562951 w 6568309"/>
              <a:gd name="connsiteY9" fmla="*/ 30700 h 6858000"/>
              <a:gd name="connsiteX10" fmla="*/ 6547446 w 6568309"/>
              <a:gd name="connsiteY10" fmla="*/ 310025 h 6858000"/>
              <a:gd name="connsiteX11" fmla="*/ 6558316 w 6568309"/>
              <a:gd name="connsiteY11" fmla="*/ 443960 h 6858000"/>
              <a:gd name="connsiteX12" fmla="*/ 6528896 w 6568309"/>
              <a:gd name="connsiteY12" fmla="*/ 642659 h 6858000"/>
              <a:gd name="connsiteX13" fmla="*/ 6523095 w 6568309"/>
              <a:gd name="connsiteY13" fmla="*/ 673307 h 6858000"/>
              <a:gd name="connsiteX14" fmla="*/ 6496169 w 6568309"/>
              <a:gd name="connsiteY14" fmla="*/ 839641 h 6858000"/>
              <a:gd name="connsiteX15" fmla="*/ 6450789 w 6568309"/>
              <a:gd name="connsiteY15" fmla="*/ 958357 h 6858000"/>
              <a:gd name="connsiteX16" fmla="*/ 6453996 w 6568309"/>
              <a:gd name="connsiteY16" fmla="*/ 963398 h 6858000"/>
              <a:gd name="connsiteX17" fmla="*/ 6419467 w 6568309"/>
              <a:gd name="connsiteY17" fmla="*/ 1117169 h 6858000"/>
              <a:gd name="connsiteX18" fmla="*/ 6417348 w 6568309"/>
              <a:gd name="connsiteY18" fmla="*/ 1144352 h 6858000"/>
              <a:gd name="connsiteX19" fmla="*/ 6418473 w 6568309"/>
              <a:gd name="connsiteY19" fmla="*/ 1164484 h 6858000"/>
              <a:gd name="connsiteX20" fmla="*/ 6406979 w 6568309"/>
              <a:gd name="connsiteY20" fmla="*/ 1213829 h 6858000"/>
              <a:gd name="connsiteX21" fmla="*/ 6381928 w 6568309"/>
              <a:gd name="connsiteY21" fmla="*/ 1294823 h 6858000"/>
              <a:gd name="connsiteX22" fmla="*/ 6377948 w 6568309"/>
              <a:gd name="connsiteY22" fmla="*/ 1312193 h 6858000"/>
              <a:gd name="connsiteX23" fmla="*/ 6379894 w 6568309"/>
              <a:gd name="connsiteY23" fmla="*/ 1327626 h 6858000"/>
              <a:gd name="connsiteX24" fmla="*/ 6385024 w 6568309"/>
              <a:gd name="connsiteY24" fmla="*/ 1331644 h 6858000"/>
              <a:gd name="connsiteX25" fmla="*/ 6383696 w 6568309"/>
              <a:gd name="connsiteY25" fmla="*/ 1341276 h 6858000"/>
              <a:gd name="connsiteX26" fmla="*/ 6384464 w 6568309"/>
              <a:gd name="connsiteY26" fmla="*/ 1343945 h 6858000"/>
              <a:gd name="connsiteX27" fmla="*/ 6387748 w 6568309"/>
              <a:gd name="connsiteY27" fmla="*/ 1359134 h 6858000"/>
              <a:gd name="connsiteX28" fmla="*/ 6364157 w 6568309"/>
              <a:gd name="connsiteY28" fmla="*/ 1427803 h 6858000"/>
              <a:gd name="connsiteX29" fmla="*/ 6335874 w 6568309"/>
              <a:gd name="connsiteY29" fmla="*/ 1540278 h 6858000"/>
              <a:gd name="connsiteX30" fmla="*/ 6331892 w 6568309"/>
              <a:gd name="connsiteY30" fmla="*/ 1547262 h 6858000"/>
              <a:gd name="connsiteX31" fmla="*/ 6332744 w 6568309"/>
              <a:gd name="connsiteY31" fmla="*/ 1577056 h 6858000"/>
              <a:gd name="connsiteX32" fmla="*/ 6333604 w 6568309"/>
              <a:gd name="connsiteY32" fmla="*/ 1595898 h 6858000"/>
              <a:gd name="connsiteX33" fmla="*/ 6324749 w 6568309"/>
              <a:gd name="connsiteY33" fmla="*/ 1703726 h 6858000"/>
              <a:gd name="connsiteX34" fmla="*/ 6329594 w 6568309"/>
              <a:gd name="connsiteY34" fmla="*/ 1809535 h 6858000"/>
              <a:gd name="connsiteX35" fmla="*/ 6329062 w 6568309"/>
              <a:gd name="connsiteY35" fmla="*/ 2018310 h 6858000"/>
              <a:gd name="connsiteX36" fmla="*/ 6321735 w 6568309"/>
              <a:gd name="connsiteY36" fmla="*/ 2071355 h 6858000"/>
              <a:gd name="connsiteX37" fmla="*/ 6322678 w 6568309"/>
              <a:gd name="connsiteY37" fmla="*/ 2141166 h 6858000"/>
              <a:gd name="connsiteX38" fmla="*/ 6321340 w 6568309"/>
              <a:gd name="connsiteY38" fmla="*/ 2154548 h 6858000"/>
              <a:gd name="connsiteX39" fmla="*/ 6316582 w 6568309"/>
              <a:gd name="connsiteY39" fmla="*/ 2158153 h 6858000"/>
              <a:gd name="connsiteX40" fmla="*/ 6311428 w 6568309"/>
              <a:gd name="connsiteY40" fmla="*/ 2178174 h 6858000"/>
              <a:gd name="connsiteX41" fmla="*/ 6310192 w 6568309"/>
              <a:gd name="connsiteY41" fmla="*/ 2202858 h 6858000"/>
              <a:gd name="connsiteX42" fmla="*/ 6309211 w 6568309"/>
              <a:gd name="connsiteY42" fmla="*/ 2320214 h 6858000"/>
              <a:gd name="connsiteX43" fmla="*/ 6300151 w 6568309"/>
              <a:gd name="connsiteY43" fmla="*/ 2417011 h 6858000"/>
              <a:gd name="connsiteX44" fmla="*/ 6295176 w 6568309"/>
              <a:gd name="connsiteY44" fmla="*/ 2454207 h 6858000"/>
              <a:gd name="connsiteX45" fmla="*/ 6293727 w 6568309"/>
              <a:gd name="connsiteY45" fmla="*/ 2487203 h 6858000"/>
              <a:gd name="connsiteX46" fmla="*/ 6285477 w 6568309"/>
              <a:gd name="connsiteY46" fmla="*/ 2512282 h 6858000"/>
              <a:gd name="connsiteX47" fmla="*/ 6286205 w 6568309"/>
              <a:gd name="connsiteY47" fmla="*/ 2514318 h 6858000"/>
              <a:gd name="connsiteX48" fmla="*/ 6304629 w 6568309"/>
              <a:gd name="connsiteY48" fmla="*/ 2574334 h 6858000"/>
              <a:gd name="connsiteX49" fmla="*/ 6303842 w 6568309"/>
              <a:gd name="connsiteY49" fmla="*/ 2579877 h 6858000"/>
              <a:gd name="connsiteX50" fmla="*/ 6303953 w 6568309"/>
              <a:gd name="connsiteY50" fmla="*/ 2608928 h 6858000"/>
              <a:gd name="connsiteX51" fmla="*/ 6303530 w 6568309"/>
              <a:gd name="connsiteY51" fmla="*/ 2613111 h 6858000"/>
              <a:gd name="connsiteX52" fmla="*/ 6297474 w 6568309"/>
              <a:gd name="connsiteY52" fmla="*/ 2621996 h 6858000"/>
              <a:gd name="connsiteX53" fmla="*/ 6299263 w 6568309"/>
              <a:gd name="connsiteY53" fmla="*/ 2634265 h 6858000"/>
              <a:gd name="connsiteX54" fmla="*/ 6293065 w 6568309"/>
              <a:gd name="connsiteY54" fmla="*/ 2647237 h 6858000"/>
              <a:gd name="connsiteX55" fmla="*/ 6297496 w 6568309"/>
              <a:gd name="connsiteY55" fmla="*/ 2650786 h 6858000"/>
              <a:gd name="connsiteX56" fmla="*/ 6301708 w 6568309"/>
              <a:gd name="connsiteY56" fmla="*/ 2661993 h 6858000"/>
              <a:gd name="connsiteX57" fmla="*/ 6295884 w 6568309"/>
              <a:gd name="connsiteY57" fmla="*/ 2670949 h 6858000"/>
              <a:gd name="connsiteX58" fmla="*/ 6291714 w 6568309"/>
              <a:gd name="connsiteY58" fmla="*/ 2690255 h 6858000"/>
              <a:gd name="connsiteX59" fmla="*/ 6292327 w 6568309"/>
              <a:gd name="connsiteY59" fmla="*/ 2695683 h 6858000"/>
              <a:gd name="connsiteX60" fmla="*/ 6284410 w 6568309"/>
              <a:gd name="connsiteY60" fmla="*/ 2713964 h 6858000"/>
              <a:gd name="connsiteX61" fmla="*/ 6280410 w 6568309"/>
              <a:gd name="connsiteY61" fmla="*/ 2730175 h 6858000"/>
              <a:gd name="connsiteX62" fmla="*/ 6288082 w 6568309"/>
              <a:gd name="connsiteY62" fmla="*/ 2763497 h 6858000"/>
              <a:gd name="connsiteX63" fmla="*/ 6260924 w 6568309"/>
              <a:gd name="connsiteY63" fmla="*/ 3051539 h 6858000"/>
              <a:gd name="connsiteX64" fmla="*/ 6210151 w 6568309"/>
              <a:gd name="connsiteY64" fmla="*/ 3335396 h 6858000"/>
              <a:gd name="connsiteX65" fmla="*/ 6212034 w 6568309"/>
              <a:gd name="connsiteY65" fmla="*/ 3456509 h 6858000"/>
              <a:gd name="connsiteX66" fmla="*/ 6197490 w 6568309"/>
              <a:gd name="connsiteY66" fmla="*/ 3531827 h 6858000"/>
              <a:gd name="connsiteX67" fmla="*/ 6208018 w 6568309"/>
              <a:gd name="connsiteY67" fmla="*/ 3570877 h 6858000"/>
              <a:gd name="connsiteX68" fmla="*/ 6205920 w 6568309"/>
              <a:gd name="connsiteY68" fmla="*/ 3583849 h 6858000"/>
              <a:gd name="connsiteX69" fmla="*/ 6199616 w 6568309"/>
              <a:gd name="connsiteY69" fmla="*/ 3592763 h 6858000"/>
              <a:gd name="connsiteX70" fmla="*/ 6181288 w 6568309"/>
              <a:gd name="connsiteY70" fmla="*/ 3653485 h 6858000"/>
              <a:gd name="connsiteX71" fmla="*/ 6175963 w 6568309"/>
              <a:gd name="connsiteY71" fmla="*/ 3670528 h 6858000"/>
              <a:gd name="connsiteX72" fmla="*/ 6176722 w 6568309"/>
              <a:gd name="connsiteY72" fmla="*/ 3685990 h 6858000"/>
              <a:gd name="connsiteX73" fmla="*/ 6181549 w 6568309"/>
              <a:gd name="connsiteY73" fmla="*/ 3690283 h 6858000"/>
              <a:gd name="connsiteX74" fmla="*/ 6179476 w 6568309"/>
              <a:gd name="connsiteY74" fmla="*/ 3699787 h 6858000"/>
              <a:gd name="connsiteX75" fmla="*/ 6180040 w 6568309"/>
              <a:gd name="connsiteY75" fmla="*/ 3702486 h 6858000"/>
              <a:gd name="connsiteX76" fmla="*/ 6182155 w 6568309"/>
              <a:gd name="connsiteY76" fmla="*/ 3717784 h 6858000"/>
              <a:gd name="connsiteX77" fmla="*/ 6158980 w 6568309"/>
              <a:gd name="connsiteY77" fmla="*/ 3746229 h 6858000"/>
              <a:gd name="connsiteX78" fmla="*/ 6096049 w 6568309"/>
              <a:gd name="connsiteY78" fmla="*/ 3924910 h 6858000"/>
              <a:gd name="connsiteX79" fmla="*/ 6069712 w 6568309"/>
              <a:gd name="connsiteY79" fmla="*/ 3989353 h 6858000"/>
              <a:gd name="connsiteX80" fmla="*/ 6067330 w 6568309"/>
              <a:gd name="connsiteY80" fmla="*/ 4033899 h 6858000"/>
              <a:gd name="connsiteX81" fmla="*/ 6061081 w 6568309"/>
              <a:gd name="connsiteY81" fmla="*/ 4142250 h 6858000"/>
              <a:gd name="connsiteX82" fmla="*/ 6042858 w 6568309"/>
              <a:gd name="connsiteY82" fmla="*/ 4329442 h 6858000"/>
              <a:gd name="connsiteX83" fmla="*/ 6034182 w 6568309"/>
              <a:gd name="connsiteY83" fmla="*/ 4456184 h 6858000"/>
              <a:gd name="connsiteX84" fmla="*/ 6029178 w 6568309"/>
              <a:gd name="connsiteY84" fmla="*/ 4468478 h 6858000"/>
              <a:gd name="connsiteX85" fmla="*/ 6029974 w 6568309"/>
              <a:gd name="connsiteY85" fmla="*/ 4469862 h 6858000"/>
              <a:gd name="connsiteX86" fmla="*/ 6028340 w 6568309"/>
              <a:gd name="connsiteY86" fmla="*/ 4483797 h 6858000"/>
              <a:gd name="connsiteX87" fmla="*/ 6025168 w 6568309"/>
              <a:gd name="connsiteY87" fmla="*/ 4487091 h 6858000"/>
              <a:gd name="connsiteX88" fmla="*/ 6023164 w 6568309"/>
              <a:gd name="connsiteY88" fmla="*/ 4496728 h 6858000"/>
              <a:gd name="connsiteX89" fmla="*/ 6016839 w 6568309"/>
              <a:gd name="connsiteY89" fmla="*/ 4515918 h 6858000"/>
              <a:gd name="connsiteX90" fmla="*/ 6017886 w 6568309"/>
              <a:gd name="connsiteY90" fmla="*/ 4519316 h 6858000"/>
              <a:gd name="connsiteX91" fmla="*/ 6011819 w 6568309"/>
              <a:gd name="connsiteY91" fmla="*/ 4547957 h 6858000"/>
              <a:gd name="connsiteX92" fmla="*/ 6012791 w 6568309"/>
              <a:gd name="connsiteY92" fmla="*/ 4548262 h 6858000"/>
              <a:gd name="connsiteX93" fmla="*/ 6015703 w 6568309"/>
              <a:gd name="connsiteY93" fmla="*/ 4555939 h 6858000"/>
              <a:gd name="connsiteX94" fmla="*/ 6018854 w 6568309"/>
              <a:gd name="connsiteY94" fmla="*/ 4570815 h 6858000"/>
              <a:gd name="connsiteX95" fmla="*/ 6033000 w 6568309"/>
              <a:gd name="connsiteY95" fmla="*/ 4633846 h 6858000"/>
              <a:gd name="connsiteX96" fmla="*/ 6032325 w 6568309"/>
              <a:gd name="connsiteY96" fmla="*/ 4639816 h 6858000"/>
              <a:gd name="connsiteX97" fmla="*/ 6032549 w 6568309"/>
              <a:gd name="connsiteY97" fmla="*/ 4639923 h 6858000"/>
              <a:gd name="connsiteX98" fmla="*/ 6032309 w 6568309"/>
              <a:gd name="connsiteY98" fmla="*/ 4646192 h 6858000"/>
              <a:gd name="connsiteX99" fmla="*/ 6031095 w 6568309"/>
              <a:gd name="connsiteY99" fmla="*/ 4650706 h 6858000"/>
              <a:gd name="connsiteX100" fmla="*/ 6029786 w 6568309"/>
              <a:gd name="connsiteY100" fmla="*/ 4662290 h 6858000"/>
              <a:gd name="connsiteX101" fmla="*/ 6030911 w 6568309"/>
              <a:gd name="connsiteY101" fmla="*/ 4666180 h 6858000"/>
              <a:gd name="connsiteX102" fmla="*/ 6033630 w 6568309"/>
              <a:gd name="connsiteY102" fmla="*/ 4667585 h 6858000"/>
              <a:gd name="connsiteX103" fmla="*/ 6033189 w 6568309"/>
              <a:gd name="connsiteY103" fmla="*/ 4668660 h 6858000"/>
              <a:gd name="connsiteX104" fmla="*/ 6038764 w 6568309"/>
              <a:gd name="connsiteY104" fmla="*/ 4689807 h 6858000"/>
              <a:gd name="connsiteX105" fmla="*/ 6042217 w 6568309"/>
              <a:gd name="connsiteY105" fmla="*/ 4737890 h 6858000"/>
              <a:gd name="connsiteX106" fmla="*/ 6040543 w 6568309"/>
              <a:gd name="connsiteY106" fmla="*/ 4765657 h 6858000"/>
              <a:gd name="connsiteX107" fmla="*/ 6039956 w 6568309"/>
              <a:gd name="connsiteY107" fmla="*/ 4841463 h 6858000"/>
              <a:gd name="connsiteX108" fmla="*/ 6057123 w 6568309"/>
              <a:gd name="connsiteY108" fmla="*/ 4969863 h 6858000"/>
              <a:gd name="connsiteX109" fmla="*/ 6055039 w 6568309"/>
              <a:gd name="connsiteY109" fmla="*/ 4974028 h 6858000"/>
              <a:gd name="connsiteX110" fmla="*/ 6053462 w 6568309"/>
              <a:gd name="connsiteY110" fmla="*/ 4980318 h 6858000"/>
              <a:gd name="connsiteX111" fmla="*/ 6053643 w 6568309"/>
              <a:gd name="connsiteY111" fmla="*/ 4980501 h 6858000"/>
              <a:gd name="connsiteX112" fmla="*/ 6051733 w 6568309"/>
              <a:gd name="connsiteY112" fmla="*/ 4986338 h 6858000"/>
              <a:gd name="connsiteX113" fmla="*/ 6049602 w 6568309"/>
              <a:gd name="connsiteY113" fmla="*/ 4991296 h 6858000"/>
              <a:gd name="connsiteX114" fmla="*/ 6075165 w 6568309"/>
              <a:gd name="connsiteY114" fmla="*/ 5076895 h 6858000"/>
              <a:gd name="connsiteX115" fmla="*/ 6073751 w 6568309"/>
              <a:gd name="connsiteY115" fmla="*/ 5081568 h 6858000"/>
              <a:gd name="connsiteX116" fmla="*/ 6073150 w 6568309"/>
              <a:gd name="connsiteY116" fmla="*/ 5088173 h 6858000"/>
              <a:gd name="connsiteX117" fmla="*/ 6073355 w 6568309"/>
              <a:gd name="connsiteY117" fmla="*/ 5088300 h 6858000"/>
              <a:gd name="connsiteX118" fmla="*/ 6072362 w 6568309"/>
              <a:gd name="connsiteY118" fmla="*/ 5094558 h 6858000"/>
              <a:gd name="connsiteX119" fmla="*/ 6064726 w 6568309"/>
              <a:gd name="connsiteY119" fmla="*/ 5125620 h 6858000"/>
              <a:gd name="connsiteX120" fmla="*/ 6065415 w 6568309"/>
              <a:gd name="connsiteY120" fmla="*/ 5268004 h 6858000"/>
              <a:gd name="connsiteX121" fmla="*/ 6066081 w 6568309"/>
              <a:gd name="connsiteY121" fmla="*/ 5269530 h 6858000"/>
              <a:gd name="connsiteX122" fmla="*/ 6043407 w 6568309"/>
              <a:gd name="connsiteY122" fmla="*/ 5390941 h 6858000"/>
              <a:gd name="connsiteX123" fmla="*/ 6025377 w 6568309"/>
              <a:gd name="connsiteY123" fmla="*/ 5539927 h 6858000"/>
              <a:gd name="connsiteX124" fmla="*/ 6010052 w 6568309"/>
              <a:gd name="connsiteY124" fmla="*/ 5791594 h 6858000"/>
              <a:gd name="connsiteX125" fmla="*/ 5994220 w 6568309"/>
              <a:gd name="connsiteY125" fmla="*/ 5855206 h 6858000"/>
              <a:gd name="connsiteX126" fmla="*/ 5982580 w 6568309"/>
              <a:gd name="connsiteY126" fmla="*/ 5873582 h 6858000"/>
              <a:gd name="connsiteX127" fmla="*/ 5983608 w 6568309"/>
              <a:gd name="connsiteY127" fmla="*/ 5876037 h 6858000"/>
              <a:gd name="connsiteX128" fmla="*/ 5983535 w 6568309"/>
              <a:gd name="connsiteY128" fmla="*/ 5886534 h 6858000"/>
              <a:gd name="connsiteX129" fmla="*/ 5988737 w 6568309"/>
              <a:gd name="connsiteY129" fmla="*/ 5888644 h 6858000"/>
              <a:gd name="connsiteX130" fmla="*/ 5992371 w 6568309"/>
              <a:gd name="connsiteY130" fmla="*/ 5903832 h 6858000"/>
              <a:gd name="connsiteX131" fmla="*/ 5990780 w 6568309"/>
              <a:gd name="connsiteY131" fmla="*/ 5923391 h 6858000"/>
              <a:gd name="connsiteX132" fmla="*/ 5993870 w 6568309"/>
              <a:gd name="connsiteY132" fmla="*/ 6013205 h 6858000"/>
              <a:gd name="connsiteX133" fmla="*/ 5997673 w 6568309"/>
              <a:gd name="connsiteY133" fmla="*/ 6074018 h 6858000"/>
              <a:gd name="connsiteX134" fmla="*/ 6014840 w 6568309"/>
              <a:gd name="connsiteY134" fmla="*/ 6130837 h 6858000"/>
              <a:gd name="connsiteX135" fmla="*/ 6010704 w 6568309"/>
              <a:gd name="connsiteY135" fmla="*/ 6152982 h 6858000"/>
              <a:gd name="connsiteX136" fmla="*/ 6038294 w 6568309"/>
              <a:gd name="connsiteY136" fmla="*/ 6221100 h 6858000"/>
              <a:gd name="connsiteX137" fmla="*/ 6052331 w 6568309"/>
              <a:gd name="connsiteY137" fmla="*/ 6287550 h 6858000"/>
              <a:gd name="connsiteX138" fmla="*/ 6074143 w 6568309"/>
              <a:gd name="connsiteY138" fmla="*/ 6401595 h 6858000"/>
              <a:gd name="connsiteX139" fmla="*/ 6060199 w 6568309"/>
              <a:gd name="connsiteY139" fmla="*/ 6487110 h 6858000"/>
              <a:gd name="connsiteX140" fmla="*/ 6081156 w 6568309"/>
              <a:gd name="connsiteY140" fmla="*/ 6588589 h 6858000"/>
              <a:gd name="connsiteX141" fmla="*/ 6114944 w 6568309"/>
              <a:gd name="connsiteY141" fmla="*/ 6769963 h 6858000"/>
              <a:gd name="connsiteX142" fmla="*/ 6128950 w 6568309"/>
              <a:gd name="connsiteY142" fmla="*/ 6835814 h 6858000"/>
              <a:gd name="connsiteX143" fmla="*/ 6132536 w 6568309"/>
              <a:gd name="connsiteY143" fmla="*/ 6858000 h 6858000"/>
              <a:gd name="connsiteX144" fmla="*/ 4789511 w 6568309"/>
              <a:gd name="connsiteY144" fmla="*/ 6858000 h 6858000"/>
              <a:gd name="connsiteX145" fmla="*/ 1866294 w 6568309"/>
              <a:gd name="connsiteY145" fmla="*/ 6858000 h 6858000"/>
              <a:gd name="connsiteX146" fmla="*/ 1705866 w 6568309"/>
              <a:gd name="connsiteY146" fmla="*/ 6858000 h 6858000"/>
              <a:gd name="connsiteX147" fmla="*/ 1343025 w 6568309"/>
              <a:gd name="connsiteY147" fmla="*/ 6858000 h 6858000"/>
              <a:gd name="connsiteX148" fmla="*/ 523269 w 6568309"/>
              <a:gd name="connsiteY148" fmla="*/ 6858000 h 6858000"/>
              <a:gd name="connsiteX149" fmla="*/ 362841 w 6568309"/>
              <a:gd name="connsiteY149" fmla="*/ 6858000 h 6858000"/>
              <a:gd name="connsiteX150" fmla="*/ 0 w 6568309"/>
              <a:gd name="connsiteY15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6568309" h="6858000">
                <a:moveTo>
                  <a:pt x="0" y="0"/>
                </a:moveTo>
                <a:lnTo>
                  <a:pt x="362841" y="0"/>
                </a:lnTo>
                <a:lnTo>
                  <a:pt x="523269" y="0"/>
                </a:lnTo>
                <a:lnTo>
                  <a:pt x="1343025" y="0"/>
                </a:lnTo>
                <a:lnTo>
                  <a:pt x="1705866" y="0"/>
                </a:lnTo>
                <a:lnTo>
                  <a:pt x="1866294" y="0"/>
                </a:lnTo>
                <a:lnTo>
                  <a:pt x="5225154" y="0"/>
                </a:lnTo>
                <a:lnTo>
                  <a:pt x="6568179" y="0"/>
                </a:lnTo>
                <a:lnTo>
                  <a:pt x="6568309" y="1"/>
                </a:lnTo>
                <a:lnTo>
                  <a:pt x="6562951" y="30700"/>
                </a:lnTo>
                <a:cubicBezTo>
                  <a:pt x="6559126" y="84364"/>
                  <a:pt x="6548218" y="241149"/>
                  <a:pt x="6547446" y="310025"/>
                </a:cubicBezTo>
                <a:cubicBezTo>
                  <a:pt x="6550151" y="367544"/>
                  <a:pt x="6557712" y="408251"/>
                  <a:pt x="6558316" y="443960"/>
                </a:cubicBezTo>
                <a:cubicBezTo>
                  <a:pt x="6555224" y="499397"/>
                  <a:pt x="6534767" y="604434"/>
                  <a:pt x="6528896" y="642659"/>
                </a:cubicBezTo>
                <a:cubicBezTo>
                  <a:pt x="6535204" y="657287"/>
                  <a:pt x="6515365" y="658191"/>
                  <a:pt x="6523095" y="673307"/>
                </a:cubicBezTo>
                <a:cubicBezTo>
                  <a:pt x="6523388" y="693769"/>
                  <a:pt x="6506868" y="797295"/>
                  <a:pt x="6496169" y="839641"/>
                </a:cubicBezTo>
                <a:cubicBezTo>
                  <a:pt x="6484119" y="887148"/>
                  <a:pt x="6457817" y="937731"/>
                  <a:pt x="6450789" y="958357"/>
                </a:cubicBezTo>
                <a:cubicBezTo>
                  <a:pt x="6443760" y="978983"/>
                  <a:pt x="6459217" y="936930"/>
                  <a:pt x="6453996" y="963398"/>
                </a:cubicBezTo>
                <a:cubicBezTo>
                  <a:pt x="6448777" y="989867"/>
                  <a:pt x="6425575" y="1087010"/>
                  <a:pt x="6419467" y="1117169"/>
                </a:cubicBezTo>
                <a:cubicBezTo>
                  <a:pt x="6431540" y="1118586"/>
                  <a:pt x="6409651" y="1135372"/>
                  <a:pt x="6417348" y="1144352"/>
                </a:cubicBezTo>
                <a:cubicBezTo>
                  <a:pt x="6424109" y="1150681"/>
                  <a:pt x="6419047" y="1157251"/>
                  <a:pt x="6418473" y="1164484"/>
                </a:cubicBezTo>
                <a:cubicBezTo>
                  <a:pt x="6423767" y="1173524"/>
                  <a:pt x="6413947" y="1205209"/>
                  <a:pt x="6406979" y="1213829"/>
                </a:cubicBezTo>
                <a:cubicBezTo>
                  <a:pt x="6382818" y="1235037"/>
                  <a:pt x="6400452" y="1277327"/>
                  <a:pt x="6381928" y="1294823"/>
                </a:cubicBezTo>
                <a:cubicBezTo>
                  <a:pt x="6379195" y="1300845"/>
                  <a:pt x="6378069" y="1306615"/>
                  <a:pt x="6377948" y="1312193"/>
                </a:cubicBezTo>
                <a:lnTo>
                  <a:pt x="6379894" y="1327626"/>
                </a:lnTo>
                <a:lnTo>
                  <a:pt x="6385024" y="1331644"/>
                </a:lnTo>
                <a:lnTo>
                  <a:pt x="6383696" y="1341276"/>
                </a:lnTo>
                <a:cubicBezTo>
                  <a:pt x="6383952" y="1342166"/>
                  <a:pt x="6384208" y="1343055"/>
                  <a:pt x="6384464" y="1343945"/>
                </a:cubicBezTo>
                <a:cubicBezTo>
                  <a:pt x="6385957" y="1349040"/>
                  <a:pt x="6387253" y="1354080"/>
                  <a:pt x="6387748" y="1359134"/>
                </a:cubicBezTo>
                <a:cubicBezTo>
                  <a:pt x="6384363" y="1373109"/>
                  <a:pt x="6372802" y="1397612"/>
                  <a:pt x="6364157" y="1427803"/>
                </a:cubicBezTo>
                <a:cubicBezTo>
                  <a:pt x="6348141" y="1460349"/>
                  <a:pt x="6348362" y="1505076"/>
                  <a:pt x="6335874" y="1540278"/>
                </a:cubicBezTo>
                <a:lnTo>
                  <a:pt x="6331892" y="1547262"/>
                </a:lnTo>
                <a:lnTo>
                  <a:pt x="6332744" y="1577056"/>
                </a:lnTo>
                <a:cubicBezTo>
                  <a:pt x="6335859" y="1582205"/>
                  <a:pt x="6336674" y="1589568"/>
                  <a:pt x="6333604" y="1595898"/>
                </a:cubicBezTo>
                <a:lnTo>
                  <a:pt x="6324749" y="1703726"/>
                </a:lnTo>
                <a:cubicBezTo>
                  <a:pt x="6324080" y="1739332"/>
                  <a:pt x="6318019" y="1754453"/>
                  <a:pt x="6329594" y="1809535"/>
                </a:cubicBezTo>
                <a:cubicBezTo>
                  <a:pt x="6344930" y="1868036"/>
                  <a:pt x="6323725" y="1952670"/>
                  <a:pt x="6329062" y="2018310"/>
                </a:cubicBezTo>
                <a:cubicBezTo>
                  <a:pt x="6308075" y="2053162"/>
                  <a:pt x="6326925" y="2034561"/>
                  <a:pt x="6321735" y="2071355"/>
                </a:cubicBezTo>
                <a:lnTo>
                  <a:pt x="6322678" y="2141166"/>
                </a:lnTo>
                <a:lnTo>
                  <a:pt x="6321340" y="2154548"/>
                </a:lnTo>
                <a:lnTo>
                  <a:pt x="6316582" y="2158153"/>
                </a:lnTo>
                <a:lnTo>
                  <a:pt x="6311428" y="2178174"/>
                </a:lnTo>
                <a:cubicBezTo>
                  <a:pt x="6310177" y="2185696"/>
                  <a:pt x="6309622" y="2193828"/>
                  <a:pt x="6310192" y="2202858"/>
                </a:cubicBezTo>
                <a:cubicBezTo>
                  <a:pt x="6319667" y="2232772"/>
                  <a:pt x="6296459" y="2283357"/>
                  <a:pt x="6309211" y="2320214"/>
                </a:cubicBezTo>
                <a:cubicBezTo>
                  <a:pt x="6307537" y="2355906"/>
                  <a:pt x="6302490" y="2394678"/>
                  <a:pt x="6300151" y="2417011"/>
                </a:cubicBezTo>
                <a:cubicBezTo>
                  <a:pt x="6292303" y="2426377"/>
                  <a:pt x="6304439" y="2456509"/>
                  <a:pt x="6295176" y="2454207"/>
                </a:cubicBezTo>
                <a:cubicBezTo>
                  <a:pt x="6299335" y="2464947"/>
                  <a:pt x="6297305" y="2476105"/>
                  <a:pt x="6293727" y="2487203"/>
                </a:cubicBezTo>
                <a:lnTo>
                  <a:pt x="6285477" y="2512282"/>
                </a:lnTo>
                <a:cubicBezTo>
                  <a:pt x="6285720" y="2512961"/>
                  <a:pt x="6285962" y="2513640"/>
                  <a:pt x="6286205" y="2514318"/>
                </a:cubicBezTo>
                <a:cubicBezTo>
                  <a:pt x="6292347" y="2534324"/>
                  <a:pt x="6298487" y="2554328"/>
                  <a:pt x="6304629" y="2574334"/>
                </a:cubicBezTo>
                <a:lnTo>
                  <a:pt x="6303842" y="2579877"/>
                </a:lnTo>
                <a:cubicBezTo>
                  <a:pt x="6303729" y="2585644"/>
                  <a:pt x="6304006" y="2603388"/>
                  <a:pt x="6303953" y="2608928"/>
                </a:cubicBezTo>
                <a:lnTo>
                  <a:pt x="6303530" y="2613111"/>
                </a:lnTo>
                <a:lnTo>
                  <a:pt x="6297474" y="2621996"/>
                </a:lnTo>
                <a:lnTo>
                  <a:pt x="6299263" y="2634265"/>
                </a:lnTo>
                <a:lnTo>
                  <a:pt x="6293065" y="2647237"/>
                </a:lnTo>
                <a:cubicBezTo>
                  <a:pt x="6294685" y="2648158"/>
                  <a:pt x="6296180" y="2649356"/>
                  <a:pt x="6297496" y="2650786"/>
                </a:cubicBezTo>
                <a:lnTo>
                  <a:pt x="6301708" y="2661993"/>
                </a:lnTo>
                <a:lnTo>
                  <a:pt x="6295884" y="2670949"/>
                </a:lnTo>
                <a:cubicBezTo>
                  <a:pt x="6304913" y="2672007"/>
                  <a:pt x="6294429" y="2681695"/>
                  <a:pt x="6291714" y="2690255"/>
                </a:cubicBezTo>
                <a:lnTo>
                  <a:pt x="6292327" y="2695683"/>
                </a:lnTo>
                <a:lnTo>
                  <a:pt x="6284410" y="2713964"/>
                </a:lnTo>
                <a:lnTo>
                  <a:pt x="6280410" y="2730175"/>
                </a:lnTo>
                <a:lnTo>
                  <a:pt x="6288082" y="2763497"/>
                </a:lnTo>
                <a:lnTo>
                  <a:pt x="6260924" y="3051539"/>
                </a:lnTo>
                <a:cubicBezTo>
                  <a:pt x="6251455" y="3165645"/>
                  <a:pt x="6222174" y="3216611"/>
                  <a:pt x="6210151" y="3335396"/>
                </a:cubicBezTo>
                <a:lnTo>
                  <a:pt x="6212034" y="3456509"/>
                </a:lnTo>
                <a:lnTo>
                  <a:pt x="6197490" y="3531827"/>
                </a:lnTo>
                <a:lnTo>
                  <a:pt x="6208018" y="3570877"/>
                </a:lnTo>
                <a:lnTo>
                  <a:pt x="6205920" y="3583849"/>
                </a:lnTo>
                <a:lnTo>
                  <a:pt x="6199616" y="3592763"/>
                </a:lnTo>
                <a:cubicBezTo>
                  <a:pt x="6191839" y="3613948"/>
                  <a:pt x="6196204" y="3641245"/>
                  <a:pt x="6181288" y="3653485"/>
                </a:cubicBezTo>
                <a:cubicBezTo>
                  <a:pt x="6178087" y="3659316"/>
                  <a:pt x="6176516" y="3664985"/>
                  <a:pt x="6175963" y="3670528"/>
                </a:cubicBezTo>
                <a:lnTo>
                  <a:pt x="6176722" y="3685990"/>
                </a:lnTo>
                <a:lnTo>
                  <a:pt x="6181549" y="3690283"/>
                </a:lnTo>
                <a:lnTo>
                  <a:pt x="6179476" y="3699787"/>
                </a:lnTo>
                <a:cubicBezTo>
                  <a:pt x="6179664" y="3700686"/>
                  <a:pt x="6179852" y="3701586"/>
                  <a:pt x="6180040" y="3702486"/>
                </a:cubicBezTo>
                <a:cubicBezTo>
                  <a:pt x="6181140" y="3707637"/>
                  <a:pt x="6182047" y="3712728"/>
                  <a:pt x="6182155" y="3717784"/>
                </a:cubicBezTo>
                <a:cubicBezTo>
                  <a:pt x="6156678" y="3711701"/>
                  <a:pt x="6178864" y="3759789"/>
                  <a:pt x="6158980" y="3746229"/>
                </a:cubicBezTo>
                <a:cubicBezTo>
                  <a:pt x="6144630" y="3780750"/>
                  <a:pt x="6117520" y="3867558"/>
                  <a:pt x="6096049" y="3924910"/>
                </a:cubicBezTo>
                <a:lnTo>
                  <a:pt x="6069712" y="3989353"/>
                </a:lnTo>
                <a:lnTo>
                  <a:pt x="6067330" y="4033899"/>
                </a:lnTo>
                <a:cubicBezTo>
                  <a:pt x="6065506" y="4070470"/>
                  <a:pt x="6063599" y="4110146"/>
                  <a:pt x="6061081" y="4142250"/>
                </a:cubicBezTo>
                <a:cubicBezTo>
                  <a:pt x="6055260" y="4200007"/>
                  <a:pt x="6045907" y="4278998"/>
                  <a:pt x="6042858" y="4329442"/>
                </a:cubicBezTo>
                <a:cubicBezTo>
                  <a:pt x="6038376" y="4381764"/>
                  <a:pt x="6036461" y="4433012"/>
                  <a:pt x="6034182" y="4456184"/>
                </a:cubicBezTo>
                <a:lnTo>
                  <a:pt x="6029178" y="4468478"/>
                </a:lnTo>
                <a:lnTo>
                  <a:pt x="6029974" y="4469862"/>
                </a:lnTo>
                <a:cubicBezTo>
                  <a:pt x="6031287" y="4476321"/>
                  <a:pt x="6030316" y="4480555"/>
                  <a:pt x="6028340" y="4483797"/>
                </a:cubicBezTo>
                <a:lnTo>
                  <a:pt x="6025168" y="4487091"/>
                </a:lnTo>
                <a:lnTo>
                  <a:pt x="6023164" y="4496728"/>
                </a:lnTo>
                <a:lnTo>
                  <a:pt x="6016839" y="4515918"/>
                </a:lnTo>
                <a:cubicBezTo>
                  <a:pt x="6017189" y="4517049"/>
                  <a:pt x="6017537" y="4518182"/>
                  <a:pt x="6017886" y="4519316"/>
                </a:cubicBezTo>
                <a:lnTo>
                  <a:pt x="6011819" y="4547957"/>
                </a:lnTo>
                <a:lnTo>
                  <a:pt x="6012791" y="4548262"/>
                </a:lnTo>
                <a:cubicBezTo>
                  <a:pt x="6014837" y="4549595"/>
                  <a:pt x="6016087" y="4551811"/>
                  <a:pt x="6015703" y="4555939"/>
                </a:cubicBezTo>
                <a:cubicBezTo>
                  <a:pt x="6031790" y="4548276"/>
                  <a:pt x="6021405" y="4557977"/>
                  <a:pt x="6018854" y="4570815"/>
                </a:cubicBezTo>
                <a:cubicBezTo>
                  <a:pt x="6021736" y="4583801"/>
                  <a:pt x="6030754" y="4622347"/>
                  <a:pt x="6033000" y="4633846"/>
                </a:cubicBezTo>
                <a:lnTo>
                  <a:pt x="6032325" y="4639816"/>
                </a:lnTo>
                <a:lnTo>
                  <a:pt x="6032549" y="4639923"/>
                </a:lnTo>
                <a:cubicBezTo>
                  <a:pt x="6032911" y="4641190"/>
                  <a:pt x="6032878" y="4643141"/>
                  <a:pt x="6032309" y="4646192"/>
                </a:cubicBezTo>
                <a:lnTo>
                  <a:pt x="6031095" y="4650706"/>
                </a:lnTo>
                <a:lnTo>
                  <a:pt x="6029786" y="4662290"/>
                </a:lnTo>
                <a:cubicBezTo>
                  <a:pt x="6030161" y="4663587"/>
                  <a:pt x="6030536" y="4664883"/>
                  <a:pt x="6030911" y="4666180"/>
                </a:cubicBezTo>
                <a:lnTo>
                  <a:pt x="6033630" y="4667585"/>
                </a:lnTo>
                <a:lnTo>
                  <a:pt x="6033189" y="4668660"/>
                </a:lnTo>
                <a:cubicBezTo>
                  <a:pt x="6027286" y="4676831"/>
                  <a:pt x="6019767" y="4679345"/>
                  <a:pt x="6038764" y="4689807"/>
                </a:cubicBezTo>
                <a:cubicBezTo>
                  <a:pt x="6028616" y="4708535"/>
                  <a:pt x="6040474" y="4712235"/>
                  <a:pt x="6042217" y="4737890"/>
                </a:cubicBezTo>
                <a:cubicBezTo>
                  <a:pt x="6033362" y="4748600"/>
                  <a:pt x="6035273" y="4757223"/>
                  <a:pt x="6040543" y="4765657"/>
                </a:cubicBezTo>
                <a:cubicBezTo>
                  <a:pt x="6034416" y="4790618"/>
                  <a:pt x="6040696" y="4813399"/>
                  <a:pt x="6039956" y="4841463"/>
                </a:cubicBezTo>
                <a:lnTo>
                  <a:pt x="6057123" y="4969863"/>
                </a:lnTo>
                <a:lnTo>
                  <a:pt x="6055039" y="4974028"/>
                </a:lnTo>
                <a:cubicBezTo>
                  <a:pt x="6053860" y="4976933"/>
                  <a:pt x="6053409" y="4978909"/>
                  <a:pt x="6053462" y="4980318"/>
                </a:cubicBezTo>
                <a:lnTo>
                  <a:pt x="6053643" y="4980501"/>
                </a:lnTo>
                <a:lnTo>
                  <a:pt x="6051733" y="4986338"/>
                </a:lnTo>
                <a:lnTo>
                  <a:pt x="6049602" y="4991296"/>
                </a:lnTo>
                <a:cubicBezTo>
                  <a:pt x="6058123" y="5019829"/>
                  <a:pt x="6066643" y="5048361"/>
                  <a:pt x="6075165" y="5076895"/>
                </a:cubicBezTo>
                <a:lnTo>
                  <a:pt x="6073751" y="5081568"/>
                </a:lnTo>
                <a:cubicBezTo>
                  <a:pt x="6073034" y="5084748"/>
                  <a:pt x="6072888" y="5086810"/>
                  <a:pt x="6073150" y="5088173"/>
                </a:cubicBezTo>
                <a:lnTo>
                  <a:pt x="6073355" y="5088300"/>
                </a:lnTo>
                <a:lnTo>
                  <a:pt x="6072362" y="5094558"/>
                </a:lnTo>
                <a:cubicBezTo>
                  <a:pt x="6070184" y="5105196"/>
                  <a:pt x="6067588" y="5115626"/>
                  <a:pt x="6064726" y="5125620"/>
                </a:cubicBezTo>
                <a:cubicBezTo>
                  <a:pt x="6063568" y="5154527"/>
                  <a:pt x="6065189" y="5244020"/>
                  <a:pt x="6065415" y="5268004"/>
                </a:cubicBezTo>
                <a:cubicBezTo>
                  <a:pt x="6065637" y="5268513"/>
                  <a:pt x="6065860" y="5269021"/>
                  <a:pt x="6066081" y="5269530"/>
                </a:cubicBezTo>
                <a:lnTo>
                  <a:pt x="6043407" y="5390941"/>
                </a:lnTo>
                <a:cubicBezTo>
                  <a:pt x="6032545" y="5438194"/>
                  <a:pt x="6020942" y="5465286"/>
                  <a:pt x="6025377" y="5539927"/>
                </a:cubicBezTo>
                <a:cubicBezTo>
                  <a:pt x="6019787" y="5610775"/>
                  <a:pt x="6013913" y="5740573"/>
                  <a:pt x="6010052" y="5791594"/>
                </a:cubicBezTo>
                <a:cubicBezTo>
                  <a:pt x="5989401" y="5787060"/>
                  <a:pt x="6018524" y="5849672"/>
                  <a:pt x="5994220" y="5855206"/>
                </a:cubicBezTo>
                <a:cubicBezTo>
                  <a:pt x="5995282" y="5860240"/>
                  <a:pt x="5980598" y="5868910"/>
                  <a:pt x="5982580" y="5873582"/>
                </a:cubicBezTo>
                <a:cubicBezTo>
                  <a:pt x="5982922" y="5874401"/>
                  <a:pt x="5983265" y="5875218"/>
                  <a:pt x="5983608" y="5876037"/>
                </a:cubicBezTo>
                <a:lnTo>
                  <a:pt x="5983535" y="5886534"/>
                </a:lnTo>
                <a:lnTo>
                  <a:pt x="5988737" y="5888644"/>
                </a:lnTo>
                <a:cubicBezTo>
                  <a:pt x="5989948" y="5893707"/>
                  <a:pt x="5991159" y="5898769"/>
                  <a:pt x="5992371" y="5903832"/>
                </a:cubicBezTo>
                <a:cubicBezTo>
                  <a:pt x="5992924" y="5909651"/>
                  <a:pt x="5992578" y="5916068"/>
                  <a:pt x="5990780" y="5923391"/>
                </a:cubicBezTo>
                <a:cubicBezTo>
                  <a:pt x="5975822" y="5948880"/>
                  <a:pt x="6013580" y="5981626"/>
                  <a:pt x="5993870" y="6013205"/>
                </a:cubicBezTo>
                <a:cubicBezTo>
                  <a:pt x="5988486" y="6024901"/>
                  <a:pt x="5991718" y="6066777"/>
                  <a:pt x="5997673" y="6074018"/>
                </a:cubicBezTo>
                <a:cubicBezTo>
                  <a:pt x="5998007" y="6081731"/>
                  <a:pt x="6007861" y="6126985"/>
                  <a:pt x="6014840" y="6130837"/>
                </a:cubicBezTo>
                <a:cubicBezTo>
                  <a:pt x="6022998" y="6137057"/>
                  <a:pt x="5999420" y="6156330"/>
                  <a:pt x="6010704" y="6152982"/>
                </a:cubicBezTo>
                <a:cubicBezTo>
                  <a:pt x="6008682" y="6186619"/>
                  <a:pt x="6039938" y="6191636"/>
                  <a:pt x="6038294" y="6221100"/>
                </a:cubicBezTo>
                <a:cubicBezTo>
                  <a:pt x="6039643" y="6222126"/>
                  <a:pt x="6046356" y="6257468"/>
                  <a:pt x="6052331" y="6287550"/>
                </a:cubicBezTo>
                <a:cubicBezTo>
                  <a:pt x="6058307" y="6317632"/>
                  <a:pt x="6082079" y="6391312"/>
                  <a:pt x="6074143" y="6401595"/>
                </a:cubicBezTo>
                <a:cubicBezTo>
                  <a:pt x="6074931" y="6423902"/>
                  <a:pt x="6059614" y="6432919"/>
                  <a:pt x="6060199" y="6487110"/>
                </a:cubicBezTo>
                <a:cubicBezTo>
                  <a:pt x="6075583" y="6574474"/>
                  <a:pt x="6076150" y="6553611"/>
                  <a:pt x="6081156" y="6588589"/>
                </a:cubicBezTo>
                <a:cubicBezTo>
                  <a:pt x="6102088" y="6637976"/>
                  <a:pt x="6067660" y="6687723"/>
                  <a:pt x="6114944" y="6769963"/>
                </a:cubicBezTo>
                <a:cubicBezTo>
                  <a:pt x="6130462" y="6819284"/>
                  <a:pt x="6119243" y="6817955"/>
                  <a:pt x="6128950" y="6835814"/>
                </a:cubicBezTo>
                <a:lnTo>
                  <a:pt x="6132536" y="6858000"/>
                </a:lnTo>
                <a:lnTo>
                  <a:pt x="4789511" y="6858000"/>
                </a:lnTo>
                <a:lnTo>
                  <a:pt x="1866294" y="6858000"/>
                </a:lnTo>
                <a:lnTo>
                  <a:pt x="1705866" y="6858000"/>
                </a:lnTo>
                <a:lnTo>
                  <a:pt x="1343025" y="6858000"/>
                </a:lnTo>
                <a:lnTo>
                  <a:pt x="523269" y="6858000"/>
                </a:lnTo>
                <a:lnTo>
                  <a:pt x="362841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1AB17D-9254-F5AE-0AF0-5A8C75B86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master_features_with_clustering.csv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89211D-E4B6-0354-3E21-2AA2E4D57F3C}"/>
              </a:ext>
            </a:extLst>
          </p:cNvPr>
          <p:cNvSpPr txBox="1"/>
          <p:nvPr/>
        </p:nvSpPr>
        <p:spPr>
          <a:xfrm>
            <a:off x="581221" y="1808480"/>
            <a:ext cx="5575739" cy="43348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</a:pPr>
            <a:r>
              <a:rPr lang="en-US" sz="1600" b="1">
                <a:effectLst/>
              </a:rPr>
              <a:t>Columns: </a:t>
            </a:r>
            <a:r>
              <a:rPr lang="en-US" sz="1600" err="1">
                <a:effectLst/>
              </a:rPr>
              <a:t>customer_id</a:t>
            </a:r>
            <a:r>
              <a:rPr lang="en-US" sz="1600">
                <a:effectLst/>
              </a:rPr>
              <a:t>, </a:t>
            </a:r>
            <a:r>
              <a:rPr lang="en-US" sz="1600" err="1">
                <a:effectLst/>
              </a:rPr>
              <a:t>kyc_type</a:t>
            </a:r>
            <a:r>
              <a:rPr lang="en-US" sz="1600">
                <a:effectLst/>
              </a:rPr>
              <a:t>, 180+ engineered features, and cluster.</a:t>
            </a:r>
          </a:p>
          <a:p>
            <a:pPr indent="-2286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endParaRPr lang="en-US" sz="1600">
              <a:effectLst/>
            </a:endParaRPr>
          </a:p>
          <a:p>
            <a:pPr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</a:pPr>
            <a:r>
              <a:rPr lang="en-US" sz="1600" b="1">
                <a:effectLst/>
              </a:rPr>
              <a:t>Feature groups (aligned with AML library / pipeline):</a:t>
            </a:r>
          </a:p>
          <a:p>
            <a:pPr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</a:pPr>
            <a:endParaRPr lang="en-US" sz="1600" b="1">
              <a:effectLst/>
            </a:endParaRPr>
          </a:p>
          <a:p>
            <a:pPr indent="-2286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Time:</a:t>
            </a:r>
            <a:r>
              <a:rPr lang="en-US" sz="1600"/>
              <a:t> After-hours, weekend, midnight/early-morning counts and percentages; rapid-fire; business vs non-business hours.</a:t>
            </a:r>
          </a:p>
          <a:p>
            <a:pPr indent="-2286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Behavioral:</a:t>
            </a:r>
            <a:r>
              <a:rPr lang="en-US" sz="1600"/>
              <a:t> Volume vs income/sales, lifestyle mismatch, missing income/sales, single-</a:t>
            </a:r>
            <a:r>
              <a:rPr lang="en-US" sz="1600" err="1"/>
              <a:t>txn</a:t>
            </a:r>
            <a:r>
              <a:rPr lang="en-US" sz="1600"/>
              <a:t> vs revenue, consistency.</a:t>
            </a:r>
          </a:p>
          <a:p>
            <a:pPr indent="-2286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Profile:</a:t>
            </a:r>
            <a:r>
              <a:rPr lang="en-US" sz="1600"/>
              <a:t> Account/business age, new-account flags, industry/entity flags (MSB, shell, cash-intensive, real estate, etc.), missing KYC.</a:t>
            </a:r>
          </a:p>
          <a:p>
            <a:pPr indent="-2286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Transaction-derived:</a:t>
            </a:r>
            <a:r>
              <a:rPr lang="en-US" sz="1600"/>
              <a:t> Per-customer stats of transaction-level risk scores (max/mean/std, count/pct above threshold).</a:t>
            </a:r>
          </a:p>
          <a:p>
            <a:pPr indent="-2286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sz="1600" b="1"/>
              <a:t>Cluster:</a:t>
            </a:r>
            <a:r>
              <a:rPr lang="en-US" sz="1600"/>
              <a:t> Segment label from clustering (e.g. individual_1, business_2).</a:t>
            </a:r>
          </a:p>
          <a:p>
            <a:pPr indent="-228600">
              <a:lnSpc>
                <a:spcPct val="90000"/>
              </a:lnSpc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endParaRPr lang="en-US" sz="1400">
              <a:effectLst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BA7AE8-604B-8764-4706-92D2D418CD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10" y="1669411"/>
            <a:ext cx="4737650" cy="35413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3ADFFA-2ADF-46F2-4F85-4A05BCF44D69}"/>
              </a:ext>
            </a:extLst>
          </p:cNvPr>
          <p:cNvSpPr txBox="1"/>
          <p:nvPr/>
        </p:nvSpPr>
        <p:spPr>
          <a:xfrm>
            <a:off x="658877" y="2418408"/>
            <a:ext cx="4959603" cy="352256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3429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2787587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图片 3" descr="图示&#10;&#10;AI 生成的内容可能不正确。">
            <a:extLst>
              <a:ext uri="{FF2B5EF4-FFF2-40B4-BE49-F238E27FC236}">
                <a16:creationId xmlns:a16="http://schemas.microsoft.com/office/drawing/2014/main" id="{B5B9A669-8644-0033-0743-47D2D3D163F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6283"/>
          <a:stretch>
            <a:fillRect/>
          </a:stretch>
        </p:blipFill>
        <p:spPr>
          <a:xfrm>
            <a:off x="626590" y="317578"/>
            <a:ext cx="10851111" cy="3508437"/>
          </a:xfrm>
          <a:prstGeom prst="rect">
            <a:avLst/>
          </a:prstGeom>
        </p:spPr>
      </p:pic>
      <p:grpSp>
        <p:nvGrpSpPr>
          <p:cNvPr id="29" name="Group 28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Rectangle 34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7" y="5940562"/>
            <a:ext cx="1285875" cy="549007"/>
            <a:chOff x="7029447" y="3514725"/>
            <a:chExt cx="1285875" cy="549007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A20D825-709B-6EB7-54A8-1CECA2037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4569060" cy="2129586"/>
          </a:xfrm>
          <a:noFill/>
        </p:spPr>
        <p:txBody>
          <a:bodyPr anchor="t">
            <a:normAutofit/>
          </a:bodyPr>
          <a:lstStyle/>
          <a:p>
            <a:r>
              <a:rPr lang="zh-CN" altLang="en-US" sz="4800">
                <a:solidFill>
                  <a:schemeClr val="bg1"/>
                </a:solidFill>
                <a:ea typeface="等线 Light"/>
              </a:rPr>
              <a:t>The Clustering Pipeline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AE3E36-F46C-5D55-70C7-A4EB4AB4F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080" y="4018143"/>
            <a:ext cx="5674105" cy="212959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zh-CN" altLang="en-US" sz="1100">
                <a:solidFill>
                  <a:schemeClr val="bg1"/>
                </a:solidFill>
                <a:ea typeface="等线"/>
              </a:rPr>
              <a:t>Benefit of having two versions:</a:t>
            </a:r>
            <a:endParaRPr lang="zh-CN" sz="1100">
              <a:solidFill>
                <a:schemeClr val="bg1"/>
              </a:solidFill>
            </a:endParaRPr>
          </a:p>
          <a:p>
            <a:r>
              <a:rPr lang="zh-CN" altLang="en-US" sz="1100">
                <a:solidFill>
                  <a:schemeClr val="bg1"/>
                </a:solidFill>
                <a:ea typeface="等线"/>
              </a:rPr>
              <a:t>Version A: Better Segmentations within customers seperated by kyc_type.</a:t>
            </a:r>
          </a:p>
          <a:p>
            <a:r>
              <a:rPr lang="zh-CN" altLang="en-US" sz="1100">
                <a:solidFill>
                  <a:schemeClr val="bg1"/>
                </a:solidFill>
                <a:ea typeface="等线"/>
              </a:rPr>
              <a:t>Version B: Able to capture cross kyc_type behaviors, such as businesses that act like individuals.</a:t>
            </a:r>
          </a:p>
          <a:p>
            <a:pPr marL="0" indent="0">
              <a:buNone/>
            </a:pPr>
            <a:r>
              <a:rPr lang="zh-CN" altLang="en-US" sz="1100">
                <a:highlight>
                  <a:srgbClr val="FFFF00"/>
                </a:highlight>
                <a:ea typeface="等线"/>
              </a:rPr>
              <a:t>Related Files Located in Clustering_Final in the submission folder!</a:t>
            </a:r>
            <a:endParaRPr lang="zh-CN" altLang="en-US" sz="1100">
              <a:highlight>
                <a:srgbClr val="00FFFF"/>
              </a:highlight>
              <a:ea typeface="等线"/>
            </a:endParaRPr>
          </a:p>
          <a:p>
            <a:pPr marL="0" indent="0">
              <a:buNone/>
            </a:pPr>
            <a:r>
              <a:rPr lang="zh-CN" altLang="en-US" sz="900">
                <a:solidFill>
                  <a:schemeClr val="bg1"/>
                </a:solidFill>
                <a:ea typeface="等线"/>
              </a:rPr>
              <a:t>Link of flowchart (pipeline): </a:t>
            </a:r>
            <a:r>
              <a:rPr lang="zh-CN" sz="900">
                <a:solidFill>
                  <a:schemeClr val="bg1"/>
                </a:solidFill>
                <a:ea typeface="+mn-lt"/>
                <a:cs typeface="+mn-lt"/>
              </a:rPr>
              <a:t>https://www.canva.com/design/DAHCACUQ-Fc/54Ri5o7MwT-jzSxdMYTZ8g/edit?utm_content=DAHCACUQ-Fc&amp;utm_campaign=designshare&amp;utm_medium=link2&amp;utm_source=sharebutton</a:t>
            </a:r>
            <a:endParaRPr lang="zh-CN" altLang="en-US" sz="900">
              <a:solidFill>
                <a:schemeClr val="bg1"/>
              </a:solidFill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20187091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7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8B983D2-9E69-6A7B-C3C5-9A1F17D7D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zh-CN" altLang="en-US" sz="4000">
                <a:ea typeface="等线 Light"/>
              </a:rPr>
              <a:t>Dimensionality Reduction (FAMD)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683DEEE-E6CB-2D07-5181-7D1079AB7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1700">
                <a:ea typeface="等线"/>
              </a:rPr>
              <a:t>Factor Analysis for Mixed Data (FAMD) is a dimensionality reduction techique targeted to handle mixed data combining both numerical or categorical variables.</a:t>
            </a:r>
          </a:p>
          <a:p>
            <a:endParaRPr lang="zh-CN" altLang="en-US" sz="1700">
              <a:ea typeface="等线"/>
            </a:endParaRPr>
          </a:p>
          <a:p>
            <a:r>
              <a:rPr lang="zh-CN" altLang="en-US" sz="1700">
                <a:ea typeface="等线"/>
              </a:rPr>
              <a:t>Primary Purpose: Reduces time complexity of clustering algorithms, allow using eculidean distance.</a:t>
            </a:r>
          </a:p>
          <a:p>
            <a:endParaRPr lang="zh-CN" altLang="en-US" sz="1700">
              <a:ea typeface="等线"/>
            </a:endParaRPr>
          </a:p>
          <a:p>
            <a:r>
              <a:rPr lang="zh-CN" altLang="en-US" sz="1700">
                <a:ea typeface="等线"/>
              </a:rPr>
              <a:t>n_component: total amount of factors (columns) to generate.</a:t>
            </a:r>
          </a:p>
        </p:txBody>
      </p:sp>
      <p:pic>
        <p:nvPicPr>
          <p:cNvPr id="8" name="Picture 4" descr="深色显示屏上的财务图表">
            <a:extLst>
              <a:ext uri="{FF2B5EF4-FFF2-40B4-BE49-F238E27FC236}">
                <a16:creationId xmlns:a16="http://schemas.microsoft.com/office/drawing/2014/main" id="{3DFE4511-8E1D-5BAD-7F1A-FA8A10460E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486" r="24898" b="3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13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20280BA-26B7-AEA6-F645-8D28FC31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zh-CN" altLang="en-US" sz="4200">
                <a:ea typeface="等线 Light"/>
              </a:rPr>
              <a:t>Results &amp; Analysis: Understanding Silhouette and Elbow Scores</a:t>
            </a:r>
            <a:endParaRPr lang="zh-CN" altLang="en-US" sz="4200"/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内容占位符 2">
            <a:extLst>
              <a:ext uri="{FF2B5EF4-FFF2-40B4-BE49-F238E27FC236}">
                <a16:creationId xmlns:a16="http://schemas.microsoft.com/office/drawing/2014/main" id="{DD59F38C-4A1A-E46B-493F-81DBF1C0F3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9489760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423009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7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9D9ECBA-46C0-9C33-EB8A-B30DD4A9F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zh-CN" altLang="en-US" sz="4000">
                <a:ea typeface="等线 Light"/>
              </a:rPr>
              <a:t>Result &amp; Analysis: Understanding Heatmap</a:t>
            </a:r>
            <a:endParaRPr lang="zh-CN" altLang="en-US" sz="4000"/>
          </a:p>
        </p:txBody>
      </p:sp>
      <p:sp>
        <p:nvSpPr>
          <p:cNvPr id="9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CE2A47-4288-F5E3-4C4F-D815BCFF28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2000">
                <a:ea typeface="等线"/>
              </a:rPr>
              <a:t>Heatmap scores ranges from 0 to 1. </a:t>
            </a:r>
            <a:endParaRPr lang="zh-CN" sz="2000"/>
          </a:p>
          <a:p>
            <a:r>
              <a:rPr lang="zh-CN" sz="2000">
                <a:ea typeface="+mn-lt"/>
                <a:cs typeface="+mn-lt"/>
              </a:rPr>
              <a:t>Lower indicates that most customers in the cluster either do not exhibit this category or have relatively lower values compared to other clusters for numerical features.</a:t>
            </a:r>
          </a:p>
          <a:p>
            <a:r>
              <a:rPr lang="zh-CN" altLang="en-US" sz="2000">
                <a:ea typeface="+mn-lt"/>
                <a:cs typeface="+mn-lt"/>
              </a:rPr>
              <a:t>Higher means most customers in the cluster either have this category or have relatively higher values compared to other clusters for numerical features.</a:t>
            </a:r>
          </a:p>
        </p:txBody>
      </p:sp>
    </p:spTree>
    <p:extLst>
      <p:ext uri="{BB962C8B-B14F-4D97-AF65-F5344CB8AC3E}">
        <p14:creationId xmlns:p14="http://schemas.microsoft.com/office/powerpoint/2010/main" val="3250819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F7D788E-2C1B-4EF4-8719-12613771F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452"/>
          </a:xfrm>
          <a:prstGeom prst="rect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C56B471-EC2D-7275-C1B9-ABFB64951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49" y="3499076"/>
            <a:ext cx="6053558" cy="24247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Clustering Version A: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C54E824-C0F4-480B-BC88-689F50C45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199" y="548"/>
            <a:ext cx="4349752" cy="3142889"/>
          </a:xfrm>
          <a:custGeom>
            <a:avLst/>
            <a:gdLst>
              <a:gd name="connsiteX0" fmla="*/ 229420 w 4349752"/>
              <a:gd name="connsiteY0" fmla="*/ 0 h 3142889"/>
              <a:gd name="connsiteX1" fmla="*/ 4120333 w 4349752"/>
              <a:gd name="connsiteY1" fmla="*/ 0 h 3142889"/>
              <a:gd name="connsiteX2" fmla="*/ 4178840 w 4349752"/>
              <a:gd name="connsiteY2" fmla="*/ 121453 h 3142889"/>
              <a:gd name="connsiteX3" fmla="*/ 4349752 w 4349752"/>
              <a:gd name="connsiteY3" fmla="*/ 968013 h 3142889"/>
              <a:gd name="connsiteX4" fmla="*/ 2174876 w 4349752"/>
              <a:gd name="connsiteY4" fmla="*/ 3142889 h 3142889"/>
              <a:gd name="connsiteX5" fmla="*/ 0 w 4349752"/>
              <a:gd name="connsiteY5" fmla="*/ 968013 h 3142889"/>
              <a:gd name="connsiteX6" fmla="*/ 170913 w 4349752"/>
              <a:gd name="connsiteY6" fmla="*/ 121453 h 3142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9752" h="3142889">
                <a:moveTo>
                  <a:pt x="229420" y="0"/>
                </a:moveTo>
                <a:lnTo>
                  <a:pt x="4120333" y="0"/>
                </a:lnTo>
                <a:lnTo>
                  <a:pt x="4178840" y="121453"/>
                </a:lnTo>
                <a:cubicBezTo>
                  <a:pt x="4288894" y="381652"/>
                  <a:pt x="4349752" y="667725"/>
                  <a:pt x="4349752" y="968013"/>
                </a:cubicBezTo>
                <a:cubicBezTo>
                  <a:pt x="4349752" y="2169164"/>
                  <a:pt x="3376027" y="3142889"/>
                  <a:pt x="2174876" y="3142889"/>
                </a:cubicBezTo>
                <a:cubicBezTo>
                  <a:pt x="973725" y="3142889"/>
                  <a:pt x="0" y="2169164"/>
                  <a:pt x="0" y="968013"/>
                </a:cubicBezTo>
                <a:cubicBezTo>
                  <a:pt x="0" y="667725"/>
                  <a:pt x="60858" y="381652"/>
                  <a:pt x="170913" y="12145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8DEA6A1-FC5C-4E6E-BBBF-7E472949B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3759" y="1421356"/>
            <a:ext cx="4538241" cy="5436644"/>
          </a:xfrm>
          <a:custGeom>
            <a:avLst/>
            <a:gdLst>
              <a:gd name="connsiteX0" fmla="*/ 3084645 w 4538241"/>
              <a:gd name="connsiteY0" fmla="*/ 0 h 5436644"/>
              <a:gd name="connsiteX1" fmla="*/ 4285328 w 4538241"/>
              <a:gd name="connsiteY1" fmla="*/ 242407 h 5436644"/>
              <a:gd name="connsiteX2" fmla="*/ 4538241 w 4538241"/>
              <a:gd name="connsiteY2" fmla="*/ 364242 h 5436644"/>
              <a:gd name="connsiteX3" fmla="*/ 4538241 w 4538241"/>
              <a:gd name="connsiteY3" fmla="*/ 5436644 h 5436644"/>
              <a:gd name="connsiteX4" fmla="*/ 1091428 w 4538241"/>
              <a:gd name="connsiteY4" fmla="*/ 5436644 h 5436644"/>
              <a:gd name="connsiteX5" fmla="*/ 903472 w 4538241"/>
              <a:gd name="connsiteY5" fmla="*/ 5265818 h 5436644"/>
              <a:gd name="connsiteX6" fmla="*/ 0 w 4538241"/>
              <a:gd name="connsiteY6" fmla="*/ 3084645 h 5436644"/>
              <a:gd name="connsiteX7" fmla="*/ 3084645 w 4538241"/>
              <a:gd name="connsiteY7" fmla="*/ 0 h 543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8241" h="5436644">
                <a:moveTo>
                  <a:pt x="3084645" y="0"/>
                </a:moveTo>
                <a:cubicBezTo>
                  <a:pt x="3510546" y="0"/>
                  <a:pt x="3916286" y="86315"/>
                  <a:pt x="4285328" y="242407"/>
                </a:cubicBezTo>
                <a:lnTo>
                  <a:pt x="4538241" y="364242"/>
                </a:lnTo>
                <a:lnTo>
                  <a:pt x="4538241" y="5436644"/>
                </a:lnTo>
                <a:lnTo>
                  <a:pt x="1091428" y="5436644"/>
                </a:lnTo>
                <a:lnTo>
                  <a:pt x="903472" y="5265818"/>
                </a:lnTo>
                <a:cubicBezTo>
                  <a:pt x="345261" y="4707608"/>
                  <a:pt x="0" y="3936446"/>
                  <a:pt x="0" y="3084645"/>
                </a:cubicBezTo>
                <a:cubicBezTo>
                  <a:pt x="0" y="1381043"/>
                  <a:pt x="1381043" y="0"/>
                  <a:pt x="308464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6AAAC3B-1954-46B7-BBAC-27DFF5B5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9395" y="0"/>
            <a:ext cx="4023360" cy="2980240"/>
          </a:xfrm>
          <a:custGeom>
            <a:avLst/>
            <a:gdLst>
              <a:gd name="connsiteX0" fmla="*/ 248676 w 4023360"/>
              <a:gd name="connsiteY0" fmla="*/ 0 h 2980240"/>
              <a:gd name="connsiteX1" fmla="*/ 3774684 w 4023360"/>
              <a:gd name="connsiteY1" fmla="*/ 0 h 2980240"/>
              <a:gd name="connsiteX2" fmla="*/ 3780561 w 4023360"/>
              <a:gd name="connsiteY2" fmla="*/ 9674 h 2980240"/>
              <a:gd name="connsiteX3" fmla="*/ 4023360 w 4023360"/>
              <a:gd name="connsiteY3" fmla="*/ 968560 h 2980240"/>
              <a:gd name="connsiteX4" fmla="*/ 2011680 w 4023360"/>
              <a:gd name="connsiteY4" fmla="*/ 2980240 h 2980240"/>
              <a:gd name="connsiteX5" fmla="*/ 0 w 4023360"/>
              <a:gd name="connsiteY5" fmla="*/ 968560 h 2980240"/>
              <a:gd name="connsiteX6" fmla="*/ 242799 w 4023360"/>
              <a:gd name="connsiteY6" fmla="*/ 9674 h 298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23360" h="2980240">
                <a:moveTo>
                  <a:pt x="248676" y="0"/>
                </a:moveTo>
                <a:lnTo>
                  <a:pt x="3774684" y="0"/>
                </a:lnTo>
                <a:lnTo>
                  <a:pt x="3780561" y="9674"/>
                </a:lnTo>
                <a:cubicBezTo>
                  <a:pt x="3935405" y="294716"/>
                  <a:pt x="4023360" y="621366"/>
                  <a:pt x="4023360" y="968560"/>
                </a:cubicBezTo>
                <a:cubicBezTo>
                  <a:pt x="4023360" y="2079580"/>
                  <a:pt x="3122700" y="2980240"/>
                  <a:pt x="2011680" y="2980240"/>
                </a:cubicBezTo>
                <a:cubicBezTo>
                  <a:pt x="900660" y="2980240"/>
                  <a:pt x="0" y="2079580"/>
                  <a:pt x="0" y="968560"/>
                </a:cubicBezTo>
                <a:cubicBezTo>
                  <a:pt x="0" y="621366"/>
                  <a:pt x="87955" y="294716"/>
                  <a:pt x="242799" y="96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7EDB286-885C-11DD-9A12-F3F111FBE9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5161" y="356187"/>
            <a:ext cx="2878409" cy="17922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sz="1400">
                <a:ea typeface="等线"/>
              </a:rPr>
              <a:t>K=9(individual)+7(business)=16 total clusters</a:t>
            </a:r>
          </a:p>
          <a:p>
            <a:pPr marL="0"/>
            <a:endParaRPr lang="en-US" altLang="zh-CN" sz="1400"/>
          </a:p>
          <a:p>
            <a:pPr marL="0"/>
            <a:r>
              <a:rPr lang="en-US" altLang="zh-CN" sz="1400">
                <a:ea typeface="等线"/>
              </a:rPr>
              <a:t>Business-Specific Clusters</a:t>
            </a:r>
          </a:p>
          <a:p>
            <a:r>
              <a:rPr lang="en-US" altLang="zh-CN" sz="1400">
                <a:ea typeface="等线"/>
              </a:rPr>
              <a:t>Silhouette score: 0.3441</a:t>
            </a:r>
          </a:p>
          <a:p>
            <a:r>
              <a:rPr lang="en-US" altLang="zh-CN" sz="1400">
                <a:ea typeface="等线"/>
              </a:rPr>
              <a:t>Elbow inertia: 72795.91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5AD6500-BB62-4AAC-9D2F-C10DDC90C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6897" y="1584494"/>
            <a:ext cx="4375105" cy="5273507"/>
          </a:xfrm>
          <a:custGeom>
            <a:avLst/>
            <a:gdLst>
              <a:gd name="connsiteX0" fmla="*/ 2921508 w 4375105"/>
              <a:gd name="connsiteY0" fmla="*/ 0 h 5273507"/>
              <a:gd name="connsiteX1" fmla="*/ 4314072 w 4375105"/>
              <a:gd name="connsiteY1" fmla="*/ 352611 h 5273507"/>
              <a:gd name="connsiteX2" fmla="*/ 4375105 w 4375105"/>
              <a:gd name="connsiteY2" fmla="*/ 389689 h 5273507"/>
              <a:gd name="connsiteX3" fmla="*/ 4375105 w 4375105"/>
              <a:gd name="connsiteY3" fmla="*/ 5273507 h 5273507"/>
              <a:gd name="connsiteX4" fmla="*/ 1193705 w 4375105"/>
              <a:gd name="connsiteY4" fmla="*/ 5273507 h 5273507"/>
              <a:gd name="connsiteX5" fmla="*/ 1063158 w 4375105"/>
              <a:gd name="connsiteY5" fmla="*/ 5175886 h 5273507"/>
              <a:gd name="connsiteX6" fmla="*/ 0 w 4375105"/>
              <a:gd name="connsiteY6" fmla="*/ 2921508 h 5273507"/>
              <a:gd name="connsiteX7" fmla="*/ 2921508 w 4375105"/>
              <a:gd name="connsiteY7" fmla="*/ 0 h 527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5105" h="5273507">
                <a:moveTo>
                  <a:pt x="2921508" y="0"/>
                </a:moveTo>
                <a:cubicBezTo>
                  <a:pt x="3425728" y="0"/>
                  <a:pt x="3900114" y="127735"/>
                  <a:pt x="4314072" y="352611"/>
                </a:cubicBezTo>
                <a:lnTo>
                  <a:pt x="4375105" y="389689"/>
                </a:lnTo>
                <a:lnTo>
                  <a:pt x="4375105" y="5273507"/>
                </a:lnTo>
                <a:lnTo>
                  <a:pt x="1193705" y="5273507"/>
                </a:lnTo>
                <a:lnTo>
                  <a:pt x="1063158" y="5175886"/>
                </a:lnTo>
                <a:cubicBezTo>
                  <a:pt x="413861" y="4640038"/>
                  <a:pt x="0" y="3829104"/>
                  <a:pt x="0" y="2921508"/>
                </a:cubicBezTo>
                <a:cubicBezTo>
                  <a:pt x="0" y="1308004"/>
                  <a:pt x="1308004" y="0"/>
                  <a:pt x="292150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49D4903-A172-A3C2-DF6B-3B692D5CE1B6}"/>
              </a:ext>
            </a:extLst>
          </p:cNvPr>
          <p:cNvSpPr txBox="1"/>
          <p:nvPr/>
        </p:nvSpPr>
        <p:spPr>
          <a:xfrm>
            <a:off x="8386139" y="3143438"/>
            <a:ext cx="3474621" cy="2780412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/>
          </a:p>
          <a:p>
            <a:pPr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>
                <a:ea typeface="等线"/>
              </a:rPr>
              <a:t>Individual-Specific</a:t>
            </a:r>
            <a:r>
              <a:rPr lang="en-US" altLang="zh-CN" sz="2000" baseline="0">
                <a:ea typeface="等线"/>
              </a:rPr>
              <a:t> Clusters</a:t>
            </a:r>
            <a:r>
              <a:rPr lang="en-US" altLang="zh-CN" sz="2000">
                <a:ea typeface="等线"/>
              </a:rPr>
              <a:t>​</a:t>
            </a:r>
          </a:p>
          <a:p>
            <a:pPr marL="2286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aseline="0"/>
              <a:t>Silhouette score: 0.3</a:t>
            </a:r>
            <a:r>
              <a:rPr lang="en-US" altLang="zh-CN" sz="2000"/>
              <a:t>316</a:t>
            </a:r>
          </a:p>
          <a:p>
            <a:pPr marL="228600" lvl="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2000" baseline="0"/>
              <a:t>Elbow inertia: </a:t>
            </a:r>
            <a:r>
              <a:rPr lang="en-US" altLang="zh-CN" sz="2000"/>
              <a:t>826721.5</a:t>
            </a:r>
            <a:endParaRPr lang="en-US" altLang="zh-CN" sz="2000" baseline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altLang="zh-CN" sz="2000"/>
          </a:p>
        </p:txBody>
      </p:sp>
    </p:spTree>
    <p:extLst>
      <p:ext uri="{BB962C8B-B14F-4D97-AF65-F5344CB8AC3E}">
        <p14:creationId xmlns:p14="http://schemas.microsoft.com/office/powerpoint/2010/main" val="36227845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9">
            <a:extLst>
              <a:ext uri="{FF2B5EF4-FFF2-40B4-BE49-F238E27FC236}">
                <a16:creationId xmlns:a16="http://schemas.microsoft.com/office/drawing/2014/main" id="{4C608BEB-860E-4094-8511-78603564A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050" cy="6858000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492218D4-87D1-B830-9F9A-720F249C6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412488"/>
            <a:ext cx="2899189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CN" sz="4000">
                <a:solidFill>
                  <a:srgbClr val="FFFFFF"/>
                </a:solidFill>
                <a:ea typeface="等线 Light"/>
              </a:rPr>
              <a:t>Version A</a:t>
            </a:r>
            <a:r>
              <a:rPr lang="en-US" altLang="zh-CN" sz="4000" kern="1200">
                <a:solidFill>
                  <a:srgbClr val="FFFFFF"/>
                </a:solidFill>
                <a:latin typeface="+mj-lt"/>
                <a:ea typeface="等线 Light"/>
                <a:cs typeface="+mj-cs"/>
              </a:rPr>
              <a:t>: Cluster Sizes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83D567-DD07-FD61-D7AA-5C489BBD2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0855" y="1412489"/>
            <a:ext cx="3427283" cy="43638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br>
              <a:rPr lang="en-US" altLang="zh-CN" sz="1600"/>
            </a:br>
            <a:r>
              <a:rPr lang="en-US" altLang="zh-CN" sz="1600">
                <a:ea typeface="等线"/>
              </a:rPr>
              <a:t>Individual-Specific Clusters</a:t>
            </a:r>
          </a:p>
          <a:p>
            <a:r>
              <a:rPr lang="en-US" altLang="zh-CN" sz="1600"/>
              <a:t>individual_0    11501</a:t>
            </a:r>
          </a:p>
          <a:p>
            <a:r>
              <a:rPr lang="en-US" altLang="zh-CN" sz="1600"/>
              <a:t>individual_1     4708</a:t>
            </a:r>
          </a:p>
          <a:p>
            <a:r>
              <a:rPr lang="en-US" altLang="zh-CN" sz="1600"/>
              <a:t>individual_2     4402</a:t>
            </a:r>
          </a:p>
          <a:p>
            <a:r>
              <a:rPr lang="en-US" altLang="zh-CN" sz="1600"/>
              <a:t>individual_3    14730</a:t>
            </a:r>
          </a:p>
          <a:p>
            <a:r>
              <a:rPr lang="en-US" altLang="zh-CN" sz="1600"/>
              <a:t>individual_4      601</a:t>
            </a:r>
          </a:p>
          <a:p>
            <a:r>
              <a:rPr lang="en-US" altLang="zh-CN" sz="1600"/>
              <a:t>individual_5      362</a:t>
            </a:r>
          </a:p>
          <a:p>
            <a:r>
              <a:rPr lang="en-US" altLang="zh-CN" sz="1600"/>
              <a:t>individual_6     1259</a:t>
            </a:r>
          </a:p>
          <a:p>
            <a:r>
              <a:rPr lang="en-US" altLang="zh-CN" sz="1600"/>
              <a:t>individual_7    14134</a:t>
            </a:r>
          </a:p>
          <a:p>
            <a:r>
              <a:rPr lang="en-US" altLang="zh-CN" sz="1600">
                <a:ea typeface="等线"/>
              </a:rPr>
              <a:t>individual_8     1402</a:t>
            </a:r>
            <a:br>
              <a:rPr lang="en-US" altLang="zh-CN" sz="1600"/>
            </a:br>
            <a:endParaRPr lang="en-US" altLang="zh-CN" sz="1600"/>
          </a:p>
        </p:txBody>
      </p:sp>
      <p:cxnSp>
        <p:nvCxnSpPr>
          <p:cNvPr id="8" name="Straight Connector 11">
            <a:extLst>
              <a:ext uri="{FF2B5EF4-FFF2-40B4-BE49-F238E27FC236}">
                <a16:creationId xmlns:a16="http://schemas.microsoft.com/office/drawing/2014/main" id="{1F16A8D4-FE87-4604-88B2-394B5D1EB4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29871" y="1412488"/>
            <a:ext cx="0" cy="36576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AAF69C49-E7A0-EB62-A3DA-783761FCFF14}"/>
              </a:ext>
            </a:extLst>
          </p:cNvPr>
          <p:cNvSpPr txBox="1">
            <a:spLocks/>
          </p:cNvSpPr>
          <p:nvPr/>
        </p:nvSpPr>
        <p:spPr>
          <a:xfrm>
            <a:off x="8451604" y="1358610"/>
            <a:ext cx="3197701" cy="436384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/>
            <a:endParaRPr lang="en-US" altLang="zh-CN" sz="1600">
              <a:ea typeface="等线"/>
            </a:endParaRPr>
          </a:p>
          <a:p>
            <a:pPr marL="0" indent="0">
              <a:buNone/>
            </a:pPr>
            <a:r>
              <a:rPr lang="en-US" altLang="zh-CN" sz="1600">
                <a:ea typeface="等线"/>
              </a:rPr>
              <a:t>Business-Specific Clusters</a:t>
            </a:r>
          </a:p>
          <a:p>
            <a:r>
              <a:rPr lang="en-US" altLang="zh-CN" sz="1600">
                <a:ea typeface="等线"/>
              </a:rPr>
              <a:t>business_0    4048</a:t>
            </a:r>
          </a:p>
          <a:p>
            <a:r>
              <a:rPr lang="en-US" altLang="zh-CN" sz="1600">
                <a:ea typeface="等线"/>
              </a:rPr>
              <a:t>business_1     179</a:t>
            </a:r>
          </a:p>
          <a:p>
            <a:r>
              <a:rPr lang="en-US" altLang="zh-CN" sz="1600">
                <a:ea typeface="等线"/>
              </a:rPr>
              <a:t>business_2    1200</a:t>
            </a:r>
          </a:p>
          <a:p>
            <a:r>
              <a:rPr lang="en-US" altLang="zh-CN" sz="1600">
                <a:ea typeface="等线"/>
              </a:rPr>
              <a:t>business_3    1900</a:t>
            </a:r>
          </a:p>
          <a:p>
            <a:r>
              <a:rPr lang="en-US" altLang="zh-CN" sz="1600">
                <a:ea typeface="等线"/>
              </a:rPr>
              <a:t>business_4     626</a:t>
            </a:r>
          </a:p>
          <a:p>
            <a:r>
              <a:rPr lang="en-US" altLang="zh-CN" sz="1600">
                <a:ea typeface="等线"/>
              </a:rPr>
              <a:t>business_5     250</a:t>
            </a:r>
          </a:p>
          <a:p>
            <a:r>
              <a:rPr lang="en-US" altLang="zh-CN" sz="1600">
                <a:ea typeface="等线"/>
              </a:rPr>
              <a:t>business_6     108</a:t>
            </a:r>
            <a:br>
              <a:rPr lang="en-US" altLang="zh-CN" sz="1900"/>
            </a:br>
            <a:endParaRPr lang="en-US" altLang="zh-CN" sz="1900"/>
          </a:p>
        </p:txBody>
      </p:sp>
    </p:spTree>
    <p:extLst>
      <p:ext uri="{BB962C8B-B14F-4D97-AF65-F5344CB8AC3E}">
        <p14:creationId xmlns:p14="http://schemas.microsoft.com/office/powerpoint/2010/main" val="34915481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树状图&#10;&#10;AI 生成的内容可能不正确。">
            <a:extLst>
              <a:ext uri="{FF2B5EF4-FFF2-40B4-BE49-F238E27FC236}">
                <a16:creationId xmlns:a16="http://schemas.microsoft.com/office/drawing/2014/main" id="{315E300F-84D6-42BF-9679-1CF903B42D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163" y="557863"/>
            <a:ext cx="10102528" cy="6306662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7B62A5FE-93D2-5194-50F1-E5ED11DA1048}"/>
              </a:ext>
            </a:extLst>
          </p:cNvPr>
          <p:cNvSpPr/>
          <p:nvPr/>
        </p:nvSpPr>
        <p:spPr>
          <a:xfrm>
            <a:off x="1450879" y="1154544"/>
            <a:ext cx="8866907" cy="431028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511240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B6617A-10A0-7378-C09D-039A160DC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等线 Light"/>
              </a:rPr>
              <a:t>Individual-Specific Clusters</a:t>
            </a:r>
            <a:endParaRPr lang="zh-CN" altLang="en-US"/>
          </a:p>
        </p:txBody>
      </p:sp>
      <p:pic>
        <p:nvPicPr>
          <p:cNvPr id="7" name="内容占位符 6" descr="表格&#10;&#10;AI 生成的内容可能不正确。">
            <a:extLst>
              <a:ext uri="{FF2B5EF4-FFF2-40B4-BE49-F238E27FC236}">
                <a16:creationId xmlns:a16="http://schemas.microsoft.com/office/drawing/2014/main" id="{8C5C2B6D-C2D8-AB9D-A15E-9062115D30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1392" y="1972496"/>
            <a:ext cx="10129327" cy="3730416"/>
          </a:xfrm>
          <a:prstGeom prst="rect">
            <a:avLst/>
          </a:prstGeom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2F30EE5C-FA97-B5ED-476B-BA95DD3577ED}"/>
              </a:ext>
            </a:extLst>
          </p:cNvPr>
          <p:cNvSpPr/>
          <p:nvPr/>
        </p:nvSpPr>
        <p:spPr>
          <a:xfrm>
            <a:off x="1146504" y="2319913"/>
            <a:ext cx="9112111" cy="225206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71102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瀑布图&#10;&#10;AI 生成的内容可能不正确。">
            <a:extLst>
              <a:ext uri="{FF2B5EF4-FFF2-40B4-BE49-F238E27FC236}">
                <a16:creationId xmlns:a16="http://schemas.microsoft.com/office/drawing/2014/main" id="{B6F6FA9B-7C0F-4FF2-7AA5-36FF66F7C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126" y="538284"/>
            <a:ext cx="8594203" cy="5562023"/>
          </a:xfrm>
          <a:prstGeom prst="rect">
            <a:avLst/>
          </a:prstGeom>
        </p:spPr>
      </p:pic>
      <p:sp>
        <p:nvSpPr>
          <p:cNvPr id="7" name="矩形: 圆角 6">
            <a:extLst>
              <a:ext uri="{FF2B5EF4-FFF2-40B4-BE49-F238E27FC236}">
                <a16:creationId xmlns:a16="http://schemas.microsoft.com/office/drawing/2014/main" id="{90BA29CB-5F1D-0D2E-CC4C-FE15785303A1}"/>
              </a:ext>
            </a:extLst>
          </p:cNvPr>
          <p:cNvSpPr/>
          <p:nvPr/>
        </p:nvSpPr>
        <p:spPr>
          <a:xfrm>
            <a:off x="3071594" y="530062"/>
            <a:ext cx="885293" cy="5370336"/>
          </a:xfrm>
          <a:prstGeom prst="round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06441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C54BDA-4603-753F-F1C9-53F5C4162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35A668-98A9-422E-EE01-B49D7AFC8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等线 Light"/>
              </a:rPr>
              <a:t>Clustering Version B: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711FFF-1940-CB7E-C975-1ED1146EBD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>
                <a:ea typeface="等线"/>
              </a:rPr>
              <a:t>K=9 (1st round) +7 (2nd round) -1(dissolved business cluster from 1st round) =15 total clusters</a:t>
            </a:r>
          </a:p>
          <a:p>
            <a:pPr marL="0" indent="0">
              <a:buNone/>
            </a:pPr>
            <a:endParaRPr lang="zh-CN" altLang="en-US">
              <a:ea typeface="等线"/>
            </a:endParaRPr>
          </a:p>
          <a:p>
            <a:pPr marL="0" indent="0">
              <a:buNone/>
            </a:pPr>
            <a:r>
              <a:rPr lang="zh-CN" altLang="en-US">
                <a:ea typeface="等线"/>
              </a:rPr>
              <a:t>1st round metrics:</a:t>
            </a:r>
          </a:p>
          <a:p>
            <a:r>
              <a:rPr lang="zh-CN" altLang="en-US">
                <a:ea typeface="等线"/>
              </a:rPr>
              <a:t>Silhouette score: 0.3516</a:t>
            </a:r>
          </a:p>
          <a:p>
            <a:r>
              <a:rPr lang="zh-CN" altLang="en-US">
                <a:ea typeface="等线"/>
              </a:rPr>
              <a:t>Elbow inertia: 1169921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1F84E26-E7F7-7C60-19FB-F9E8B79B5E53}"/>
              </a:ext>
            </a:extLst>
          </p:cNvPr>
          <p:cNvSpPr txBox="1"/>
          <p:nvPr/>
        </p:nvSpPr>
        <p:spPr>
          <a:xfrm>
            <a:off x="5834303" y="3305848"/>
            <a:ext cx="6096000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800">
                <a:latin typeface="Aptos"/>
                <a:ea typeface="等线"/>
                <a:cs typeface="Arial"/>
              </a:rPr>
              <a:t>2nd round metrics</a:t>
            </a:r>
            <a:endParaRPr lang="zh-CN"/>
          </a:p>
          <a:p>
            <a:pPr marL="228600" lvl="0" indent="-228600" rtl="0">
              <a:buFont typeface=""/>
              <a:buChar char="•"/>
            </a:pPr>
            <a:r>
              <a:rPr lang="zh-CN" sz="2800" baseline="0">
                <a:latin typeface="Arial"/>
                <a:ea typeface="Aptos"/>
                <a:cs typeface="Arial"/>
              </a:rPr>
              <a:t>Silhouette score: 0.</a:t>
            </a:r>
            <a:r>
              <a:rPr lang="en-US" altLang="zh-CN" sz="2800">
                <a:latin typeface="Arial"/>
                <a:ea typeface="Aptos"/>
                <a:cs typeface="Arial"/>
              </a:rPr>
              <a:t>3223</a:t>
            </a:r>
            <a:endParaRPr lang="en-US" altLang="zh-CN" sz="2800">
              <a:latin typeface="Aptos"/>
              <a:ea typeface="Arial"/>
              <a:cs typeface="Arial"/>
            </a:endParaRPr>
          </a:p>
          <a:p>
            <a:pPr marL="228600" lvl="0" indent="-228600" rtl="0">
              <a:buFont typeface=""/>
              <a:buChar char="•"/>
            </a:pPr>
            <a:r>
              <a:rPr lang="zh-CN" sz="2800" baseline="0">
                <a:latin typeface="Arial"/>
                <a:ea typeface="Aptos"/>
                <a:cs typeface="Arial"/>
              </a:rPr>
              <a:t>Elbow inertia: </a:t>
            </a:r>
            <a:r>
              <a:rPr lang="en-US" altLang="zh-CN" sz="2800">
                <a:latin typeface="Arial"/>
                <a:ea typeface="Aptos"/>
                <a:cs typeface="Arial"/>
              </a:rPr>
              <a:t>76903.11</a:t>
            </a:r>
            <a:endParaRPr lang="en-US" altLang="zh-CN" sz="2800" baseline="0">
              <a:latin typeface="Arial"/>
              <a:ea typeface="Aptos"/>
              <a:cs typeface="Arial"/>
            </a:endParaRPr>
          </a:p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9614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89527B-DEB9-91C2-391F-DC024114D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>
                <a:ea typeface="等线 Light"/>
              </a:rPr>
              <a:t>Version B: Cluster Sizes:</a:t>
            </a:r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635FB3-5314-3087-047B-980C138376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71747"/>
            <a:ext cx="5204691" cy="440521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zh-CN" altLang="en-US" sz="2000">
                <a:latin typeface="Consolas"/>
                <a:ea typeface="等线"/>
              </a:rPr>
              <a:t>1st round :</a:t>
            </a:r>
          </a:p>
          <a:p>
            <a:pPr marL="0" indent="0">
              <a:buNone/>
            </a:pPr>
            <a:r>
              <a:rPr lang="en-US" altLang="zh-CN" sz="2000">
                <a:latin typeface="Consolas"/>
                <a:ea typeface="等线"/>
              </a:rPr>
              <a:t>Cluster </a:t>
            </a:r>
            <a:r>
              <a:rPr lang="zh-CN" sz="2000">
                <a:latin typeface="Consolas"/>
                <a:ea typeface="等线"/>
              </a:rPr>
              <a:t>0 20232 </a:t>
            </a:r>
            <a:endParaRPr lang="zh-CN" altLang="en-US" sz="2000">
              <a:latin typeface="Aptos" panose="02110004020202020204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>
                <a:latin typeface="Consolas"/>
                <a:ea typeface="等线"/>
              </a:rPr>
              <a:t>Cluster </a:t>
            </a:r>
            <a:r>
              <a:rPr lang="zh-CN" sz="2000">
                <a:latin typeface="Consolas"/>
                <a:ea typeface="等线"/>
              </a:rPr>
              <a:t>2 663 </a:t>
            </a:r>
            <a:endParaRPr lang="zh-CN" altLang="en-US" sz="2000">
              <a:latin typeface="Aptos" panose="02110004020202020204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>
                <a:latin typeface="Consolas"/>
                <a:ea typeface="等线"/>
              </a:rPr>
              <a:t>Cluster </a:t>
            </a:r>
            <a:r>
              <a:rPr lang="zh-CN" sz="2000">
                <a:latin typeface="Consolas"/>
                <a:ea typeface="等线"/>
              </a:rPr>
              <a:t>3 20846 </a:t>
            </a:r>
            <a:endParaRPr lang="zh-CN" altLang="en-US" sz="2000">
              <a:latin typeface="Aptos" panose="02110004020202020204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>
                <a:latin typeface="Consolas"/>
                <a:ea typeface="等线"/>
              </a:rPr>
              <a:t>Cluster </a:t>
            </a:r>
            <a:r>
              <a:rPr lang="zh-CN" sz="2000">
                <a:latin typeface="Consolas"/>
                <a:ea typeface="等线"/>
              </a:rPr>
              <a:t>4 845 </a:t>
            </a:r>
            <a:endParaRPr lang="zh-CN" altLang="en-US" sz="2000">
              <a:latin typeface="Aptos" panose="02110004020202020204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>
                <a:latin typeface="Consolas"/>
                <a:ea typeface="等线"/>
              </a:rPr>
              <a:t>Cluster </a:t>
            </a:r>
            <a:r>
              <a:rPr lang="zh-CN" sz="2000">
                <a:latin typeface="Consolas"/>
                <a:ea typeface="等线"/>
              </a:rPr>
              <a:t>5 1511 </a:t>
            </a:r>
            <a:endParaRPr lang="zh-CN" altLang="en-US" sz="2000">
              <a:latin typeface="Aptos" panose="02110004020202020204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>
                <a:latin typeface="Consolas"/>
                <a:ea typeface="等线"/>
              </a:rPr>
              <a:t>Cluster </a:t>
            </a:r>
            <a:r>
              <a:rPr lang="zh-CN" sz="2000">
                <a:latin typeface="Consolas"/>
                <a:ea typeface="等线"/>
              </a:rPr>
              <a:t>6 4762 </a:t>
            </a:r>
            <a:endParaRPr lang="zh-CN" altLang="en-US" sz="2000">
              <a:latin typeface="Aptos" panose="02110004020202020204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>
                <a:latin typeface="Consolas"/>
                <a:ea typeface="等线"/>
              </a:rPr>
              <a:t>Cluster </a:t>
            </a:r>
            <a:r>
              <a:rPr lang="zh-CN" sz="2000">
                <a:latin typeface="Consolas"/>
                <a:ea typeface="等线"/>
              </a:rPr>
              <a:t>7 453 </a:t>
            </a:r>
            <a:endParaRPr lang="zh-CN" altLang="en-US" sz="2000">
              <a:latin typeface="Aptos" panose="02110004020202020204"/>
              <a:ea typeface="等线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>
                <a:latin typeface="Consolas"/>
                <a:ea typeface="等线"/>
              </a:rPr>
              <a:t>Cluster </a:t>
            </a:r>
            <a:r>
              <a:rPr lang="zh-CN" sz="2000">
                <a:latin typeface="Consolas"/>
                <a:ea typeface="等线"/>
              </a:rPr>
              <a:t>8 5160 </a:t>
            </a:r>
            <a:endParaRPr lang="zh-CN" altLang="en-US" sz="2000">
              <a:latin typeface="Aptos" panose="02110004020202020204"/>
              <a:ea typeface="等线" panose="02010600030101010101" pitchFamily="2" charset="-122"/>
            </a:endParaRPr>
          </a:p>
          <a:p>
            <a:pPr marL="0" indent="0">
              <a:buNone/>
            </a:pPr>
            <a:endParaRPr lang="zh-CN" altLang="en-US" sz="1100">
              <a:latin typeface="Consolas"/>
              <a:ea typeface="等线"/>
            </a:endParaRPr>
          </a:p>
          <a:p>
            <a:pPr marL="0" indent="0">
              <a:buNone/>
            </a:pPr>
            <a:r>
              <a:rPr lang="zh-CN" altLang="en-US" sz="1100">
                <a:latin typeface="Consolas"/>
                <a:ea typeface="等线"/>
              </a:rPr>
              <a:t>Note: Cluster 1 from first round was used for 2nd round since 99%~ of customers are business kyc_type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C4A102-6DB9-060C-8C63-118028BBE01D}"/>
              </a:ext>
            </a:extLst>
          </p:cNvPr>
          <p:cNvSpPr txBox="1"/>
          <p:nvPr/>
        </p:nvSpPr>
        <p:spPr>
          <a:xfrm>
            <a:off x="6080606" y="1758758"/>
            <a:ext cx="6111394" cy="293926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zh-CN" sz="700">
                <a:latin typeface="Segoe UI"/>
                <a:ea typeface="Consolas"/>
                <a:cs typeface="Segoe UI"/>
              </a:rPr>
              <a:t>​</a:t>
            </a:r>
          </a:p>
          <a:p>
            <a:pPr rtl="0"/>
            <a:r>
              <a:rPr lang="zh-CN" sz="2000" baseline="0">
                <a:latin typeface="Segoe UI"/>
                <a:ea typeface="Consolas"/>
                <a:cs typeface="Segoe UI"/>
              </a:rPr>
              <a:t>2nd Round:</a:t>
            </a:r>
            <a:r>
              <a:rPr lang="zh-CN" sz="2000">
                <a:latin typeface="Segoe UI"/>
                <a:ea typeface="Consolas"/>
                <a:cs typeface="Segoe UI"/>
              </a:rPr>
              <a:t>​</a:t>
            </a:r>
          </a:p>
          <a:p>
            <a:pPr rtl="0"/>
            <a:r>
              <a:rPr lang="zh-CN" sz="2000" baseline="0">
                <a:latin typeface="Segoe UI"/>
                <a:ea typeface="Consolas"/>
                <a:cs typeface="Segoe UI"/>
              </a:rPr>
              <a:t>business_0 193 </a:t>
            </a:r>
            <a:r>
              <a:rPr lang="zh-CN" sz="2000">
                <a:latin typeface="Segoe UI"/>
                <a:ea typeface="Consolas"/>
                <a:cs typeface="Segoe UI"/>
              </a:rPr>
              <a:t>​</a:t>
            </a:r>
          </a:p>
          <a:p>
            <a:pPr rtl="0"/>
            <a:r>
              <a:rPr lang="zh-CN" sz="2000" baseline="0">
                <a:latin typeface="Segoe UI"/>
                <a:ea typeface="Consolas"/>
                <a:cs typeface="Segoe UI"/>
              </a:rPr>
              <a:t>business_1 1361 </a:t>
            </a:r>
            <a:r>
              <a:rPr lang="zh-CN" sz="2000">
                <a:latin typeface="Segoe UI"/>
                <a:ea typeface="Consolas"/>
                <a:cs typeface="Segoe UI"/>
              </a:rPr>
              <a:t>​</a:t>
            </a:r>
          </a:p>
          <a:p>
            <a:pPr rtl="0"/>
            <a:r>
              <a:rPr lang="zh-CN" sz="2000" baseline="0">
                <a:latin typeface="Segoe UI"/>
                <a:ea typeface="Consolas"/>
                <a:cs typeface="Segoe UI"/>
              </a:rPr>
              <a:t>business_2 2533 </a:t>
            </a:r>
            <a:r>
              <a:rPr lang="zh-CN" sz="2000">
                <a:latin typeface="Segoe UI"/>
                <a:ea typeface="Consolas"/>
                <a:cs typeface="Segoe UI"/>
              </a:rPr>
              <a:t>​</a:t>
            </a:r>
          </a:p>
          <a:p>
            <a:pPr rtl="0"/>
            <a:r>
              <a:rPr lang="zh-CN" sz="2000" baseline="0">
                <a:latin typeface="Segoe UI"/>
                <a:ea typeface="Consolas"/>
                <a:cs typeface="Segoe UI"/>
              </a:rPr>
              <a:t>business_3 48 </a:t>
            </a:r>
            <a:r>
              <a:rPr lang="zh-CN" sz="2000">
                <a:latin typeface="Segoe UI"/>
                <a:ea typeface="Consolas"/>
                <a:cs typeface="Segoe UI"/>
              </a:rPr>
              <a:t>​</a:t>
            </a:r>
          </a:p>
          <a:p>
            <a:pPr rtl="0"/>
            <a:r>
              <a:rPr lang="zh-CN" sz="2000" baseline="0">
                <a:latin typeface="Segoe UI"/>
                <a:ea typeface="Consolas"/>
                <a:cs typeface="Segoe UI"/>
              </a:rPr>
              <a:t>business_4 1855 </a:t>
            </a:r>
            <a:r>
              <a:rPr lang="zh-CN" sz="2000">
                <a:latin typeface="Segoe UI"/>
                <a:ea typeface="Consolas"/>
                <a:cs typeface="Segoe UI"/>
              </a:rPr>
              <a:t>​</a:t>
            </a:r>
          </a:p>
          <a:p>
            <a:pPr rtl="0"/>
            <a:r>
              <a:rPr lang="zh-CN" sz="2000" baseline="0">
                <a:latin typeface="Segoe UI"/>
                <a:ea typeface="Consolas"/>
                <a:cs typeface="Segoe UI"/>
              </a:rPr>
              <a:t>business_5 264 </a:t>
            </a:r>
            <a:r>
              <a:rPr lang="zh-CN" sz="2000">
                <a:latin typeface="Segoe UI"/>
                <a:ea typeface="Consolas"/>
                <a:cs typeface="Segoe UI"/>
              </a:rPr>
              <a:t>​</a:t>
            </a:r>
          </a:p>
          <a:p>
            <a:pPr rtl="0"/>
            <a:r>
              <a:rPr lang="zh-CN" sz="2000" baseline="0">
                <a:latin typeface="Segoe UI"/>
                <a:ea typeface="Consolas"/>
                <a:cs typeface="Segoe UI"/>
              </a:rPr>
              <a:t>business_6 684</a:t>
            </a:r>
            <a:r>
              <a:rPr lang="en-US" sz="2000">
                <a:latin typeface="Consolas"/>
                <a:ea typeface="Segoe UI"/>
                <a:cs typeface="Segoe UI"/>
              </a:rPr>
              <a:t>​</a:t>
            </a:r>
          </a:p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9589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74BE7-71B8-7986-4BAD-EB56420F9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0776"/>
          </a:xfrm>
        </p:spPr>
        <p:txBody>
          <a:bodyPr/>
          <a:lstStyle/>
          <a:p>
            <a:r>
              <a:rPr lang="zh-CN" altLang="en-US">
                <a:ea typeface="等线 Light"/>
              </a:rPr>
              <a:t>Business-Specific Clusters</a:t>
            </a:r>
            <a:endParaRPr lang="zh-CN" altLang="en-US"/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61581306-21F9-C05E-BE9F-63BD9C7CC4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4623146"/>
            <a:ext cx="6096000" cy="2235326"/>
          </a:xfrm>
          <a:prstGeom prst="rect">
            <a:avLst/>
          </a:prstGeom>
        </p:spPr>
      </p:pic>
      <p:pic>
        <p:nvPicPr>
          <p:cNvPr id="6" name="图片 5" descr="图表, 瀑布图&#10;&#10;AI 生成的内容可能不正确。">
            <a:extLst>
              <a:ext uri="{FF2B5EF4-FFF2-40B4-BE49-F238E27FC236}">
                <a16:creationId xmlns:a16="http://schemas.microsoft.com/office/drawing/2014/main" id="{8A2F62F4-D72F-E877-27FA-F6B312748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652" y="1545166"/>
            <a:ext cx="4667541" cy="3079751"/>
          </a:xfrm>
          <a:prstGeom prst="rect">
            <a:avLst/>
          </a:prstGeom>
        </p:spPr>
      </p:pic>
      <p:pic>
        <p:nvPicPr>
          <p:cNvPr id="3" name="图片 2" descr="图表, 树状图&#10;&#10;AI 生成的内容可能不正确。">
            <a:extLst>
              <a:ext uri="{FF2B5EF4-FFF2-40B4-BE49-F238E27FC236}">
                <a16:creationId xmlns:a16="http://schemas.microsoft.com/office/drawing/2014/main" id="{1C0EA372-AE9C-C967-211E-BDD8F06864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48" y="3248120"/>
            <a:ext cx="5809293" cy="3609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61247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85E0935-38F1-5B61-266D-4BBF20FF2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zh-CN" altLang="en-US" sz="4000">
                <a:solidFill>
                  <a:srgbClr val="FFFFFF"/>
                </a:solidFill>
                <a:ea typeface="等线 Light"/>
              </a:rPr>
              <a:t>Websites for understanding (References)</a:t>
            </a:r>
            <a:endParaRPr lang="zh-CN" altLang="en-US" sz="4000">
              <a:solidFill>
                <a:srgbClr val="FFFFFF"/>
              </a:solidFill>
            </a:endParaRP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A3670EC-A531-51CD-0959-713B402488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z="2000">
                <a:ea typeface="等线"/>
              </a:rPr>
              <a:t>Prince Package (FAMD) for Dimensionality Reduction:</a:t>
            </a:r>
          </a:p>
          <a:p>
            <a:pPr marL="0" indent="0">
              <a:buNone/>
            </a:pPr>
            <a:r>
              <a:rPr lang="zh-CN" sz="2000">
                <a:ea typeface="+mn-lt"/>
                <a:cs typeface="+mn-lt"/>
                <a:hlinkClick r:id="rId2"/>
              </a:rPr>
              <a:t>https://maxhalford.github.io/prince/famd/</a:t>
            </a:r>
            <a:endParaRPr lang="zh-CN" altLang="en-US" sz="2000">
              <a:ea typeface="+mn-lt"/>
              <a:cs typeface="+mn-lt"/>
            </a:endParaRPr>
          </a:p>
          <a:p>
            <a:r>
              <a:rPr lang="en-US" altLang="zh-CN" sz="2000">
                <a:ea typeface="+mn-lt"/>
                <a:cs typeface="+mn-lt"/>
              </a:rPr>
              <a:t>Silhouette and Elbow Score for Clustering</a:t>
            </a:r>
            <a:endParaRPr lang="zh-CN" altLang="en-US" sz="2000">
              <a:ea typeface="等线"/>
              <a:cs typeface="+mn-lt"/>
            </a:endParaRPr>
          </a:p>
          <a:p>
            <a:pPr marL="0" indent="0">
              <a:buNone/>
            </a:pPr>
            <a:r>
              <a:rPr lang="en-US" altLang="zh-CN" sz="2000">
                <a:ea typeface="+mn-lt"/>
                <a:cs typeface="+mn-lt"/>
                <a:hlinkClick r:id="rId3"/>
              </a:rPr>
              <a:t>h</a:t>
            </a:r>
            <a:r>
              <a:rPr lang="zh-CN" sz="2000">
                <a:ea typeface="+mn-lt"/>
                <a:cs typeface="+mn-lt"/>
                <a:hlinkClick r:id="rId3"/>
              </a:rPr>
              <a:t>ttps://www.geeksforgeeks.org/machine-learning/what-is-silhouette-score/</a:t>
            </a:r>
            <a:endParaRPr lang="zh-CN" altLang="en-US" sz="2000">
              <a:ea typeface="等线"/>
              <a:cs typeface="+mn-lt"/>
            </a:endParaRPr>
          </a:p>
          <a:p>
            <a:pPr marL="0" indent="0">
              <a:buNone/>
            </a:pPr>
            <a:r>
              <a:rPr lang="en-US" altLang="zh-CN" sz="2000">
                <a:ea typeface="+mn-lt"/>
                <a:cs typeface="+mn-lt"/>
              </a:rPr>
              <a:t>https://www.geeksforgeeks.org/machine-learning/elbow-method-for-optimal-value-of-k-in-kmeans/</a:t>
            </a:r>
            <a:endParaRPr lang="zh-CN" sz="2000"/>
          </a:p>
          <a:p>
            <a:pPr marL="0" indent="0">
              <a:buNone/>
            </a:pPr>
            <a:endParaRPr lang="zh-CN" sz="2000">
              <a:ea typeface="等线"/>
            </a:endParaRPr>
          </a:p>
          <a:p>
            <a:pPr marL="0" indent="0">
              <a:buNone/>
            </a:pPr>
            <a:endParaRPr lang="zh-CN" sz="2000">
              <a:ea typeface="等线"/>
            </a:endParaRPr>
          </a:p>
          <a:p>
            <a:pPr marL="0" indent="0">
              <a:buNone/>
            </a:pPr>
            <a:endParaRPr lang="zh-CN" altLang="en-US" sz="2000">
              <a:ea typeface="等线"/>
            </a:endParaRPr>
          </a:p>
        </p:txBody>
      </p:sp>
    </p:spTree>
    <p:extLst>
      <p:ext uri="{BB962C8B-B14F-4D97-AF65-F5344CB8AC3E}">
        <p14:creationId xmlns:p14="http://schemas.microsoft.com/office/powerpoint/2010/main" val="4023264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71F3CB96-C543-2A41-38FC-EE6381F3D3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602" y="-136525"/>
            <a:ext cx="10725731" cy="6840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2397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6D11D-1B98-ECD8-128C-97715D237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Tuning LOF and ABOD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87332-B454-4BC2-EB5E-15D237102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112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/>
              <a:t>LOF </a:t>
            </a:r>
            <a:r>
              <a:rPr lang="en-US" sz="2200"/>
              <a:t>was fit on the dataset in two different ways: </a:t>
            </a:r>
            <a:endParaRPr lang="en-US"/>
          </a:p>
          <a:p>
            <a:pPr marL="0" indent="0">
              <a:buNone/>
            </a:pPr>
            <a:r>
              <a:rPr lang="en-US" sz="2200"/>
              <a:t>1) On PCA output of the full dataset of every customer (</a:t>
            </a:r>
            <a:r>
              <a:rPr lang="en-US" sz="2200" i="1"/>
              <a:t>master_features_with_clustering.csv,  n </a:t>
            </a:r>
            <a:r>
              <a:rPr lang="en-US" sz="2200"/>
              <a:t>= 61,410) with non-numeric columns removed</a:t>
            </a:r>
            <a:endParaRPr lang="en-US"/>
          </a:p>
          <a:p>
            <a:pPr marL="0" indent="0">
              <a:buNone/>
            </a:pPr>
            <a:r>
              <a:rPr lang="en-US" sz="2200"/>
              <a:t>2) On FAMD output of each of the 16 clusters that partition the full dataset of customers from Version A </a:t>
            </a:r>
            <a:endParaRPr lang="en-US"/>
          </a:p>
          <a:p>
            <a:pPr marL="0" indent="0">
              <a:buNone/>
            </a:pPr>
            <a:r>
              <a:rPr lang="en-US" sz="2200" b="1"/>
              <a:t>ABOD </a:t>
            </a:r>
            <a:r>
              <a:rPr lang="en-US" sz="2200"/>
              <a:t>was fit on the numeric columns of </a:t>
            </a:r>
            <a:r>
              <a:rPr lang="en-US" sz="2200" i="1"/>
              <a:t>master_features_with_clustering.csv </a:t>
            </a:r>
            <a:r>
              <a:rPr lang="en-US" sz="2200"/>
              <a:t>directly</a:t>
            </a:r>
            <a:endParaRPr lang="en-US"/>
          </a:p>
          <a:p>
            <a:pPr marL="0" indent="0">
              <a:buNone/>
            </a:pPr>
            <a:r>
              <a:rPr lang="en-US" sz="2200"/>
              <a:t>For both models, hyperparameters are tuned by assessing rank-stability of labeled observations across different values neighboring  k </a:t>
            </a:r>
            <a:r>
              <a:rPr lang="en-US" sz="2200">
                <a:solidFill>
                  <a:srgbClr val="0A0A0A"/>
                </a:solidFill>
              </a:rPr>
              <a:t>≈ √𝑛 (Breunig et al., 2000)</a:t>
            </a:r>
            <a:endParaRPr lang="en-US"/>
          </a:p>
          <a:p>
            <a:pPr marL="342900" indent="-342900">
              <a:buFont typeface="Calibri" panose="020B0604020202020204" pitchFamily="34" charset="0"/>
              <a:buChar char="-"/>
            </a:pPr>
            <a:r>
              <a:rPr lang="en-US" sz="2200"/>
              <a:t>The </a:t>
            </a:r>
            <a:r>
              <a:rPr lang="en-US" sz="2200" i="1"/>
              <a:t>contamination </a:t>
            </a:r>
            <a:r>
              <a:rPr lang="en-US" sz="2200"/>
              <a:t>parameter is set to 'auto' to maintain compatibility with the rule-based algorithm </a:t>
            </a:r>
            <a:br>
              <a:rPr lang="en-US" sz="2200"/>
            </a:br>
            <a:endParaRPr lang="en-US" sz="2200"/>
          </a:p>
          <a:p>
            <a:pPr>
              <a:buFont typeface="Calibri" panose="020B0604020202020204" pitchFamily="34" charset="0"/>
              <a:buChar char="-"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70933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6E83E3FD-7556-9C80-1583-24DDD54544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82379" y="-656"/>
            <a:ext cx="12386725" cy="624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687528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9E77D4A1-55FD-0162-5516-432FC66B21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2877" y="238649"/>
            <a:ext cx="11146114" cy="557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0171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799F98F-E1E2-EA5B-9DA2-4342F618FB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594424" y="111125"/>
            <a:ext cx="12561698" cy="633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1214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D1F678DE-DAD7-B2AD-45DD-5BACA31FC9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7222" y="-2125"/>
            <a:ext cx="11899496" cy="6705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9302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A collage of graphs&#10;&#10;AI-generated content may be incorrect.">
            <a:extLst>
              <a:ext uri="{FF2B5EF4-FFF2-40B4-BE49-F238E27FC236}">
                <a16:creationId xmlns:a16="http://schemas.microsoft.com/office/drawing/2014/main" id="{D20FF056-C9CD-2442-3FD8-DE616C3E64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215889" y="123825"/>
            <a:ext cx="12225109" cy="6646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4983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BB00AF-A63F-64C9-1318-46C01E1DC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AEA31C0B-0118-8A0F-BC6C-959EA5D9CB01}"/>
              </a:ext>
            </a:extLst>
          </p:cNvPr>
          <p:cNvSpPr txBox="1"/>
          <p:nvPr/>
        </p:nvSpPr>
        <p:spPr>
          <a:xfrm>
            <a:off x="786385" y="841248"/>
            <a:ext cx="5129600" cy="5340097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Isolation Forest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48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" name="Content Placeholder 2">
            <a:extLst>
              <a:ext uri="{FF2B5EF4-FFF2-40B4-BE49-F238E27FC236}">
                <a16:creationId xmlns:a16="http://schemas.microsoft.com/office/drawing/2014/main" id="{70E57F32-1453-3A42-5850-9E327B2CFF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4410" y="841247"/>
            <a:ext cx="4484536" cy="534009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b="1">
                <a:solidFill>
                  <a:schemeClr val="tx2"/>
                </a:solidFill>
              </a:rPr>
              <a:t>Parameters: </a:t>
            </a:r>
          </a:p>
          <a:p>
            <a:pPr marL="0"/>
            <a:r>
              <a:rPr lang="en-US" sz="1300" b="1">
                <a:solidFill>
                  <a:schemeClr val="tx2"/>
                </a:solidFill>
              </a:rPr>
              <a:t>contamination=0.05</a:t>
            </a:r>
            <a:r>
              <a:rPr lang="en-US" sz="1300">
                <a:solidFill>
                  <a:schemeClr val="tx2"/>
                </a:solidFill>
              </a:rPr>
              <a:t> to match the “top 5%” flagging used elsewhere</a:t>
            </a:r>
          </a:p>
          <a:p>
            <a:pPr marL="0"/>
            <a:r>
              <a:rPr lang="en-US" sz="1300" b="1">
                <a:solidFill>
                  <a:schemeClr val="tx2"/>
                </a:solidFill>
              </a:rPr>
              <a:t>n_estimators=100</a:t>
            </a:r>
            <a:r>
              <a:rPr lang="en-US" sz="1300">
                <a:solidFill>
                  <a:schemeClr val="tx2"/>
                </a:solidFill>
              </a:rPr>
              <a:t> for stability vs cost</a:t>
            </a:r>
          </a:p>
          <a:p>
            <a:pPr marL="0"/>
            <a:r>
              <a:rPr lang="en-US" sz="1300" b="1">
                <a:solidFill>
                  <a:schemeClr val="tx2"/>
                </a:solidFill>
              </a:rPr>
              <a:t>max_samples="auto"</a:t>
            </a:r>
            <a:r>
              <a:rPr lang="en-US" sz="1300">
                <a:solidFill>
                  <a:schemeClr val="tx2"/>
                </a:solidFill>
              </a:rPr>
              <a:t> (256)</a:t>
            </a:r>
          </a:p>
          <a:p>
            <a:pPr marL="0"/>
            <a:r>
              <a:rPr lang="en-US" sz="1300" b="1">
                <a:solidFill>
                  <a:schemeClr val="tx2"/>
                </a:solidFill>
              </a:rPr>
              <a:t>random_state=42</a:t>
            </a:r>
            <a:r>
              <a:rPr lang="en-US" sz="1300">
                <a:solidFill>
                  <a:schemeClr val="tx2"/>
                </a:solidFill>
              </a:rPr>
              <a:t> for reproducibility</a:t>
            </a:r>
          </a:p>
          <a:p>
            <a:pPr marL="0" indent="0">
              <a:buNone/>
            </a:pPr>
            <a:endParaRPr lang="en-US" sz="13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000" b="1">
                <a:solidFill>
                  <a:schemeClr val="tx2"/>
                </a:solidFill>
              </a:rPr>
              <a:t>Preprocessing:</a:t>
            </a:r>
          </a:p>
          <a:p>
            <a:pPr marL="0"/>
            <a:r>
              <a:rPr lang="en-US" sz="1300" b="1">
                <a:solidFill>
                  <a:schemeClr val="tx2"/>
                </a:solidFill>
              </a:rPr>
              <a:t>StandardScaler</a:t>
            </a:r>
            <a:r>
              <a:rPr lang="en-US" sz="1300">
                <a:solidFill>
                  <a:schemeClr val="tx2"/>
                </a:solidFill>
              </a:rPr>
              <a:t> on numeric features (excluding rule-based columns) so high-magnitude features (e.g. volumes) don’t dominate</a:t>
            </a:r>
          </a:p>
          <a:p>
            <a:pPr marL="0"/>
            <a:r>
              <a:rPr lang="en-US" sz="1300">
                <a:solidFill>
                  <a:schemeClr val="tx2"/>
                </a:solidFill>
              </a:rPr>
              <a:t>missing/inf handled with median fill</a:t>
            </a:r>
          </a:p>
          <a:p>
            <a:pPr marL="0" indent="0">
              <a:buNone/>
            </a:pPr>
            <a:endParaRPr lang="en-US" sz="130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000" b="1">
                <a:solidFill>
                  <a:schemeClr val="tx2"/>
                </a:solidFill>
              </a:rPr>
              <a:t>Output:</a:t>
            </a:r>
          </a:p>
          <a:p>
            <a:pPr marL="0"/>
            <a:r>
              <a:rPr lang="en-US" sz="1300">
                <a:solidFill>
                  <a:schemeClr val="tx2"/>
                </a:solidFill>
              </a:rPr>
              <a:t>Raw score_samples (negative = more anomalous) are </a:t>
            </a:r>
            <a:r>
              <a:rPr lang="en-US" sz="1300" b="1">
                <a:solidFill>
                  <a:schemeClr val="tx2"/>
                </a:solidFill>
              </a:rPr>
              <a:t>min–max scaled to [0,1]</a:t>
            </a:r>
            <a:r>
              <a:rPr lang="en-US" sz="1300">
                <a:solidFill>
                  <a:schemeClr val="tx2"/>
                </a:solidFill>
              </a:rPr>
              <a:t> and inverted</a:t>
            </a:r>
          </a:p>
          <a:p>
            <a:pPr marL="0"/>
            <a:r>
              <a:rPr lang="en-US" sz="1300">
                <a:solidFill>
                  <a:schemeClr val="tx2"/>
                </a:solidFill>
              </a:rPr>
              <a:t>I.e.,</a:t>
            </a:r>
            <a:r>
              <a:rPr lang="en-US" sz="1300" b="1">
                <a:solidFill>
                  <a:schemeClr val="tx2"/>
                </a:solidFill>
              </a:rPr>
              <a:t> higher = more anomalous</a:t>
            </a:r>
            <a:endParaRPr lang="en-US" sz="13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12058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4BC99CB9-DDAD-44A2-8A1C-E3AF4E72DF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4053CBF-3932-45FF-8285-EE5146085F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E751C04-BEA6-446B-A678-9C74819EBD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2625A013-D9BE-43C4-AF21-6F2B003EFB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7875715-EC2E-457F-851D-F6C817685F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7E41CC6-0C83-40EE-80BB-79394D9E9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0603498-5DFE-4D26-BFB5-C9269C9BDB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E70A3-C478-014C-90CD-8D83509B8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1977" y="3047999"/>
            <a:ext cx="10207740" cy="762001"/>
          </a:xfrm>
        </p:spPr>
        <p:txBody>
          <a:bodyPr anchor="t">
            <a:normAutofit/>
          </a:bodyPr>
          <a:lstStyle/>
          <a:p>
            <a:pPr marL="0" indent="0" algn="ctr">
              <a:buNone/>
            </a:pPr>
            <a:r>
              <a:rPr lang="en-US" sz="4800">
                <a:solidFill>
                  <a:schemeClr val="tx2"/>
                </a:solidFill>
              </a:rPr>
              <a:t>How will it all come together???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63ACBA3-DEFD-4C6D-BBA0-64468FA99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2F7819D-2B89-4D80-A1C3-8B318116BA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7065990-2350-41B3-858B-20EF8744F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8DA7EC7-CAA0-4665-AA29-BFBA806EC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1132A14-489F-4CED-B626-2A1711C987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9876954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1A6B5D-CD47-9EFD-EA10-4D98EECE0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 far,</a:t>
            </a:r>
            <a:b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 have…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1D465AD-FDE1-8AE0-E487-149ADFD73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2428" y="973335"/>
            <a:ext cx="7225748" cy="558189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3AFCC37E-A29E-5CDE-AF21-F57AC0410DA4}"/>
                  </a:ext>
                </a:extLst>
              </p14:cNvPr>
              <p14:cNvContentPartPr/>
              <p14:nvPr/>
            </p14:nvContentPartPr>
            <p14:xfrm>
              <a:off x="8667825" y="6017955"/>
              <a:ext cx="196200" cy="54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3AFCC37E-A29E-5CDE-AF21-F57AC0410DA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604825" y="5954955"/>
                <a:ext cx="321840" cy="18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458901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27E16D-D76C-743A-732D-CE193E9D1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A0F720-F2A2-334E-3180-EEC0D9D90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So far,</a:t>
            </a:r>
            <a:b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we have…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D13C06F-9A55-CD85-6699-7AF70F101048}"/>
                  </a:ext>
                </a:extLst>
              </p14:cNvPr>
              <p14:cNvContentPartPr/>
              <p14:nvPr/>
            </p14:nvContentPartPr>
            <p14:xfrm>
              <a:off x="8667825" y="6017955"/>
              <a:ext cx="196200" cy="547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D13C06F-9A55-CD85-6699-7AF70F10104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04825" y="5954955"/>
                <a:ext cx="321840" cy="18036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A61F8719-7D40-0DCA-B926-7879E6EA2C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888" y="3629322"/>
            <a:ext cx="7225748" cy="29101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7FB6AA2-9BA0-3134-E68A-09CC09655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7958" y="166051"/>
            <a:ext cx="2243302" cy="376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2399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AD8F4D-22EA-B30D-C2CA-A778674E8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9" name="Rectangle 5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DBD25-869F-81C2-A9C9-E2180BE0E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Pipeline for Task 2 + Task 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5644CFF-AE85-5623-7672-2EE3A29983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496" y="1812188"/>
            <a:ext cx="11827008" cy="4760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1712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F380E2-1133-5A41-A556-4D81694E9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3F3E0B-FDAC-5716-F4D7-7C86011A5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Pipeline: Rule-Based Algo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242C3A8-1328-55A0-5CD6-1024E5A39A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3" y="1574310"/>
            <a:ext cx="11327549" cy="303011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3444C1-E9F1-858A-30F0-624BD92B4D3A}"/>
              </a:ext>
            </a:extLst>
          </p:cNvPr>
          <p:cNvSpPr txBox="1"/>
          <p:nvPr/>
        </p:nvSpPr>
        <p:spPr>
          <a:xfrm>
            <a:off x="1417743" y="4322156"/>
            <a:ext cx="6466907" cy="22878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50"/>
              </a:spcBef>
              <a:spcAft>
                <a:spcPts val="150"/>
              </a:spcAft>
            </a:pPr>
            <a:r>
              <a:rPr lang="en-US" b="1" i="0">
                <a:effectLst/>
                <a:latin typeface="Segoe WPC"/>
              </a:rPr>
              <a:t>Five risk categories</a:t>
            </a:r>
            <a:r>
              <a:rPr lang="en-US" b="0" i="0">
                <a:effectLst/>
                <a:latin typeface="Segoe WPC"/>
              </a:rPr>
              <a:t> (aligned with the AML library), each with a </a:t>
            </a:r>
            <a:r>
              <a:rPr lang="en-US" b="1" i="0">
                <a:effectLst/>
                <a:latin typeface="Segoe WPC"/>
              </a:rPr>
              <a:t>weight</a:t>
            </a:r>
            <a:r>
              <a:rPr lang="en-US" b="0" i="0">
                <a:effectLst/>
                <a:latin typeface="Segoe WPC"/>
              </a:rPr>
              <a:t> and a set of </a:t>
            </a:r>
            <a:r>
              <a:rPr lang="en-US" b="1" i="0">
                <a:effectLst/>
                <a:latin typeface="Segoe WPC"/>
              </a:rPr>
              <a:t>feature → threshold → weight</a:t>
            </a:r>
            <a:r>
              <a:rPr lang="en-US" b="0" i="0">
                <a:effectLst/>
                <a:latin typeface="Segoe WPC"/>
              </a:rPr>
              <a:t> rules:</a:t>
            </a:r>
          </a:p>
          <a:p>
            <a:pPr marL="342900" indent="-342900" algn="l">
              <a:spcBef>
                <a:spcPts val="150"/>
              </a:spcBef>
              <a:spcAft>
                <a:spcPts val="150"/>
              </a:spcAft>
              <a:buAutoNum type="arabicPeriod"/>
            </a:pPr>
            <a:r>
              <a:rPr lang="en-US">
                <a:latin typeface="Segoe WPC"/>
              </a:rPr>
              <a:t>Structuring &amp; Amount (25%)</a:t>
            </a:r>
          </a:p>
          <a:p>
            <a:pPr marL="342900" indent="-342900" algn="l">
              <a:spcBef>
                <a:spcPts val="150"/>
              </a:spcBef>
              <a:spcAft>
                <a:spcPts val="150"/>
              </a:spcAft>
              <a:buAutoNum type="arabicPeriod"/>
            </a:pPr>
            <a:r>
              <a:rPr lang="en-US" b="0" i="0">
                <a:effectLst/>
                <a:latin typeface="Segoe WPC"/>
              </a:rPr>
              <a:t>Channel (25%)</a:t>
            </a:r>
          </a:p>
          <a:p>
            <a:pPr marL="342900" indent="-342900" algn="l">
              <a:spcBef>
                <a:spcPts val="150"/>
              </a:spcBef>
              <a:spcAft>
                <a:spcPts val="150"/>
              </a:spcAft>
              <a:buAutoNum type="arabicPeriod"/>
            </a:pPr>
            <a:r>
              <a:rPr lang="en-US">
                <a:latin typeface="Segoe WPC"/>
              </a:rPr>
              <a:t>Geographic (20%)</a:t>
            </a:r>
          </a:p>
          <a:p>
            <a:pPr marL="342900" indent="-342900" algn="l">
              <a:spcBef>
                <a:spcPts val="150"/>
              </a:spcBef>
              <a:spcAft>
                <a:spcPts val="150"/>
              </a:spcAft>
              <a:buAutoNum type="arabicPeriod"/>
            </a:pPr>
            <a:r>
              <a:rPr lang="en-US" b="0" i="0">
                <a:effectLst/>
                <a:latin typeface="Segoe WPC"/>
              </a:rPr>
              <a:t>Behavioral (20%)</a:t>
            </a:r>
          </a:p>
          <a:p>
            <a:pPr marL="342900" indent="-342900" algn="l">
              <a:spcBef>
                <a:spcPts val="150"/>
              </a:spcBef>
              <a:spcAft>
                <a:spcPts val="150"/>
              </a:spcAft>
              <a:buAutoNum type="arabicPeriod"/>
            </a:pPr>
            <a:r>
              <a:rPr lang="en-US" b="0" i="0">
                <a:effectLst/>
                <a:latin typeface="Segoe WPC"/>
              </a:rPr>
              <a:t>Profile (10%)</a:t>
            </a:r>
          </a:p>
        </p:txBody>
      </p:sp>
    </p:spTree>
    <p:extLst>
      <p:ext uri="{BB962C8B-B14F-4D97-AF65-F5344CB8AC3E}">
        <p14:creationId xmlns:p14="http://schemas.microsoft.com/office/powerpoint/2010/main" val="38635259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2898C-20A2-8A76-FE90-7B04E5C9A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Five Risk Categories: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C3BF41-0FD1-0ADD-3F78-0C74942F80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6721" y="1866585"/>
            <a:ext cx="3536949" cy="1902775"/>
          </a:xfrm>
        </p:spPr>
        <p:txBody>
          <a:bodyPr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600" b="1"/>
              <a:t>1. Structuring &amp; amount (25%):</a:t>
            </a:r>
          </a:p>
          <a:p>
            <a:r>
              <a:rPr lang="en-US" sz="1600" err="1"/>
              <a:t>just_below_threshold_count</a:t>
            </a:r>
            <a:r>
              <a:rPr lang="en-US" sz="1600"/>
              <a:t> ≥ 3</a:t>
            </a:r>
          </a:p>
          <a:p>
            <a:r>
              <a:rPr lang="en-US" sz="1600" err="1"/>
              <a:t>structuring_pattern_flag</a:t>
            </a:r>
            <a:r>
              <a:rPr lang="en-US" sz="1600"/>
              <a:t> ≥ 1</a:t>
            </a:r>
          </a:p>
          <a:p>
            <a:r>
              <a:rPr lang="en-US" sz="1600" err="1"/>
              <a:t>round_amount_pct</a:t>
            </a:r>
            <a:r>
              <a:rPr lang="en-US" sz="1600"/>
              <a:t> ≥ 0.5</a:t>
            </a:r>
          </a:p>
          <a:p>
            <a:r>
              <a:rPr lang="en-US" sz="1600"/>
              <a:t>large_txn_count_10k ≥ 5</a:t>
            </a:r>
          </a:p>
          <a:p>
            <a:r>
              <a:rPr lang="en-US" sz="1600"/>
              <a:t>large_txn_count_50k ≥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E99AEF5-A40F-FF50-C848-39A912C3FA55}"/>
              </a:ext>
            </a:extLst>
          </p:cNvPr>
          <p:cNvSpPr txBox="1">
            <a:spLocks/>
          </p:cNvSpPr>
          <p:nvPr/>
        </p:nvSpPr>
        <p:spPr>
          <a:xfrm>
            <a:off x="4184651" y="1866585"/>
            <a:ext cx="3536949" cy="23694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/>
              <a:t>2. Channel (25%):</a:t>
            </a:r>
          </a:p>
          <a:p>
            <a:r>
              <a:rPr lang="en-US" sz="1600" err="1"/>
              <a:t>has_wire_transfers</a:t>
            </a:r>
            <a:endParaRPr lang="en-US" sz="1600"/>
          </a:p>
          <a:p>
            <a:r>
              <a:rPr lang="en-US" sz="1600" err="1"/>
              <a:t>wire_large_count</a:t>
            </a:r>
            <a:endParaRPr lang="en-US" sz="1600"/>
          </a:p>
          <a:p>
            <a:r>
              <a:rPr lang="en-US" sz="1600" err="1"/>
              <a:t>wire_volume_total</a:t>
            </a:r>
            <a:endParaRPr lang="en-US" sz="1600"/>
          </a:p>
          <a:p>
            <a:r>
              <a:rPr lang="en-US" sz="1600" err="1"/>
              <a:t>has_western_union</a:t>
            </a:r>
            <a:endParaRPr lang="en-US" sz="1600"/>
          </a:p>
          <a:p>
            <a:r>
              <a:rPr lang="en-US" sz="1600" err="1"/>
              <a:t>abm_cash</a:t>
            </a:r>
            <a:r>
              <a:rPr lang="en-US" sz="1600"/>
              <a:t>_*</a:t>
            </a:r>
          </a:p>
          <a:p>
            <a:r>
              <a:rPr lang="en-US" sz="1600" err="1"/>
              <a:t>structured_cash_deposits_same_day</a:t>
            </a:r>
            <a:endParaRPr lang="en-US" sz="1600"/>
          </a:p>
          <a:p>
            <a:r>
              <a:rPr lang="en-US" sz="1600" err="1"/>
              <a:t>multi_channel_flag</a:t>
            </a:r>
            <a:endParaRPr lang="en-US" sz="160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C113EA8-75F8-7827-9B83-396DDD916AAC}"/>
              </a:ext>
            </a:extLst>
          </p:cNvPr>
          <p:cNvSpPr txBox="1">
            <a:spLocks/>
          </p:cNvSpPr>
          <p:nvPr/>
        </p:nvSpPr>
        <p:spPr>
          <a:xfrm>
            <a:off x="7741920" y="1893165"/>
            <a:ext cx="4358639" cy="15974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/>
              <a:t>3. Geographic (20%):</a:t>
            </a:r>
          </a:p>
          <a:p>
            <a:r>
              <a:rPr lang="en-US" sz="1600" err="1"/>
              <a:t>cross_border_flagcross_border_txn_pct</a:t>
            </a:r>
            <a:r>
              <a:rPr lang="en-US" sz="1600"/>
              <a:t> ≥ 0.3</a:t>
            </a:r>
          </a:p>
          <a:p>
            <a:r>
              <a:rPr lang="en-US" sz="1600" err="1"/>
              <a:t>is_country_offshore_structure_jurisdiction</a:t>
            </a:r>
            <a:endParaRPr lang="en-US" sz="1600"/>
          </a:p>
          <a:p>
            <a:r>
              <a:rPr lang="en-US" sz="1600" err="1"/>
              <a:t>is_country_tbml_high_risk</a:t>
            </a:r>
            <a:endParaRPr lang="en-US" sz="1600"/>
          </a:p>
          <a:p>
            <a:r>
              <a:rPr lang="en-US" sz="1600" err="1"/>
              <a:t>is_country_shell_company_jurisdiction</a:t>
            </a:r>
            <a:r>
              <a:rPr lang="en-US" sz="1600"/>
              <a:t>.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1C435B2-4AF9-2FD9-A3B4-3B4279B8F336}"/>
              </a:ext>
            </a:extLst>
          </p:cNvPr>
          <p:cNvSpPr txBox="1">
            <a:spLocks/>
          </p:cNvSpPr>
          <p:nvPr/>
        </p:nvSpPr>
        <p:spPr>
          <a:xfrm>
            <a:off x="2611121" y="4389036"/>
            <a:ext cx="4358639" cy="2157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/>
              <a:t>4. Behavioral (20%):</a:t>
            </a:r>
          </a:p>
          <a:p>
            <a:r>
              <a:rPr lang="en-US" sz="1600" err="1"/>
              <a:t>lifestyle_mismatch</a:t>
            </a:r>
            <a:endParaRPr lang="en-US" sz="1600"/>
          </a:p>
          <a:p>
            <a:r>
              <a:rPr lang="en-US" sz="1600" err="1"/>
              <a:t>severe_lifestyle_mismatch</a:t>
            </a:r>
            <a:endParaRPr lang="en-US" sz="1600"/>
          </a:p>
          <a:p>
            <a:r>
              <a:rPr lang="en-US" sz="1600" err="1"/>
              <a:t>flow_through_velocity_hours</a:t>
            </a:r>
            <a:r>
              <a:rPr lang="en-US" sz="1600"/>
              <a:t>  ≥ 24</a:t>
            </a:r>
          </a:p>
          <a:p>
            <a:r>
              <a:rPr lang="en-US" sz="1600" err="1"/>
              <a:t>account_turnover_rate</a:t>
            </a:r>
            <a:r>
              <a:rPr lang="en-US" sz="1600"/>
              <a:t> ≥ 2</a:t>
            </a:r>
          </a:p>
          <a:p>
            <a:r>
              <a:rPr lang="en-US" sz="1600" err="1"/>
              <a:t>sudden_inflow_outflow_pattern</a:t>
            </a:r>
            <a:endParaRPr lang="en-US" sz="1600"/>
          </a:p>
          <a:p>
            <a:r>
              <a:rPr lang="en-US" sz="1600" err="1"/>
              <a:t>single_txn_exceeds_revenue</a:t>
            </a:r>
            <a:endParaRPr lang="en-US" sz="160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A1EEDE01-A758-4DB1-C004-A92B6E34F4BB}"/>
              </a:ext>
            </a:extLst>
          </p:cNvPr>
          <p:cNvSpPr txBox="1">
            <a:spLocks/>
          </p:cNvSpPr>
          <p:nvPr/>
        </p:nvSpPr>
        <p:spPr>
          <a:xfrm>
            <a:off x="6908911" y="4330879"/>
            <a:ext cx="4358639" cy="21573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/>
              <a:t>5. Profile (10%):</a:t>
            </a:r>
          </a:p>
          <a:p>
            <a:r>
              <a:rPr lang="en-US" sz="1600" err="1"/>
              <a:t>is_msb_business</a:t>
            </a:r>
            <a:endParaRPr lang="en-US" sz="1600"/>
          </a:p>
          <a:p>
            <a:r>
              <a:rPr lang="en-US" sz="1600" err="1"/>
              <a:t>is_shell_company</a:t>
            </a:r>
            <a:endParaRPr lang="en-US" sz="1600"/>
          </a:p>
          <a:p>
            <a:r>
              <a:rPr lang="en-US" sz="1600" err="1"/>
              <a:t>is_cash_intensive</a:t>
            </a:r>
            <a:endParaRPr lang="en-US" sz="1600"/>
          </a:p>
          <a:p>
            <a:r>
              <a:rPr lang="en-US" sz="1600" err="1"/>
              <a:t>new_account_flag</a:t>
            </a:r>
            <a:endParaRPr lang="en-US" sz="1600"/>
          </a:p>
          <a:p>
            <a:r>
              <a:rPr lang="en-US" sz="1600" err="1"/>
              <a:t>very_new_business_flag</a:t>
            </a:r>
            <a:endParaRPr lang="en-US" sz="1600"/>
          </a:p>
          <a:p>
            <a:r>
              <a:rPr lang="en-US" sz="1600" err="1"/>
              <a:t>high_profile_risk</a:t>
            </a:r>
            <a:r>
              <a:rPr lang="en-US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103077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EC7FE4-C9B4-816F-6E21-406667108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3F80E8-D662-64BF-2048-73B35D8A9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Pipeline: Rule-Based Algo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6D6DD11-3EBE-D463-584E-CD463CDAB5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3" y="1574310"/>
            <a:ext cx="11327549" cy="30301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3C668E5-AE82-0EF2-7A59-B9193CFF28E0}"/>
              </a:ext>
            </a:extLst>
          </p:cNvPr>
          <p:cNvSpPr txBox="1"/>
          <p:nvPr/>
        </p:nvSpPr>
        <p:spPr>
          <a:xfrm>
            <a:off x="1417743" y="4271356"/>
            <a:ext cx="6466907" cy="2359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sz="2400" b="1"/>
              <a:t>Scoring: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endParaRPr lang="en-US" sz="200" b="1"/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/>
              <a:t>For each category, every rule that </a:t>
            </a:r>
            <a:r>
              <a:rPr lang="en-US" b="1"/>
              <a:t>meets its threshold</a:t>
            </a:r>
            <a:r>
              <a:rPr lang="en-US"/>
              <a:t> adds that rule’s weight.</a:t>
            </a: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/>
              <a:t>The category total is multiplied by the category weight (e.g. 0.25).</a:t>
            </a: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/>
              <a:t>All five category contributions are summed and </a:t>
            </a:r>
            <a:r>
              <a:rPr lang="en-US" b="1"/>
              <a:t>normalized to [0, 1]</a:t>
            </a:r>
            <a:r>
              <a:rPr lang="en-US"/>
              <a:t> → </a:t>
            </a:r>
            <a:r>
              <a:rPr lang="en-US" b="1"/>
              <a:t>base rule-based score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73633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AC4BA7-C34E-BC2F-6109-FCDEEBCB7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7B22F6-6CDC-7EA4-E1D2-DA920C125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Pipeline: Rule-Based Algo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0BCF877-ED8F-6678-85B1-1422032F94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3" y="1574310"/>
            <a:ext cx="11327549" cy="30301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DADDB2-36C8-AF44-8BA2-986BB0F6C7AE}"/>
              </a:ext>
            </a:extLst>
          </p:cNvPr>
          <p:cNvSpPr txBox="1"/>
          <p:nvPr/>
        </p:nvSpPr>
        <p:spPr>
          <a:xfrm>
            <a:off x="1417743" y="4322156"/>
            <a:ext cx="6466907" cy="17235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/>
              <a:t>Cluster Boost:</a:t>
            </a:r>
          </a:p>
          <a:p>
            <a:endParaRPr lang="en-US" sz="10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a cluster column exists, some clusters get a fixed add-on (e.g. +0.15 for high-risk, +0.05 for secondary)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Again, the result is clipped again to [0, 1] → </a:t>
            </a:r>
            <a:r>
              <a:rPr lang="en-US" b="1"/>
              <a:t>final rule-based score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8236810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524DB9-4CF1-9A6E-AE0E-F5642D34B0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CDE657-C763-1DD4-0AED-ED48F2DCD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8128856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Pipeline: Rule-Based Algo OUTPUT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77B0769-3296-1C24-EB74-04935DCE52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33" y="2508374"/>
            <a:ext cx="11301734" cy="255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52554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A283BC-5968-5E7E-29DF-845C899C8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DFEC4A-F937-BF9B-B15D-4C5F71466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Pipeline: Fusion Algo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89A197-F48C-FD77-ABE2-6C61F6E25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428" y="3148106"/>
            <a:ext cx="5131088" cy="20652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5ABFE7D-49DB-6161-7DE8-3444BC53E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845" y="2218308"/>
            <a:ext cx="2385179" cy="3997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572297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7D2387-31AA-9A82-ACA8-388340B2A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2C9E87-C07A-7C5A-CC95-CB4B684CA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Pipeline: Fusion Algo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1B4042-F5A4-F4D9-EDEC-85C41CE736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879" y="2071033"/>
            <a:ext cx="8285295" cy="42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7110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EAC3EA-A35B-0310-0FEE-CB3092393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0EB0E6-E87F-DA40-EDBE-A73E6AA32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Pipeline: Fusion Algo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762EAA9-BA9E-EE38-7F9D-7EE4FD707E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5" y="2082617"/>
            <a:ext cx="11327549" cy="421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93288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4C2F89-890F-48F8-B857-8908B251E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38CD1F2-2CDE-4B42-BB23-EC7686F925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827173-10F7-4BE6-8CC8-39A46D781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0FB2829-9E66-4DBD-BC15-FC5D73246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9EE2A32-8611-4375-B6B1-468FAD6825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C77E1DA0-3927-4F35-B8A3-D5D5563757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7BAA08B-588E-406F-899B-A6A7FCFBE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AA7C41-B331-402E-9453-95B3B82735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A7060B3E-946D-4885-9B86-1D445209EB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3046747-F284-4990-9ECA-3DF2C6E08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21301226-F3C6-4744-94AE-2460B381D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DEDB23-3E79-5094-0A3F-56894C30F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40" y="630935"/>
            <a:ext cx="5466356" cy="2096769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Pipeline: Fusion Algo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C57637-D435-4155-993A-0E3A8BBBA5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B81AE96-B9C7-4679-BC62-F2C79F2E8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D4225F6-B312-47D5-8299-988BD17E0E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D3C04A86-BCAE-473C-B18D-88FD5627C4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2CCD134-9351-4847-8741-FF5EAB470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1470C83-08EE-4959-BA0A-F8846F524E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BFD3A89-3666-47FE-913F-6C75228F5D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AD6B60E5-039C-4E82-9B5C-984D6C46E1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F3D05E89-A5D2-4DC0-B6B1-298EF0EF0A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337967A-8AB7-47D5-A75E-6341730E99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CA068AD4-624D-4314-8C86-A3C0C3378C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CA2F7C3-1A69-44EE-A8B6-A4552E2C84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5716" y="3029889"/>
            <a:ext cx="304800" cy="429768"/>
            <a:chOff x="215328" y="-46937"/>
            <a:chExt cx="304800" cy="2773841"/>
          </a:xfrm>
        </p:grpSpPr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6E44AF4D-8873-43B3-8E29-803B7720EA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CAE89E8A-BD14-4974-818A-D8382DCD4D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21B80B9-448B-4363-9DD7-C074AB2AD7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7DA34E7-83FB-4CAA-94F3-CEF0869076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B4FFFA3-CD0A-3EA4-98A3-E01532CF25EE}"/>
              </a:ext>
            </a:extLst>
          </p:cNvPr>
          <p:cNvSpPr txBox="1"/>
          <p:nvPr/>
        </p:nvSpPr>
        <p:spPr>
          <a:xfrm>
            <a:off x="558800" y="1765154"/>
            <a:ext cx="10521217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b="1" dirty="0">
                <a:solidFill>
                  <a:schemeClr val="bg1"/>
                </a:solidFill>
                <a:effectLst/>
              </a:rPr>
              <a:t>Inputs:</a:t>
            </a: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rule_based_scores.csv</a:t>
            </a:r>
            <a:r>
              <a:rPr lang="en-US" dirty="0">
                <a:solidFill>
                  <a:schemeClr val="bg1"/>
                </a:solidFill>
                <a:effectLst/>
              </a:rPr>
              <a:t> (one score per customer)</a:t>
            </a: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</a:t>
            </a:r>
            <a:r>
              <a:rPr lang="en-US" dirty="0">
                <a:solidFill>
                  <a:schemeClr val="bg1"/>
                </a:solidFill>
                <a:effectLst/>
              </a:rPr>
              <a:t>ach ML model’s </a:t>
            </a:r>
            <a:r>
              <a:rPr lang="en-US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scores_*.csv</a:t>
            </a:r>
            <a:r>
              <a:rPr lang="en-US" dirty="0">
                <a:solidFill>
                  <a:schemeClr val="bg1"/>
                </a:solidFill>
                <a:effectLst/>
              </a:rPr>
              <a:t> (one anomaly score per customer)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endParaRPr lang="en-US" dirty="0">
              <a:solidFill>
                <a:schemeClr val="bg1"/>
              </a:solidFill>
              <a:effectLst/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b="1" dirty="0">
                <a:solidFill>
                  <a:schemeClr val="bg1"/>
                </a:solidFill>
                <a:effectLst/>
              </a:rPr>
              <a:t>Formula:</a:t>
            </a: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risk_score</a:t>
            </a:r>
            <a:r>
              <a:rPr lang="en-US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= 0.7 × </a:t>
            </a:r>
            <a:r>
              <a:rPr lang="en-US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rule_score</a:t>
            </a:r>
            <a:r>
              <a:rPr lang="en-US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+ 0.3 × </a:t>
            </a:r>
            <a:r>
              <a:rPr lang="en-US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anomaly_score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  <a:effectLst/>
              <a:latin typeface="Consolas" panose="020B0609020204030204" pitchFamily="49" charset="0"/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b="1" dirty="0">
                <a:solidFill>
                  <a:schemeClr val="bg1"/>
                </a:solidFill>
                <a:effectLst/>
              </a:rPr>
              <a:t>Flagging:</a:t>
            </a:r>
            <a:endParaRPr lang="en-US" b="1" dirty="0">
              <a:solidFill>
                <a:schemeClr val="bg1"/>
              </a:solidFill>
            </a:endParaRP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effectLst/>
              </a:rPr>
              <a:t>Customers in the </a:t>
            </a:r>
            <a:r>
              <a:rPr lang="en-US" b="1" dirty="0">
                <a:solidFill>
                  <a:schemeClr val="bg1"/>
                </a:solidFill>
                <a:effectLst/>
              </a:rPr>
              <a:t>top 5%</a:t>
            </a:r>
            <a:r>
              <a:rPr lang="en-US" dirty="0">
                <a:solidFill>
                  <a:schemeClr val="bg1"/>
                </a:solidFill>
                <a:effectLst/>
              </a:rPr>
              <a:t> by </a:t>
            </a:r>
            <a:r>
              <a:rPr lang="en-US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risk_score</a:t>
            </a:r>
            <a:r>
              <a:rPr lang="en-US" dirty="0">
                <a:solidFill>
                  <a:schemeClr val="bg1"/>
                </a:solidFill>
                <a:effectLst/>
              </a:rPr>
              <a:t> get </a:t>
            </a:r>
            <a:r>
              <a:rPr lang="en-US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predicted_label</a:t>
            </a:r>
            <a:r>
              <a:rPr lang="en-US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 = 1</a:t>
            </a:r>
            <a:endParaRPr lang="en-US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pPr marL="285750" indent="-285750">
              <a:spcBef>
                <a:spcPts val="150"/>
              </a:spcBef>
              <a:spcAft>
                <a:spcPts val="15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en-US" dirty="0">
                <a:solidFill>
                  <a:schemeClr val="bg1"/>
                </a:solidFill>
                <a:effectLst/>
              </a:rPr>
              <a:t>he rest get 0</a:t>
            </a:r>
          </a:p>
          <a:p>
            <a:pPr>
              <a:spcBef>
                <a:spcPts val="150"/>
              </a:spcBef>
              <a:spcAft>
                <a:spcPts val="150"/>
              </a:spcAft>
            </a:pPr>
            <a:endParaRPr lang="en-US" b="1" dirty="0">
              <a:solidFill>
                <a:schemeClr val="bg1"/>
              </a:solidFill>
              <a:effectLst/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b="1" dirty="0">
                <a:solidFill>
                  <a:schemeClr val="bg1"/>
                </a:solidFill>
                <a:effectLst/>
              </a:rPr>
              <a:t>Output:</a:t>
            </a:r>
            <a:endParaRPr lang="en-US" b="1" dirty="0">
              <a:solidFill>
                <a:schemeClr val="bg1"/>
              </a:solidFill>
            </a:endParaRPr>
          </a:p>
          <a:p>
            <a:pPr>
              <a:spcBef>
                <a:spcPts val="150"/>
              </a:spcBef>
              <a:spcAft>
                <a:spcPts val="150"/>
              </a:spcAft>
            </a:pPr>
            <a:r>
              <a:rPr lang="en-US" dirty="0">
                <a:solidFill>
                  <a:schemeClr val="bg1"/>
                </a:solidFill>
                <a:effectLst/>
              </a:rPr>
              <a:t>One </a:t>
            </a:r>
            <a:r>
              <a:rPr lang="en-US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model_output</a:t>
            </a:r>
            <a:r>
              <a:rPr lang="en-US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_&lt;model&gt;.csv</a:t>
            </a:r>
            <a:r>
              <a:rPr lang="en-US" dirty="0">
                <a:solidFill>
                  <a:schemeClr val="bg1"/>
                </a:solidFill>
                <a:effectLst/>
              </a:rPr>
              <a:t> per ML file: </a:t>
            </a:r>
            <a:r>
              <a:rPr lang="en-US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customer_id</a:t>
            </a:r>
            <a:r>
              <a:rPr lang="en-US" dirty="0">
                <a:solidFill>
                  <a:schemeClr val="bg1"/>
                </a:solidFill>
                <a:effectLst/>
              </a:rPr>
              <a:t>, </a:t>
            </a:r>
            <a:r>
              <a:rPr lang="en-US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predicted_label</a:t>
            </a:r>
            <a:r>
              <a:rPr lang="en-US" dirty="0">
                <a:solidFill>
                  <a:schemeClr val="bg1"/>
                </a:solidFill>
                <a:effectLst/>
              </a:rPr>
              <a:t>, </a:t>
            </a:r>
            <a:r>
              <a:rPr lang="en-US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risk_score</a:t>
            </a:r>
            <a:r>
              <a:rPr lang="en-US" dirty="0">
                <a:solidFill>
                  <a:schemeClr val="bg1"/>
                </a:solidFill>
                <a:effectLst/>
              </a:rPr>
              <a:t>. Same fusion is used for every model; only the anomaly file changes.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7BA0E9-6E87-F8F7-C3B5-F87B86AFCF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9591" y="1774788"/>
            <a:ext cx="4274361" cy="233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28983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54DE34-BC31-CF2F-9D74-C777A2F90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400967-AAB6-84CF-45A1-85321282F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Pipeline: Explanation Generator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A5D3320-4FDF-0405-22BD-5189984539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5" y="2422443"/>
            <a:ext cx="11327549" cy="353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9344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476D55-E3B2-58E2-0518-98E2E2B34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FC17348-89DC-84F1-C46F-9D2B6C6F9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Pipeline: Explanation Generator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BB4E6E31-8642-5930-7990-B7275D5E1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109" y="1979912"/>
            <a:ext cx="11043012" cy="4359928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When:</a:t>
            </a:r>
            <a:r>
              <a:rPr lang="en-US" sz="2000" dirty="0"/>
              <a:t> Runs right after fusion, once per model.</a:t>
            </a:r>
          </a:p>
          <a:p>
            <a:r>
              <a:rPr lang="en-US" sz="2000" b="1" dirty="0"/>
              <a:t>Inputs:</a:t>
            </a:r>
            <a:r>
              <a:rPr lang="en-US" sz="2000" dirty="0"/>
              <a:t> Fused model_output_*.csv (</a:t>
            </a:r>
            <a:r>
              <a:rPr lang="en-US" sz="2000" dirty="0" err="1"/>
              <a:t>customer_id</a:t>
            </a:r>
            <a:r>
              <a:rPr lang="en-US" sz="2000" dirty="0"/>
              <a:t>, </a:t>
            </a:r>
            <a:r>
              <a:rPr lang="en-US" sz="2000" dirty="0" err="1"/>
              <a:t>predicted_label</a:t>
            </a:r>
            <a:r>
              <a:rPr lang="en-US" sz="2000" dirty="0"/>
              <a:t>, </a:t>
            </a:r>
            <a:r>
              <a:rPr lang="en-US" sz="2000" dirty="0" err="1"/>
              <a:t>risk_score</a:t>
            </a:r>
            <a:r>
              <a:rPr lang="en-US" sz="2000" dirty="0"/>
              <a:t>), rule_based_scores.csv (per-customer category scores: structuring, channel, geographic, behavioral, profile, cluster), and the same anomaly score file used in fusion (optional).</a:t>
            </a:r>
          </a:p>
          <a:p>
            <a:r>
              <a:rPr lang="en-US" sz="2000" b="1" dirty="0"/>
              <a:t>Logic:</a:t>
            </a:r>
            <a:r>
              <a:rPr lang="en-US" sz="2000" dirty="0"/>
              <a:t> For each customer:(1) state flagged/not and risk score; (2) list “Reasons contributing to the score” from rule categories that contributed (using fixed, non-technical phrases from the AML library); (3) add an anomaly line if anomaly score ≥ 0.5; (4) add a cluster line if </a:t>
            </a:r>
            <a:r>
              <a:rPr lang="en-US" sz="2000" dirty="0" err="1"/>
              <a:t>cluster_risk</a:t>
            </a:r>
            <a:r>
              <a:rPr lang="en-US" sz="2000" dirty="0"/>
              <a:t> &amp;</a:t>
            </a:r>
            <a:r>
              <a:rPr lang="en-US" sz="2000" dirty="0" err="1"/>
              <a:t>gt</a:t>
            </a:r>
            <a:r>
              <a:rPr lang="en-US" sz="2000" dirty="0"/>
              <a:t>; 0; (5) if not flagged but score is just below the threshold, add the borderline sentence.</a:t>
            </a:r>
          </a:p>
          <a:p>
            <a:r>
              <a:rPr lang="en-US" sz="2000" b="1" dirty="0"/>
              <a:t>Output:</a:t>
            </a:r>
            <a:r>
              <a:rPr lang="en-US" sz="2000" dirty="0"/>
              <a:t> One explanation per customer, ≤2000 characters, written to </a:t>
            </a:r>
            <a:r>
              <a:rPr lang="en-US" sz="2000" dirty="0" err="1"/>
              <a:t>model_output</a:t>
            </a:r>
            <a:r>
              <a:rPr lang="en-US" sz="2000" dirty="0"/>
              <a:t>_&lt;model&gt;_explanations.csv (</a:t>
            </a:r>
            <a:r>
              <a:rPr lang="en-US" sz="2000" dirty="0" err="1"/>
              <a:t>customer_id</a:t>
            </a:r>
            <a:r>
              <a:rPr lang="en-US" sz="2000" dirty="0"/>
              <a:t>, explanation). No ML jargon; wording matches the rule categories so it’s usable by AML staff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3767825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7D187A-1C2F-D18D-1493-BACCCB2C6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8BCAB1C4-0D4D-73B6-0CE6-F35655AF7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Pipeline: Explanation Generator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D7A4AD-C001-EA8C-CE2E-1194CCA0F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860" y="1966293"/>
            <a:ext cx="10106278" cy="4452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54006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E98344-F8D0-A4FC-1897-CEA8D81C7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160EBB-803E-C712-6120-6054C8777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Pipeline: Explanation Generator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0D8FE4-2345-0833-861A-7F631CA079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225" y="2432603"/>
            <a:ext cx="11327549" cy="353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137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102511-D135-763D-4B67-6193E02C7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Python GUI App: Explanations Viewer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D78583-72E2-202E-9581-AB67E48BD0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5302" r="16117" b="3790"/>
          <a:stretch>
            <a:fillRect/>
          </a:stretch>
        </p:blipFill>
        <p:spPr>
          <a:xfrm>
            <a:off x="4387082" y="436880"/>
            <a:ext cx="7561168" cy="5981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22011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1E62BB-101B-7228-3EFE-7D993527E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7208" y="857251"/>
            <a:ext cx="4747280" cy="309806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12179F74-4E9E-710B-A3C4-373161B311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61874" y="2108877"/>
            <a:ext cx="2654533" cy="265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402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d3bc319-2858-4c65-81ac-7b692434b42e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72B44C5F1BCAC4C98A3337E980EEE4E" ma:contentTypeVersion="16" ma:contentTypeDescription="Create a new document." ma:contentTypeScope="" ma:versionID="3d3fb89d5ae52133432c7b26a92fb0bb">
  <xsd:schema xmlns:xsd="http://www.w3.org/2001/XMLSchema" xmlns:xs="http://www.w3.org/2001/XMLSchema" xmlns:p="http://schemas.microsoft.com/office/2006/metadata/properties" xmlns:ns3="bd3bc319-2858-4c65-81ac-7b692434b42e" xmlns:ns4="22698857-7dc3-4b07-9c6e-76daafae5c72" targetNamespace="http://schemas.microsoft.com/office/2006/metadata/properties" ma:root="true" ma:fieldsID="09a97ed375025c333d88d08c640d1909" ns3:_="" ns4:_="">
    <xsd:import namespace="bd3bc319-2858-4c65-81ac-7b692434b42e"/>
    <xsd:import namespace="22698857-7dc3-4b07-9c6e-76daafae5c7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3bc319-2858-4c65-81ac-7b692434b42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698857-7dc3-4b07-9c6e-76daafae5c72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810631B-CB9B-4E98-AE26-A60186595A23}">
  <ds:schemaRefs>
    <ds:schemaRef ds:uri="22698857-7dc3-4b07-9c6e-76daafae5c72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bd3bc319-2858-4c65-81ac-7b692434b42e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7142BC5-294F-4811-BC8F-7DA8538D6144}">
  <ds:schemaRefs>
    <ds:schemaRef ds:uri="22698857-7dc3-4b07-9c6e-76daafae5c72"/>
    <ds:schemaRef ds:uri="bd3bc319-2858-4c65-81ac-7b692434b42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7D106F7-BA99-489C-98CD-20012198EEA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8aac226-2f03-4b4d-9037-b46d56c55210}" enabled="0" method="" siteId="{78aac226-2f03-4b4d-9037-b46d56c5521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18</TotalTime>
  <Words>4545</Words>
  <Application>Microsoft Office PowerPoint</Application>
  <PresentationFormat>Widescreen</PresentationFormat>
  <Paragraphs>316</Paragraphs>
  <Slides>63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73" baseType="lpstr">
      <vt:lpstr>等线</vt:lpstr>
      <vt:lpstr>等线 Light</vt:lpstr>
      <vt:lpstr>Segoe WPC</vt:lpstr>
      <vt:lpstr>Aptos</vt:lpstr>
      <vt:lpstr>Aptos Display</vt:lpstr>
      <vt:lpstr>Arial</vt:lpstr>
      <vt:lpstr>Calibri</vt:lpstr>
      <vt:lpstr>Consolas</vt:lpstr>
      <vt:lpstr>Segoe UI</vt:lpstr>
      <vt:lpstr>Office Theme</vt:lpstr>
      <vt:lpstr>IMI Big Data &amp; AI Competition</vt:lpstr>
      <vt:lpstr>Who We Are</vt:lpstr>
      <vt:lpstr>Introduction: Deliverables Summary</vt:lpstr>
      <vt:lpstr>Introduction: Deliverables Summary</vt:lpstr>
      <vt:lpstr>Introduction: Deliverables Summary</vt:lpstr>
      <vt:lpstr>Presentation Overview</vt:lpstr>
      <vt:lpstr>Presentation Overview</vt:lpstr>
      <vt:lpstr>Presentation Overview</vt:lpstr>
      <vt:lpstr>Presentation Overview</vt:lpstr>
      <vt:lpstr>Presentation Overview</vt:lpstr>
      <vt:lpstr>Presentation Overview</vt:lpstr>
      <vt:lpstr>Presentation Overview</vt:lpstr>
      <vt:lpstr>Presentation Overview</vt:lpstr>
      <vt:lpstr>AML Library: Website + Markdown Docs</vt:lpstr>
      <vt:lpstr>https://code-of-toad.github.io/utm-25-26-IMI-big-data-AI-Competition/</vt:lpstr>
      <vt:lpstr>AML Library: Who is it designed for?</vt:lpstr>
      <vt:lpstr>AML Library: Who is it designed for?</vt:lpstr>
      <vt:lpstr>AML Library: How we used it for feature engineering</vt:lpstr>
      <vt:lpstr>AML Library: Markdown Docs (How to use it)</vt:lpstr>
      <vt:lpstr>Data Preparation</vt:lpstr>
      <vt:lpstr>Data Preparation</vt:lpstr>
      <vt:lpstr>master_features_with_clustering.csv</vt:lpstr>
      <vt:lpstr>master_features_with_clustering.csv</vt:lpstr>
      <vt:lpstr>The Clustering Pipeline</vt:lpstr>
      <vt:lpstr>Dimensionality Reduction (FAMD)</vt:lpstr>
      <vt:lpstr>Results &amp; Analysis: Understanding Silhouette and Elbow Scores</vt:lpstr>
      <vt:lpstr>Result &amp; Analysis: Understanding Heatmap</vt:lpstr>
      <vt:lpstr>Clustering Version A:</vt:lpstr>
      <vt:lpstr>Version A: Cluster Sizes</vt:lpstr>
      <vt:lpstr>PowerPoint Presentation</vt:lpstr>
      <vt:lpstr>Individual-Specific Clusters</vt:lpstr>
      <vt:lpstr>PowerPoint Presentation</vt:lpstr>
      <vt:lpstr>Clustering Version B:</vt:lpstr>
      <vt:lpstr>Version B: Cluster Sizes:</vt:lpstr>
      <vt:lpstr>Business-Specific Clusters</vt:lpstr>
      <vt:lpstr>Websites for understanding (References)</vt:lpstr>
      <vt:lpstr>PowerPoint Presentation</vt:lpstr>
      <vt:lpstr>Tuning LOF and ABOD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 far, we have…</vt:lpstr>
      <vt:lpstr>So far, we have…</vt:lpstr>
      <vt:lpstr>Pipeline for Task 2 + Task 3</vt:lpstr>
      <vt:lpstr>Pipeline: Rule-Based Algo</vt:lpstr>
      <vt:lpstr>Five Risk Categories: Examples</vt:lpstr>
      <vt:lpstr>Pipeline: Rule-Based Algo</vt:lpstr>
      <vt:lpstr>Pipeline: Rule-Based Algo</vt:lpstr>
      <vt:lpstr>Pipeline: Rule-Based Algo OUTPUT</vt:lpstr>
      <vt:lpstr>Pipeline: Fusion Algo</vt:lpstr>
      <vt:lpstr>Pipeline: Fusion Algo</vt:lpstr>
      <vt:lpstr>Pipeline: Fusion Algo</vt:lpstr>
      <vt:lpstr>Pipeline: Fusion Algo</vt:lpstr>
      <vt:lpstr>Pipeline: Explanation Generator</vt:lpstr>
      <vt:lpstr>Pipeline: Explanation Generator</vt:lpstr>
      <vt:lpstr>Pipeline: Explanation Generator</vt:lpstr>
      <vt:lpstr>Pipeline: Explanation Generator</vt:lpstr>
      <vt:lpstr>Python GUI App: Explanations Viewer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Han</dc:creator>
  <cp:lastModifiedBy>Danny Han</cp:lastModifiedBy>
  <cp:revision>1</cp:revision>
  <dcterms:created xsi:type="dcterms:W3CDTF">2026-02-19T19:55:38Z</dcterms:created>
  <dcterms:modified xsi:type="dcterms:W3CDTF">2026-02-23T20:15:58Z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0x010100E72B44C5F1BCAC4C98A3337E980EEE4E</vt:lpwstr>
  </property>
</Properties>
</file>